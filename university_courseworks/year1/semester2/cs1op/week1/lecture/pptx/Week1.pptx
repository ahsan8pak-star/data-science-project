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76565"/>
  </p:normalViewPr>
  <p:slideViewPr>
    <p:cSldViewPr snapToGrid="0">
      <p:cViewPr varScale="1">
        <p:scale>
          <a:sx n="85" d="100"/>
          <a:sy n="85" d="100"/>
        </p:scale>
        <p:origin x="6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21F83-A78E-704A-A72D-C466940AD2B2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E4074-7DA8-F44C-82AA-00C9F620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55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141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563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425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236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258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776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97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451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704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486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406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7983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407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769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429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6763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8003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706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AE4074-7DA8-F44C-82AA-00C9F6200BCA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998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4F614D9-4624-E7A0-1531-1474E97EA7B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278" y="54302"/>
            <a:ext cx="1272209" cy="41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CS1OP Week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dirty="0"/>
              <a:t>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400" dirty="0"/>
              <a:t>Author</a:t>
            </a:r>
            <a:r>
              <a:rPr lang="en-US" sz="1400" dirty="0"/>
              <a:t>: </a:t>
            </a:r>
            <a:r>
              <a:rPr sz="1400" dirty="0"/>
              <a:t> </a:t>
            </a:r>
            <a:r>
              <a:rPr lang="en-US" sz="1400" dirty="0"/>
              <a:t>Zahra </a:t>
            </a:r>
            <a:r>
              <a:rPr lang="en-US" sz="1400" dirty="0" err="1"/>
              <a:t>Pooranian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Object-Oriented Programming: Solving Real-World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From challenges to solutions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The complexity of Software Development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Common Issues in Software Development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Some Solutions </a:t>
            </a:r>
            <a:r>
              <a:rPr lang="en-GB" dirty="0"/>
              <a:t>provided by </a:t>
            </a:r>
            <a:r>
              <a:rPr dirty="0"/>
              <a:t>Object-Oriented Programming (OOP)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Process vs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complexity of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Software development is complex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and getting more so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and it’s </a:t>
            </a:r>
            <a:r>
              <a:rPr dirty="0">
                <a:solidFill>
                  <a:srgbClr val="FF0000"/>
                </a:solidFill>
              </a:rPr>
              <a:t>not</a:t>
            </a:r>
            <a:r>
              <a:rPr dirty="0"/>
              <a:t> just about </a:t>
            </a:r>
            <a:r>
              <a:rPr dirty="0">
                <a:solidFill>
                  <a:srgbClr val="FF0000"/>
                </a:solidFill>
              </a:rPr>
              <a:t>writing code</a:t>
            </a:r>
            <a:endParaRPr lang="en-US" dirty="0">
              <a:solidFill>
                <a:srgbClr val="FF0000"/>
              </a:solidFill>
            </a:endParaRPr>
          </a:p>
          <a:p>
            <a:pPr marL="3657600" lvl="8" indent="0">
              <a:buNone/>
            </a:pPr>
            <a:endParaRPr dirty="0"/>
          </a:p>
          <a:p>
            <a:pPr lvl="2">
              <a:buFont typeface="Courier New" panose="02070309020205020404" pitchFamily="49" charset="0"/>
              <a:buChar char="o"/>
            </a:pPr>
            <a:r>
              <a:rPr dirty="0"/>
              <a:t>it’s about understanding the </a:t>
            </a:r>
            <a:r>
              <a:rPr b="1" dirty="0"/>
              <a:t>problem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dirty="0"/>
              <a:t>it’s about understanding the </a:t>
            </a:r>
            <a:r>
              <a:rPr b="1" dirty="0"/>
              <a:t>users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dirty="0"/>
              <a:t>it’s about understanding the </a:t>
            </a:r>
            <a:r>
              <a:rPr b="1" dirty="0"/>
              <a:t>environment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dirty="0"/>
              <a:t>it’s about understanding the </a:t>
            </a:r>
            <a:r>
              <a:rPr b="1" dirty="0"/>
              <a:t>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complexity of Software Development -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Many different aspects to consider</a:t>
            </a:r>
            <a:endParaRPr lang="en-US" dirty="0"/>
          </a:p>
          <a:p>
            <a:pPr marL="3657600" lvl="8" indent="0">
              <a:buNone/>
            </a:pPr>
            <a:endParaRPr dirty="0"/>
          </a:p>
          <a:p>
            <a:pPr lvl="1">
              <a:buFont typeface="Wingdings" pitchFamily="2" charset="2"/>
              <a:buChar char="ü"/>
            </a:pPr>
            <a:r>
              <a:rPr dirty="0"/>
              <a:t>User needs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Performance, scalability, security, testing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Maintainability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Integration with other systems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Collaboration with other developers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Common Issues in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Tight coupling</a:t>
            </a:r>
            <a:r>
              <a:rPr dirty="0"/>
              <a:t> between components</a:t>
            </a:r>
          </a:p>
          <a:p>
            <a:pPr lvl="0"/>
            <a:r>
              <a:rPr b="1" dirty="0"/>
              <a:t>Inflexibility</a:t>
            </a:r>
            <a:r>
              <a:rPr dirty="0"/>
              <a:t> in design</a:t>
            </a:r>
          </a:p>
          <a:p>
            <a:pPr lvl="0"/>
            <a:r>
              <a:rPr b="1" dirty="0"/>
              <a:t>Inability to scale</a:t>
            </a:r>
            <a:r>
              <a:rPr dirty="0"/>
              <a:t> to new requirements</a:t>
            </a:r>
          </a:p>
          <a:p>
            <a:pPr lvl="0"/>
            <a:r>
              <a:rPr b="1" dirty="0"/>
              <a:t>Difficulty in testing</a:t>
            </a:r>
          </a:p>
          <a:p>
            <a:pPr lvl="0"/>
            <a:r>
              <a:rPr b="1" dirty="0"/>
              <a:t>Difficulty in maintenance</a:t>
            </a:r>
          </a:p>
          <a:p>
            <a:pPr lvl="0"/>
            <a:r>
              <a:rPr b="1" dirty="0"/>
              <a:t>Difficulty in reuse</a:t>
            </a:r>
          </a:p>
          <a:p>
            <a:pPr lvl="0"/>
            <a:r>
              <a:rPr b="1" dirty="0"/>
              <a:t>Poor modularity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Discussion - What issues have you encountered?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dirty="0"/>
              <a:t>Have you encountered any of these issues in your own projects or software development you are aware of?</a:t>
            </a:r>
          </a:p>
          <a:p>
            <a:pPr lvl="0" algn="just"/>
            <a:r>
              <a:rPr dirty="0"/>
              <a:t>What impact did these issues have on the project?</a:t>
            </a:r>
          </a:p>
          <a:p>
            <a:pPr lvl="0" algn="just"/>
            <a:r>
              <a:rPr dirty="0"/>
              <a:t>How were these issues resolved?</a:t>
            </a:r>
          </a:p>
          <a:p>
            <a:pPr lvl="0" algn="just">
              <a:spcBef>
                <a:spcPts val="3000"/>
              </a:spcBef>
              <a:buFont typeface="Wingdings" pitchFamily="2" charset="2"/>
              <a:buChar char="ü"/>
            </a:pPr>
            <a:r>
              <a:rPr b="1" dirty="0"/>
              <a:t>Have a minute to think about this</a:t>
            </a:r>
          </a:p>
          <a:p>
            <a:pPr lvl="0" algn="just">
              <a:spcBef>
                <a:spcPts val="3000"/>
              </a:spcBef>
              <a:buFont typeface="Wingdings" pitchFamily="2" charset="2"/>
              <a:buChar char="ü"/>
            </a:pPr>
            <a:r>
              <a:rPr b="1" dirty="0"/>
              <a:t>Discuss with your </a:t>
            </a:r>
            <a:r>
              <a:rPr b="1" dirty="0" err="1"/>
              <a:t>neighbour</a:t>
            </a:r>
            <a:r>
              <a:rPr b="1" dirty="0"/>
              <a:t> for 5 minutes</a:t>
            </a:r>
          </a:p>
          <a:p>
            <a:pPr lvl="0" algn="just">
              <a:spcBef>
                <a:spcPts val="3000"/>
              </a:spcBef>
              <a:buFont typeface="Wingdings" pitchFamily="2" charset="2"/>
              <a:buChar char="ü"/>
            </a:pPr>
            <a:r>
              <a:rPr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Tight Coupling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b="1" dirty="0"/>
              <a:t>Definition</a:t>
            </a:r>
            <a:r>
              <a:rPr dirty="0"/>
              <a:t>: Tight coupling occurs when components in a system are highly dependent on each other, making changes in one component likely to affect others.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Example</a:t>
            </a:r>
            <a:r>
              <a:rPr dirty="0"/>
              <a:t>: A change in a database schema requiring updates in multiple parts of the application.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Consequences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Difficult to modify or replace components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Reduced flexibility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Increased maintenance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Inflexibility in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Definition</a:t>
            </a:r>
            <a:r>
              <a:rPr dirty="0"/>
              <a:t>: Inflexibility arises when a system is designed in a way that makes it hard to adapt to new requirements or changes.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Example</a:t>
            </a:r>
            <a:r>
              <a:rPr dirty="0"/>
              <a:t>: A rigid class hierarchy that cannot accommodate new features without significant rework.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Consequences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Increased development time for new features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Inability to meet evolving user needs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Inability to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Definition</a:t>
            </a:r>
            <a:r>
              <a:rPr dirty="0"/>
              <a:t>: Systems that cannot handle increased load or new requirements without significant redesign.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Example</a:t>
            </a:r>
            <a:r>
              <a:rPr dirty="0"/>
              <a:t>: A web application that crashes under high traffic due to poor architecture.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Consequences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Poor user experience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Loss of revenue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High costs for redesign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Difficulty in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Definition</a:t>
            </a:r>
            <a:r>
              <a:rPr dirty="0"/>
              <a:t>: Systems that are hard to test due to tightly coupled components, lack of modularity, or unclear interfaces.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Example</a:t>
            </a:r>
            <a:r>
              <a:rPr dirty="0"/>
              <a:t>: A function that depends on multiple external systems, making unit testing challenging.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Consequences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Increased bugs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Longer development cycles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Reduced confidence in the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Difficulty in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Definition</a:t>
            </a:r>
            <a:r>
              <a:rPr dirty="0"/>
              <a:t>: Systems that are hard to maintain due to poor documentation, lack of modularity, or overly complex code.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Example</a:t>
            </a:r>
            <a:r>
              <a:rPr dirty="0"/>
              <a:t>: Legacy codebases with no clear structure or comments.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Consequences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Increased costs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Longer downtimes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Frustrated developers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Difficulty in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Definition</a:t>
            </a:r>
            <a:r>
              <a:rPr dirty="0"/>
              <a:t>: Code that cannot be reused in other projects or contexts due to tight coupling or lack of modularity.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Example</a:t>
            </a:r>
            <a:r>
              <a:rPr dirty="0"/>
              <a:t>: A function that is hardcoded to work with specific data formats.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Consequences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Duplication of effor</a:t>
            </a:r>
            <a:r>
              <a:rPr lang="en-US" dirty="0"/>
              <a:t>t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Increased development time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Wasted resources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Poor Modularity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Definition</a:t>
            </a:r>
            <a:r>
              <a:rPr dirty="0"/>
              <a:t>: Systems that are not broken into smaller, manageable components, making them harder to understand and modify.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Example</a:t>
            </a:r>
            <a:r>
              <a:rPr dirty="0"/>
              <a:t>: A monolithic application with no clear separation of concerns.</a:t>
            </a:r>
            <a:endParaRPr lang="en-US" dirty="0"/>
          </a:p>
          <a:p>
            <a:pPr marL="3657600" lvl="8" indent="0" algn="just">
              <a:buNone/>
            </a:pPr>
            <a:endParaRPr dirty="0"/>
          </a:p>
          <a:p>
            <a:pPr lvl="0" algn="just"/>
            <a:r>
              <a:rPr b="1" dirty="0"/>
              <a:t>Consequences</a:t>
            </a:r>
            <a:endParaRPr dirty="0"/>
          </a:p>
          <a:p>
            <a:pPr lvl="1" algn="just">
              <a:buFont typeface="Wingdings" pitchFamily="2" charset="2"/>
              <a:buChar char="ü"/>
            </a:pPr>
            <a:r>
              <a:rPr dirty="0"/>
              <a:t>Increased complexity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Higher risk of introducing bugs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Difficulty in collaboration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Some Solutions </a:t>
            </a:r>
            <a:r>
              <a:rPr lang="en-GB" dirty="0"/>
              <a:t>provided by</a:t>
            </a:r>
            <a:r>
              <a:rPr dirty="0"/>
              <a:t> OOP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3000"/>
              </a:spcBef>
            </a:pPr>
            <a:r>
              <a:rPr b="1" dirty="0"/>
              <a:t>Concepts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Encapsulation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Inheritance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Polymorphism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Abstraction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Modularity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Separation of Concerns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Design Patterns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dirty="0"/>
              <a:t>Some Solutions </a:t>
            </a:r>
            <a:r>
              <a:rPr lang="en-GB" dirty="0"/>
              <a:t>provided by </a:t>
            </a:r>
            <a:r>
              <a:rPr dirty="0"/>
              <a:t>OOP (</a:t>
            </a:r>
            <a:r>
              <a:rPr lang="en-US" dirty="0" err="1"/>
              <a:t>Cnt</a:t>
            </a:r>
            <a:r>
              <a:rPr lang="en-US" dirty="0"/>
              <a:t>.</a:t>
            </a:r>
            <a:r>
              <a:rPr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Encapsulation</a:t>
            </a:r>
            <a:r>
              <a:rPr lang="en-US" b="1" dirty="0"/>
              <a:t>: </a:t>
            </a:r>
            <a:r>
              <a:rPr dirty="0"/>
              <a:t>Encapsulation is the bundling of data with the methods that operate on that data, or the restricting of direct access to some of an object’s components.</a:t>
            </a:r>
            <a:endParaRPr lang="en-US" dirty="0"/>
          </a:p>
          <a:p>
            <a:pPr marL="0" lvl="0" indent="0" algn="just">
              <a:spcBef>
                <a:spcPts val="3000"/>
              </a:spcBef>
              <a:buNone/>
            </a:pPr>
            <a:endParaRPr dirty="0"/>
          </a:p>
          <a:p>
            <a:pPr lvl="0" algn="just"/>
            <a:r>
              <a:rPr b="1" dirty="0"/>
              <a:t>Encapsulation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Hiding the </a:t>
            </a:r>
            <a:r>
              <a:rPr b="1" dirty="0">
                <a:solidFill>
                  <a:srgbClr val="FF0000"/>
                </a:solidFill>
              </a:rPr>
              <a:t>implementation</a:t>
            </a:r>
            <a:r>
              <a:rPr dirty="0"/>
              <a:t> </a:t>
            </a:r>
            <a:r>
              <a:rPr b="1" dirty="0"/>
              <a:t>details</a:t>
            </a:r>
            <a:r>
              <a:rPr dirty="0"/>
              <a:t> of a class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Only exposing the </a:t>
            </a:r>
            <a:r>
              <a:rPr b="1" dirty="0"/>
              <a:t>necessary</a:t>
            </a:r>
            <a:r>
              <a:rPr dirty="0"/>
              <a:t> functionality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</a:t>
            </a:r>
            <a:r>
              <a:rPr b="1" dirty="0"/>
              <a:t>complexity</a:t>
            </a:r>
            <a:r>
              <a:rPr dirty="0"/>
              <a:t> of the interface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impact of </a:t>
            </a:r>
            <a:r>
              <a:rPr b="1" dirty="0"/>
              <a:t>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dirty="0"/>
              <a:t>Some Solutions </a:t>
            </a:r>
            <a:r>
              <a:rPr lang="en-GB" dirty="0"/>
              <a:t>provided by </a:t>
            </a:r>
            <a:r>
              <a:rPr dirty="0"/>
              <a:t>OOP (</a:t>
            </a:r>
            <a:r>
              <a:rPr lang="en-US" dirty="0" err="1"/>
              <a:t>Cnt</a:t>
            </a:r>
            <a:r>
              <a:rPr lang="en-US" dirty="0"/>
              <a:t>.</a:t>
            </a:r>
            <a:r>
              <a:rPr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Inheritance</a:t>
            </a:r>
            <a:r>
              <a:rPr lang="en-US" b="1" dirty="0"/>
              <a:t>: </a:t>
            </a:r>
            <a:r>
              <a:rPr lang="en-US" dirty="0"/>
              <a:t>I</a:t>
            </a:r>
            <a:r>
              <a:rPr dirty="0"/>
              <a:t>nheritance allows one class </a:t>
            </a:r>
            <a:r>
              <a:rPr lang="en-GB" dirty="0"/>
              <a:t>(called </a:t>
            </a:r>
            <a:r>
              <a:rPr lang="en-GB" b="1" dirty="0"/>
              <a:t>child</a:t>
            </a:r>
            <a:r>
              <a:rPr lang="en-GB" dirty="0"/>
              <a:t> or subclass) </a:t>
            </a:r>
            <a:r>
              <a:rPr dirty="0"/>
              <a:t>to inherit the properties and </a:t>
            </a:r>
            <a:r>
              <a:rPr dirty="0" err="1"/>
              <a:t>behaviour</a:t>
            </a:r>
            <a:r>
              <a:rPr dirty="0"/>
              <a:t> </a:t>
            </a:r>
            <a:r>
              <a:rPr lang="en-GB" dirty="0"/>
              <a:t>from another class (called </a:t>
            </a:r>
            <a:r>
              <a:rPr b="1" dirty="0"/>
              <a:t>parent</a:t>
            </a:r>
            <a:r>
              <a:rPr dirty="0"/>
              <a:t> </a:t>
            </a:r>
            <a:r>
              <a:rPr lang="en-GB" dirty="0"/>
              <a:t>or superclass)</a:t>
            </a:r>
            <a:r>
              <a:rPr dirty="0"/>
              <a:t>.</a:t>
            </a:r>
            <a:endParaRPr lang="en-US" dirty="0"/>
          </a:p>
          <a:p>
            <a:pPr marL="0" lvl="0" indent="0" algn="just">
              <a:spcBef>
                <a:spcPts val="3000"/>
              </a:spcBef>
              <a:buNone/>
            </a:pPr>
            <a:endParaRPr dirty="0"/>
          </a:p>
          <a:p>
            <a:pPr lvl="0" algn="just"/>
            <a:r>
              <a:rPr b="1" dirty="0"/>
              <a:t>Inheritance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Reusing code, </a:t>
            </a:r>
            <a:r>
              <a:rPr dirty="0" err="1"/>
              <a:t>Specialising</a:t>
            </a:r>
            <a:r>
              <a:rPr dirty="0"/>
              <a:t> code, Reducing duplication, Providing a common interface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But with some caveats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Can lead to tight coupling, and inflexibility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Can lead to maintenance issues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dirty="0"/>
              <a:t>Some Solutions </a:t>
            </a:r>
            <a:r>
              <a:rPr lang="en-GB" dirty="0"/>
              <a:t>provided by </a:t>
            </a:r>
            <a:r>
              <a:rPr dirty="0"/>
              <a:t>OOP (</a:t>
            </a:r>
            <a:r>
              <a:rPr lang="en-US" dirty="0" err="1"/>
              <a:t>Cnt</a:t>
            </a:r>
            <a:r>
              <a:rPr lang="en-US" dirty="0"/>
              <a:t>.</a:t>
            </a:r>
            <a:r>
              <a:rPr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Polymorphism</a:t>
            </a:r>
            <a:r>
              <a:rPr lang="en-US" b="1" dirty="0"/>
              <a:t>: </a:t>
            </a:r>
            <a:r>
              <a:rPr dirty="0"/>
              <a:t>Polymorphism is the ability of an object to take on many forms.</a:t>
            </a:r>
            <a:endParaRPr lang="en-US" dirty="0"/>
          </a:p>
          <a:p>
            <a:pPr marL="0" lvl="0" indent="0" algn="just">
              <a:spcBef>
                <a:spcPts val="3000"/>
              </a:spcBef>
              <a:buNone/>
            </a:pPr>
            <a:endParaRPr dirty="0"/>
          </a:p>
          <a:p>
            <a:pPr lvl="0" algn="just"/>
            <a:r>
              <a:rPr b="1" dirty="0"/>
              <a:t>Polymorphism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Treating objects of different classes in a common way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complexity of code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Making code more flexible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dirty="0"/>
              <a:t>Some Solutions </a:t>
            </a:r>
            <a:r>
              <a:rPr lang="en-GB" dirty="0"/>
              <a:t>provided by</a:t>
            </a:r>
            <a:r>
              <a:rPr dirty="0"/>
              <a:t> OOP (</a:t>
            </a:r>
            <a:r>
              <a:rPr lang="en-US" dirty="0" err="1"/>
              <a:t>Cnt</a:t>
            </a:r>
            <a:r>
              <a:rPr lang="en-US" dirty="0"/>
              <a:t>.</a:t>
            </a:r>
            <a:r>
              <a:rPr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Abstraction</a:t>
            </a:r>
            <a:r>
              <a:rPr lang="en-US" b="1" dirty="0"/>
              <a:t>: </a:t>
            </a:r>
            <a:r>
              <a:rPr dirty="0"/>
              <a:t>Abstraction is the concept of hiding the complex implementation details and showing only the </a:t>
            </a:r>
            <a:r>
              <a:rPr b="1" dirty="0">
                <a:solidFill>
                  <a:srgbClr val="FF0000"/>
                </a:solidFill>
              </a:rPr>
              <a:t>necessary features </a:t>
            </a:r>
            <a:r>
              <a:rPr dirty="0"/>
              <a:t>of the object.</a:t>
            </a:r>
            <a:endParaRPr lang="en-US" dirty="0"/>
          </a:p>
          <a:p>
            <a:pPr marL="0" lvl="0" indent="0" algn="just">
              <a:spcBef>
                <a:spcPts val="3000"/>
              </a:spcBef>
              <a:buNone/>
            </a:pPr>
            <a:endParaRPr dirty="0"/>
          </a:p>
          <a:p>
            <a:pPr lvl="0" algn="just"/>
            <a:r>
              <a:rPr b="1" dirty="0"/>
              <a:t>Abstraction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Providing a simplified view of the class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complexity of the </a:t>
            </a:r>
            <a:r>
              <a:rPr b="1" dirty="0"/>
              <a:t>interface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impact of changes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dirty="0"/>
              <a:t>Some Solutions </a:t>
            </a:r>
            <a:r>
              <a:rPr lang="en-GB" dirty="0"/>
              <a:t>provided by </a:t>
            </a:r>
            <a:r>
              <a:rPr dirty="0"/>
              <a:t>OOP (</a:t>
            </a:r>
            <a:r>
              <a:rPr lang="en-US" dirty="0" err="1"/>
              <a:t>Cnt</a:t>
            </a:r>
            <a:r>
              <a:rPr lang="en-US" dirty="0"/>
              <a:t>.</a:t>
            </a:r>
            <a:r>
              <a:rPr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Modularity</a:t>
            </a:r>
            <a:r>
              <a:rPr lang="en-US" b="1" dirty="0"/>
              <a:t>: </a:t>
            </a:r>
            <a:r>
              <a:rPr dirty="0"/>
              <a:t>Modularity is the degree to which a system’s</a:t>
            </a:r>
            <a:r>
              <a:rPr lang="en-US" dirty="0"/>
              <a:t> </a:t>
            </a:r>
            <a:r>
              <a:rPr dirty="0"/>
              <a:t>components may be separated and recombined.</a:t>
            </a:r>
            <a:endParaRPr lang="en-US" dirty="0"/>
          </a:p>
          <a:p>
            <a:pPr marL="0" lvl="0" indent="0" algn="just">
              <a:spcBef>
                <a:spcPts val="3000"/>
              </a:spcBef>
              <a:buNone/>
            </a:pPr>
            <a:endParaRPr dirty="0"/>
          </a:p>
          <a:p>
            <a:pPr lvl="0" algn="just"/>
            <a:r>
              <a:rPr b="1" dirty="0"/>
              <a:t>Modularity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Breaking down a system into smaller, more manageable parts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complexity of the system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impact of changes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dirty="0"/>
              <a:t>Some Solutions </a:t>
            </a:r>
            <a:r>
              <a:rPr lang="en-GB" dirty="0"/>
              <a:t>provided by </a:t>
            </a:r>
            <a:r>
              <a:rPr dirty="0"/>
              <a:t>OOP (</a:t>
            </a:r>
            <a:r>
              <a:rPr lang="en-US" dirty="0" err="1"/>
              <a:t>Cnt</a:t>
            </a:r>
            <a:r>
              <a:rPr lang="en-US" dirty="0"/>
              <a:t>.</a:t>
            </a:r>
            <a:r>
              <a:rPr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Separation of Concerns</a:t>
            </a:r>
            <a:r>
              <a:rPr lang="en-US" b="1" dirty="0"/>
              <a:t>: </a:t>
            </a:r>
            <a:r>
              <a:rPr dirty="0"/>
              <a:t>Separation of concerns is a design principle for separating a computer program into distinct sections, such that each section addresses a </a:t>
            </a:r>
            <a:r>
              <a:rPr b="1" dirty="0">
                <a:solidFill>
                  <a:srgbClr val="FF0000"/>
                </a:solidFill>
              </a:rPr>
              <a:t>separate concern</a:t>
            </a:r>
            <a:r>
              <a:rPr dirty="0"/>
              <a:t>.</a:t>
            </a:r>
            <a:endParaRPr lang="en-US" dirty="0"/>
          </a:p>
          <a:p>
            <a:pPr marL="0" lvl="0" indent="0" algn="just">
              <a:spcBef>
                <a:spcPts val="3000"/>
              </a:spcBef>
              <a:buNone/>
            </a:pPr>
            <a:endParaRPr dirty="0"/>
          </a:p>
          <a:p>
            <a:pPr lvl="0" algn="just"/>
            <a:r>
              <a:rPr b="1" dirty="0"/>
              <a:t>Separation of Concerns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Separating different aspects of a system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complexity of the system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Reducing the impact of changes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dirty="0"/>
              <a:t>Some Solutions </a:t>
            </a:r>
            <a:r>
              <a:rPr lang="en-GB" dirty="0"/>
              <a:t>provided by </a:t>
            </a:r>
            <a:r>
              <a:rPr dirty="0"/>
              <a:t>OOP (</a:t>
            </a:r>
            <a:r>
              <a:rPr lang="en-US" dirty="0" err="1"/>
              <a:t>Cnt</a:t>
            </a:r>
            <a:r>
              <a:rPr lang="en-US" dirty="0"/>
              <a:t>.</a:t>
            </a:r>
            <a:r>
              <a:rPr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3000"/>
              </a:spcBef>
            </a:pPr>
            <a:r>
              <a:rPr b="1" dirty="0"/>
              <a:t>Design Patterns</a:t>
            </a:r>
            <a:r>
              <a:rPr lang="en-US" b="1" dirty="0"/>
              <a:t>: </a:t>
            </a:r>
            <a:r>
              <a:rPr dirty="0"/>
              <a:t>A design pattern is a general repeatable solution to a commonly occurring problem in software design.</a:t>
            </a:r>
            <a:endParaRPr lang="en-US" dirty="0"/>
          </a:p>
          <a:p>
            <a:pPr marL="0" lvl="0" indent="0" algn="just">
              <a:spcBef>
                <a:spcPts val="3000"/>
              </a:spcBef>
              <a:buNone/>
            </a:pPr>
            <a:endParaRPr dirty="0"/>
          </a:p>
          <a:p>
            <a:pPr lvl="0" algn="just"/>
            <a:r>
              <a:rPr b="1" dirty="0"/>
              <a:t>Design Patterns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Reusable solutions to common problems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But with some caveats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Can lead to over-engineering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Can lead to inflexibility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dirty="0"/>
              <a:t>Can lead to maintenance issues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Process vs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b="1" dirty="0"/>
              <a:t>Process</a:t>
            </a:r>
            <a:r>
              <a:rPr dirty="0"/>
              <a:t>: The way in which software is developed</a:t>
            </a:r>
          </a:p>
          <a:p>
            <a:pPr lvl="0" algn="just"/>
            <a:r>
              <a:rPr b="1" dirty="0"/>
              <a:t>Product</a:t>
            </a:r>
            <a:r>
              <a:rPr dirty="0"/>
              <a:t>: The software itself</a:t>
            </a:r>
          </a:p>
          <a:p>
            <a:pPr lvl="0" algn="just"/>
            <a:r>
              <a:rPr b="1" dirty="0"/>
              <a:t>OOP</a:t>
            </a:r>
            <a:r>
              <a:rPr dirty="0"/>
              <a:t>: Focuses on the product</a:t>
            </a:r>
          </a:p>
          <a:p>
            <a:pPr lvl="0" algn="just"/>
            <a:r>
              <a:rPr b="1" dirty="0"/>
              <a:t>Software engineering</a:t>
            </a:r>
            <a:r>
              <a:rPr dirty="0"/>
              <a:t>: Focuses on the process</a:t>
            </a:r>
          </a:p>
          <a:p>
            <a:pPr lvl="0" algn="just"/>
            <a:r>
              <a:rPr b="1" dirty="0"/>
              <a:t>Both are important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Discussion - Process vs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dirty="0"/>
              <a:t>How should we balance between Process and Product?</a:t>
            </a:r>
          </a:p>
          <a:p>
            <a:pPr lvl="0" algn="just"/>
            <a:r>
              <a:rPr dirty="0"/>
              <a:t>What challenges are there?</a:t>
            </a:r>
          </a:p>
          <a:p>
            <a:pPr lvl="0" algn="just"/>
            <a:r>
              <a:rPr dirty="0"/>
              <a:t>Is your focus on ‘getting marks’ or on ‘developing software’ and/or ‘learning’?</a:t>
            </a:r>
          </a:p>
          <a:p>
            <a:pPr lvl="0" algn="just">
              <a:spcBef>
                <a:spcPts val="3000"/>
              </a:spcBef>
              <a:buFont typeface="Wingdings" pitchFamily="2" charset="2"/>
              <a:buChar char="ü"/>
            </a:pPr>
            <a:r>
              <a:rPr b="1" dirty="0"/>
              <a:t>Have a minute to think about this</a:t>
            </a:r>
          </a:p>
          <a:p>
            <a:pPr lvl="0" algn="just">
              <a:spcBef>
                <a:spcPts val="3000"/>
              </a:spcBef>
              <a:buFont typeface="Wingdings" pitchFamily="2" charset="2"/>
              <a:buChar char="ü"/>
            </a:pPr>
            <a:r>
              <a:rPr b="1" dirty="0"/>
              <a:t>Discuss with your </a:t>
            </a:r>
            <a:r>
              <a:rPr b="1" dirty="0" err="1"/>
              <a:t>neighbour</a:t>
            </a:r>
            <a:r>
              <a:rPr b="1" dirty="0"/>
              <a:t> for 5 minutes</a:t>
            </a:r>
          </a:p>
          <a:p>
            <a:pPr lvl="0" algn="just">
              <a:spcBef>
                <a:spcPts val="3000"/>
              </a:spcBef>
              <a:buFont typeface="Wingdings" pitchFamily="2" charset="2"/>
              <a:buChar char="ü"/>
            </a:pPr>
            <a:r>
              <a:rPr b="1" dirty="0"/>
              <a:t>Then I will ask for ideas from the class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dirty="0"/>
              <a:t>Software development is complex</a:t>
            </a:r>
          </a:p>
          <a:p>
            <a:pPr lvl="0" algn="just"/>
            <a:r>
              <a:rPr dirty="0"/>
              <a:t>Common issues in software development</a:t>
            </a:r>
          </a:p>
          <a:p>
            <a:pPr lvl="0" algn="just"/>
            <a:r>
              <a:rPr dirty="0"/>
              <a:t>Some solutions courtesy of OOP</a:t>
            </a:r>
          </a:p>
          <a:p>
            <a:pPr lvl="0" algn="just"/>
            <a:r>
              <a:rPr dirty="0"/>
              <a:t>Process vs Product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Lab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Week 1 will be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Getting up and running with a dev environment</a:t>
            </a:r>
          </a:p>
          <a:p>
            <a:pPr lvl="1" algn="just">
              <a:buFont typeface="Wingdings" pitchFamily="2" charset="2"/>
              <a:buChar char="ü"/>
            </a:pPr>
            <a:r>
              <a:rPr dirty="0"/>
              <a:t>Trying some simple OOP examples in Java (learning by doing)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19311</TotalTime>
  <Words>1113</Words>
  <Application>Microsoft Macintosh PowerPoint</Application>
  <PresentationFormat>Widescreen</PresentationFormat>
  <Paragraphs>206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Courier New</vt:lpstr>
      <vt:lpstr>Helvetica Neue</vt:lpstr>
      <vt:lpstr>Wingdings</vt:lpstr>
      <vt:lpstr>Office Theme</vt:lpstr>
      <vt:lpstr>CS1OP Week 1</vt:lpstr>
      <vt:lpstr>Object-Oriented Programming: Solving Real-World Problems</vt:lpstr>
      <vt:lpstr>The complexity of Software Development</vt:lpstr>
      <vt:lpstr>The complexity of Software Development - Why?</vt:lpstr>
      <vt:lpstr>Common Issues in Software Development</vt:lpstr>
      <vt:lpstr>Discussion - What issues have you encountered?</vt:lpstr>
      <vt:lpstr>Tight Coupling</vt:lpstr>
      <vt:lpstr>Inflexibility in Design</vt:lpstr>
      <vt:lpstr>Inability to Scale</vt:lpstr>
      <vt:lpstr>Difficulty in Testing</vt:lpstr>
      <vt:lpstr>Difficulty in Maintenance</vt:lpstr>
      <vt:lpstr>Difficulty in Reuse</vt:lpstr>
      <vt:lpstr>Poor Modularity</vt:lpstr>
      <vt:lpstr>Some Solutions provided by OOP </vt:lpstr>
      <vt:lpstr>Some Solutions provided by OOP (Cnt.)</vt:lpstr>
      <vt:lpstr>Some Solutions provided by OOP (Cnt.)</vt:lpstr>
      <vt:lpstr>Some Solutions provided by OOP (Cnt.)</vt:lpstr>
      <vt:lpstr>Some Solutions provided by OOP (Cnt.)</vt:lpstr>
      <vt:lpstr>Some Solutions provided by OOP (Cnt.)</vt:lpstr>
      <vt:lpstr>Some Solutions provided by OOP (Cnt.)</vt:lpstr>
      <vt:lpstr>Some Solutions provided by OOP (Cnt.)</vt:lpstr>
      <vt:lpstr>Process vs Product</vt:lpstr>
      <vt:lpstr>Discussion - Process vs Product</vt:lpstr>
      <vt:lpstr>Summary</vt:lpstr>
      <vt:lpstr>Lab session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CS1OP Week 1</dc:title>
  <dc:creator>2024-12-31</dc:creator>
  <cp:keywords/>
  <cp:lastModifiedBy>Zahra Pooranian</cp:lastModifiedBy>
  <cp:revision>501</cp:revision>
  <dcterms:created xsi:type="dcterms:W3CDTF">2024-12-31T12:02:27Z</dcterms:created>
  <dcterms:modified xsi:type="dcterms:W3CDTF">2026-02-07T12:59:45Z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Author Pat Parslow</vt:lpwstr>
  </property>
</Properties>
</file>