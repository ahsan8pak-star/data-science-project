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88" autoAdjust="0"/>
    <p:restoredTop sz="63775"/>
  </p:normalViewPr>
  <p:slideViewPr>
    <p:cSldViewPr snapToGrid="0">
      <p:cViewPr varScale="1">
        <p:scale>
          <a:sx n="58" d="100"/>
          <a:sy n="58" d="100"/>
        </p:scale>
        <p:origin x="1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1F83-A78E-704A-A72D-C466940AD2B2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E4074-7DA8-F44C-82AA-00C9F620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45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10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722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386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502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37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729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89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085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61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161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180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910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16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618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897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444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702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227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679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701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614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977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340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33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06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F6403-966C-3848-961D-FAF6962B4E1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70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F614D9-4624-E7A0-1531-1474E97E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8" y="54302"/>
            <a:ext cx="1272209" cy="4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CS1OP 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202</a:t>
            </a:r>
            <a:r>
              <a:rPr lang="en-GB" dirty="0"/>
              <a:t>6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400" dirty="0"/>
              <a:t>Author </a:t>
            </a:r>
            <a:r>
              <a:rPr lang="en-US" sz="1400" dirty="0"/>
              <a:t> Zahra </a:t>
            </a:r>
            <a:r>
              <a:rPr lang="en-US" sz="1400" dirty="0" err="1"/>
              <a:t>Pooranian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Understanding Message Passing in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Objective</a:t>
            </a:r>
          </a:p>
          <a:p>
            <a:pPr marL="914400" lvl="1" indent="-457200" algn="just">
              <a:buAutoNum type="arabicPeriod"/>
            </a:pPr>
            <a:r>
              <a:rPr dirty="0"/>
              <a:t>Explore the concept of </a:t>
            </a:r>
            <a:r>
              <a:rPr b="1" dirty="0"/>
              <a:t>message passing</a:t>
            </a:r>
            <a:r>
              <a:rPr dirty="0"/>
              <a:t> in Object-Oriented Programming (OOP).</a:t>
            </a:r>
          </a:p>
          <a:p>
            <a:pPr marL="914400" lvl="1" indent="-457200" algn="just">
              <a:buAutoNum type="arabicPeriod"/>
            </a:pPr>
            <a:r>
              <a:rPr dirty="0"/>
              <a:t>Discuss the benefits and limitations of thinking in terms of message passing.</a:t>
            </a:r>
          </a:p>
          <a:p>
            <a:pPr marL="914400" lvl="1" indent="-457200" algn="just">
              <a:buAutoNum type="arabicPeriod"/>
            </a:pPr>
            <a:r>
              <a:rPr dirty="0"/>
              <a:t>Understand how this concept encourages good design and coding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Message Passing?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3000"/>
              </a:spcBef>
            </a:pPr>
            <a:r>
              <a:rPr b="1" dirty="0"/>
              <a:t>Definition</a:t>
            </a:r>
            <a:r>
              <a:rPr lang="en-US" b="1" dirty="0"/>
              <a:t>: </a:t>
            </a:r>
            <a:r>
              <a:rPr b="1" dirty="0">
                <a:solidFill>
                  <a:srgbClr val="FF0000"/>
                </a:solidFill>
              </a:rPr>
              <a:t>Message passing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/>
              <a:t>is a technique in OOP where objects communicate by sending and receiving messages.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 “message” is essentially a request for an object to perform a specific action or behavior.</a:t>
            </a:r>
          </a:p>
          <a:p>
            <a:pPr algn="just">
              <a:spcBef>
                <a:spcPts val="3000"/>
              </a:spcBef>
            </a:pPr>
            <a:r>
              <a:rPr b="1" dirty="0"/>
              <a:t>Key Points</a:t>
            </a:r>
          </a:p>
          <a:p>
            <a:pPr marL="914400" lvl="1" indent="-457200" algn="just">
              <a:buAutoNum type="arabicPeriod"/>
            </a:pPr>
            <a:r>
              <a:rPr dirty="0"/>
              <a:t>Objects as Independent Entities</a:t>
            </a:r>
          </a:p>
          <a:p>
            <a:pPr marL="914400" lvl="1" indent="-457200" algn="just">
              <a:buAutoNum type="arabicPeriod"/>
            </a:pPr>
            <a:r>
              <a:rPr dirty="0"/>
              <a:t>Message Passing vs Method Calls</a:t>
            </a:r>
          </a:p>
          <a:p>
            <a:pPr marL="914400" lvl="1" indent="-457200" algn="just">
              <a:buAutoNum type="arabicPeriod"/>
            </a:pPr>
            <a:r>
              <a:rPr dirty="0"/>
              <a:t>Encapsulation and Abstraction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Message Passing?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Key Points</a:t>
            </a:r>
          </a:p>
          <a:p>
            <a:pPr marL="914400" lvl="1" indent="-457200" algn="just">
              <a:buAutoNum type="arabicPeriod" startAt="2"/>
            </a:pPr>
            <a:r>
              <a:rPr b="1" dirty="0"/>
              <a:t>Message Passing vs Method Calls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In many OOP languages (e.g., Java), message passing is implemented as method calls.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For example:</a:t>
            </a:r>
          </a:p>
          <a:p>
            <a:pPr lvl="3" indent="0" algn="just">
              <a:buNone/>
            </a:pPr>
            <a:r>
              <a:rPr dirty="0" err="1">
                <a:latin typeface="Courier"/>
              </a:rPr>
              <a:t>object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methodName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parameters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;</a:t>
            </a:r>
            <a:endParaRPr dirty="0">
              <a:solidFill>
                <a:srgbClr val="666666"/>
              </a:solidFill>
              <a:latin typeface="Courier"/>
            </a:endParaRPr>
          </a:p>
          <a:p>
            <a:pPr lvl="2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2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2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Here, the object receives a “message” (method call) and </a:t>
            </a:r>
            <a:r>
              <a:rPr dirty="0">
                <a:solidFill>
                  <a:srgbClr val="FF0000"/>
                </a:solidFill>
              </a:rPr>
              <a:t>decides how to respond</a:t>
            </a:r>
            <a:r>
              <a:rPr lang="en-GB" dirty="0">
                <a:solidFill>
                  <a:srgbClr val="FF0000"/>
                </a:solidFill>
              </a:rPr>
              <a:t> internally</a:t>
            </a:r>
            <a:r>
              <a:rPr dirty="0"/>
              <a:t>.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06068A9F-643E-9BC0-1EC3-027BD5880046}"/>
              </a:ext>
            </a:extLst>
          </p:cNvPr>
          <p:cNvSpPr/>
          <p:nvPr/>
        </p:nvSpPr>
        <p:spPr>
          <a:xfrm rot="16200000">
            <a:off x="4736592" y="2684558"/>
            <a:ext cx="512064" cy="2926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53B04-2BFE-B598-634E-E3DB78D13479}"/>
              </a:ext>
            </a:extLst>
          </p:cNvPr>
          <p:cNvSpPr txBox="1"/>
          <p:nvPr/>
        </p:nvSpPr>
        <p:spPr>
          <a:xfrm>
            <a:off x="4379976" y="4417537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message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Message Passing?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Key Points</a:t>
            </a:r>
          </a:p>
          <a:p>
            <a:pPr marL="914400" lvl="1" indent="-457200" algn="just">
              <a:buAutoNum type="arabicPeriod" startAt="3"/>
            </a:pPr>
            <a:r>
              <a:rPr b="1" dirty="0"/>
              <a:t>Encapsulation and Abstraction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Message passing hides the internal implementation of objects.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The sender doesn’t need to know how the receiver processes the message, only that it will.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Message Passing?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Benefits</a:t>
            </a:r>
          </a:p>
          <a:p>
            <a:pPr marL="457200" lvl="1" indent="0" algn="just">
              <a:buNone/>
            </a:pPr>
            <a:r>
              <a:rPr lang="en-US" b="1" dirty="0"/>
              <a:t>1. </a:t>
            </a:r>
            <a:r>
              <a:rPr b="1" dirty="0"/>
              <a:t>Encourages Modularity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Objects are self-contained and interact only through well-defined messages.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This reduces tight coupling and makes systems easier to maintain and extend.</a:t>
            </a:r>
            <a:endParaRPr lang="en-GB" dirty="0"/>
          </a:p>
          <a:p>
            <a:pPr lvl="8" algn="just">
              <a:buFont typeface="Courier New" panose="02070309020205020404" pitchFamily="49" charset="0"/>
              <a:buChar char="o"/>
            </a:pPr>
            <a:endParaRPr dirty="0"/>
          </a:p>
          <a:p>
            <a:pPr marL="457200" lvl="1" indent="0" algn="just">
              <a:buNone/>
            </a:pPr>
            <a:r>
              <a:rPr lang="en-US" b="1" dirty="0"/>
              <a:t>2. </a:t>
            </a:r>
            <a:r>
              <a:rPr b="1" dirty="0"/>
              <a:t>Promotes Abstraction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By focusing on “what” an object does (the message) rather than “how” it does it</a:t>
            </a:r>
            <a:r>
              <a:rPr lang="en-GB" dirty="0"/>
              <a:t>.</a:t>
            </a:r>
            <a:r>
              <a:rPr dirty="0"/>
              <a:t> </a:t>
            </a:r>
            <a:endParaRPr lang="en-GB"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GB" dirty="0"/>
              <a:t>D</a:t>
            </a:r>
            <a:r>
              <a:rPr dirty="0" err="1"/>
              <a:t>evelopers</a:t>
            </a:r>
            <a:r>
              <a:rPr dirty="0"/>
              <a:t> can design systems at a </a:t>
            </a:r>
            <a:r>
              <a:rPr b="1" dirty="0">
                <a:solidFill>
                  <a:srgbClr val="FF0000"/>
                </a:solidFill>
              </a:rPr>
              <a:t>higher level of abstraction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Message Passing?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spcBef>
                <a:spcPts val="3000"/>
              </a:spcBef>
            </a:pPr>
            <a:r>
              <a:rPr b="1" dirty="0"/>
              <a:t>Benefits</a:t>
            </a:r>
          </a:p>
          <a:p>
            <a:pPr marL="457200" lvl="1" indent="0" algn="justLow">
              <a:buNone/>
            </a:pPr>
            <a:r>
              <a:rPr lang="en-US" b="1" dirty="0"/>
              <a:t>3. </a:t>
            </a:r>
            <a:r>
              <a:rPr b="1" dirty="0"/>
              <a:t>Improves Flexibility</a:t>
            </a:r>
            <a:endParaRPr dirty="0"/>
          </a:p>
          <a:p>
            <a:pPr lvl="2" algn="justLow">
              <a:buFont typeface="Courier New" panose="02070309020205020404" pitchFamily="49" charset="0"/>
              <a:buChar char="o"/>
            </a:pPr>
            <a:r>
              <a:rPr dirty="0"/>
              <a:t>Objects can be replaced or modified without affecting other parts of the system, as long as they respond to the same messages.</a:t>
            </a:r>
            <a:endParaRPr lang="en-GB" dirty="0"/>
          </a:p>
          <a:p>
            <a:pPr lvl="8" algn="justLow">
              <a:buFont typeface="Courier New" panose="02070309020205020404" pitchFamily="49" charset="0"/>
              <a:buChar char="o"/>
            </a:pPr>
            <a:endParaRPr dirty="0"/>
          </a:p>
          <a:p>
            <a:pPr marL="457200" lvl="1" indent="0" algn="justLow">
              <a:buNone/>
            </a:pPr>
            <a:r>
              <a:rPr lang="en-US" b="1" dirty="0"/>
              <a:t>4. </a:t>
            </a:r>
            <a:r>
              <a:rPr b="1" dirty="0"/>
              <a:t>Simulates Real-World Interactions</a:t>
            </a:r>
            <a:endParaRPr dirty="0"/>
          </a:p>
          <a:p>
            <a:pPr lvl="2" algn="justLow">
              <a:buFont typeface="Courier New" panose="02070309020205020404" pitchFamily="49" charset="0"/>
              <a:buChar char="o"/>
            </a:pPr>
            <a:r>
              <a:rPr dirty="0"/>
              <a:t>Thinking in terms of objects sending messages mirrors real-world systems, making it easier to model complex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Not Always Use Literal Message Passing?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Limitations</a:t>
            </a:r>
          </a:p>
          <a:p>
            <a:pPr marL="914400" lvl="1" indent="-457200" algn="just">
              <a:buAutoNum type="arabicPeriod"/>
            </a:pPr>
            <a:r>
              <a:rPr b="1" dirty="0"/>
              <a:t>Performance Overhead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Literal message passing (e.g., in distributed systems) can introduce </a:t>
            </a:r>
            <a:r>
              <a:rPr dirty="0">
                <a:solidFill>
                  <a:srgbClr val="FF0000"/>
                </a:solidFill>
              </a:rPr>
              <a:t>latency</a:t>
            </a:r>
            <a:r>
              <a:rPr dirty="0"/>
              <a:t> and </a:t>
            </a:r>
            <a:r>
              <a:rPr dirty="0">
                <a:solidFill>
                  <a:srgbClr val="FF0000"/>
                </a:solidFill>
              </a:rPr>
              <a:t>complexity</a:t>
            </a:r>
            <a:r>
              <a:rPr dirty="0"/>
              <a:t>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For example, sending messages between processes or over a network is slower than direct method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Not Always Use Literal Message Passing?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Limitations</a:t>
            </a:r>
          </a:p>
          <a:p>
            <a:pPr marL="914400" lvl="1" indent="-457200" algn="just">
              <a:buAutoNum type="arabicPeriod" startAt="2"/>
            </a:pPr>
            <a:r>
              <a:rPr b="1" dirty="0"/>
              <a:t>Complexity in Implementation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Literal message passing requires </a:t>
            </a:r>
            <a:r>
              <a:rPr dirty="0">
                <a:solidFill>
                  <a:srgbClr val="FF0000"/>
                </a:solidFill>
              </a:rPr>
              <a:t>additional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infrastructure</a:t>
            </a:r>
            <a:r>
              <a:rPr dirty="0"/>
              <a:t> to handle message queues, </a:t>
            </a:r>
            <a:r>
              <a:rPr dirty="0">
                <a:solidFill>
                  <a:srgbClr val="FF0000"/>
                </a:solidFill>
              </a:rPr>
              <a:t>serialization</a:t>
            </a:r>
            <a:r>
              <a:rPr dirty="0"/>
              <a:t>, and </a:t>
            </a:r>
            <a:r>
              <a:rPr dirty="0">
                <a:solidFill>
                  <a:srgbClr val="FF0000"/>
                </a:solidFill>
              </a:rPr>
              <a:t>error</a:t>
            </a:r>
            <a:r>
              <a:rPr dirty="0"/>
              <a:t>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Not Always Use Literal Message Passing?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Limitations</a:t>
            </a:r>
          </a:p>
          <a:p>
            <a:pPr marL="914400" lvl="1" indent="-457200" algn="just">
              <a:buAutoNum type="arabicPeriod" startAt="3"/>
            </a:pPr>
            <a:r>
              <a:rPr b="1" dirty="0"/>
              <a:t>Not Always Necessary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In many cases, direct method calls are simpler and more efficient while still adhering to the principles of message passing.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Thinking in Terms of Message Passing Encourages Good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Encourages Encapsulation</a:t>
            </a:r>
          </a:p>
          <a:p>
            <a:pPr lvl="8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By focusing on messages, developers naturally hide the internal details of objects.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This reduces dependencies and makes systems more robust to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Thinking in Terms of Message Passing Encourages Good Design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Promotes Separation of Concerns</a:t>
            </a:r>
          </a:p>
          <a:p>
            <a:pPr lvl="8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Each object is responsible for its own behavior and communicates only through messages.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This aligns with the principle of </a:t>
            </a:r>
            <a:r>
              <a:rPr b="1" dirty="0"/>
              <a:t>separation of concerns</a:t>
            </a:r>
            <a:r>
              <a:rPr dirty="0"/>
              <a:t>, making systems easier to understand and maintain.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Thinking in Terms of Message Passing Encourages Good Design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Supports Polymorphism</a:t>
            </a:r>
          </a:p>
          <a:p>
            <a:pPr lvl="8" algn="just">
              <a:buFont typeface="Courier New" panose="02070309020205020404" pitchFamily="49" charset="0"/>
              <a:buChar char="o"/>
            </a:pPr>
            <a:endParaRPr lang="en-GB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Objects of different types can respond to the same message in different ways.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dirty="0"/>
              <a:t>This makes systems more flexible and extensible.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Animal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"Some generic animal sound"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Dog </a:t>
            </a:r>
            <a:r>
              <a:rPr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dirty="0">
                <a:latin typeface="Courier"/>
              </a:rPr>
              <a:t> Animal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"Woof!"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Cat </a:t>
            </a:r>
            <a:r>
              <a:rPr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dirty="0">
                <a:latin typeface="Courier"/>
              </a:rPr>
              <a:t> Animal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dirty="0">
                <a:solidFill>
                  <a:srgbClr val="666666"/>
                </a:solidFill>
                <a:latin typeface="Courier"/>
              </a:rPr>
              <a:t>()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"Meow!"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Main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static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main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[]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args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Animal </a:t>
            </a:r>
            <a:r>
              <a:rPr dirty="0" err="1">
                <a:latin typeface="Courier"/>
              </a:rPr>
              <a:t>myDog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Dog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Animal </a:t>
            </a:r>
            <a:r>
              <a:rPr dirty="0" err="1">
                <a:latin typeface="Courier"/>
              </a:rPr>
              <a:t>myCat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Cat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 Sending the same "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makeSound</a:t>
            </a:r>
            <a:r>
              <a:rPr i="1" dirty="0">
                <a:solidFill>
                  <a:srgbClr val="60A0B0"/>
                </a:solidFill>
                <a:latin typeface="Courier"/>
              </a:rPr>
              <a:t>" message to different objects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myDog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Output: Woof!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 err="1">
                <a:latin typeface="Courier"/>
              </a:rPr>
              <a:t>myCat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r>
              <a:rPr dirty="0">
                <a:latin typeface="Courier"/>
              </a:rPr>
              <a:t> </a:t>
            </a:r>
            <a:r>
              <a:rPr i="1" dirty="0">
                <a:solidFill>
                  <a:srgbClr val="60A0B0"/>
                </a:solidFill>
                <a:latin typeface="Courier"/>
              </a:rPr>
              <a:t>// Output: Meow!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Discussion - How would we do this by literally passing messages?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lvl="0" indent="-457200" algn="just">
              <a:buAutoNum type="arabicPeriod"/>
            </a:pPr>
            <a:r>
              <a:rPr dirty="0"/>
              <a:t>What would be the benefits of passing messages in this case?</a:t>
            </a:r>
          </a:p>
          <a:p>
            <a:pPr marL="457200" lvl="0" indent="-457200" algn="just">
              <a:buAutoNum type="arabicPeriod"/>
            </a:pPr>
            <a:r>
              <a:rPr dirty="0"/>
              <a:t>What would be the drawbacks?</a:t>
            </a:r>
          </a:p>
          <a:p>
            <a:pPr marL="457200" lvl="0" indent="-457200" algn="just">
              <a:buAutoNum type="arabicPeriod"/>
            </a:pPr>
            <a:r>
              <a:rPr dirty="0"/>
              <a:t>How would we implement this in a literal message passing system?</a:t>
            </a:r>
          </a:p>
          <a:p>
            <a:pPr marL="457200" lvl="0" indent="-457200" algn="just">
              <a:buAutoNum type="arabicPeriod"/>
            </a:pPr>
            <a:r>
              <a:rPr dirty="0"/>
              <a:t>What would be the implications for performance and complexity?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Software Engineering point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 err="1"/>
              <a:t>Maximising</a:t>
            </a:r>
            <a:r>
              <a:rPr dirty="0"/>
              <a:t> speed of running code is not always the most important factor</a:t>
            </a:r>
          </a:p>
          <a:p>
            <a:pPr lvl="8" algn="just">
              <a:buFont typeface="Wingdings" pitchFamily="2" charset="2"/>
              <a:buChar char="ü"/>
            </a:pPr>
            <a:endParaRPr lang="en-GB" b="1" dirty="0"/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Maintainability</a:t>
            </a:r>
            <a:r>
              <a:rPr dirty="0"/>
              <a:t> is often more important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Readability</a:t>
            </a:r>
            <a:r>
              <a:rPr dirty="0"/>
              <a:t> is often more important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Flexibility</a:t>
            </a:r>
            <a:r>
              <a:rPr dirty="0"/>
              <a:t> is often more important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Scalability</a:t>
            </a:r>
            <a:r>
              <a:rPr dirty="0"/>
              <a:t> is often more important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Loose Coupling vs Tight Coupling: Benefits and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Tight Coupling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Advantages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Easier to implement initially.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better performance in some cases (e.g., fewer abstractions).</a:t>
            </a:r>
            <a:endParaRPr lang="en-GB" dirty="0"/>
          </a:p>
          <a:p>
            <a:pPr lvl="8" algn="just">
              <a:buFont typeface="Courier New" panose="02070309020205020404" pitchFamily="49" charset="0"/>
              <a:buChar char="o"/>
            </a:pP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Disadvantages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Harder to maintain and extend.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Changes in one component can cause a ripple effect.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Reduced reusability of components.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Loose Coupling vs Tight Coupling: Benefits and Drawbacks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spcBef>
                <a:spcPts val="3000"/>
              </a:spcBef>
            </a:pPr>
            <a:r>
              <a:rPr b="1" dirty="0"/>
              <a:t>Loose Coupling</a:t>
            </a:r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Advantages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Easier to maintain and extend.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Components are more reusable.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Changes in one component have minimal impact on others.</a:t>
            </a:r>
            <a:endParaRPr lang="en-GB" dirty="0"/>
          </a:p>
          <a:p>
            <a:pPr lvl="8" algn="just">
              <a:buFont typeface="Courier New" panose="02070309020205020404" pitchFamily="49" charset="0"/>
              <a:buChar char="o"/>
            </a:pP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b="1" dirty="0"/>
              <a:t>Disadvantages</a:t>
            </a:r>
            <a:endParaRPr dirty="0"/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May require more effort to design and implement.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introduce performance overhead due to abstractions.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UML Class Diagram: Loose Coupling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Scenario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 </a:t>
            </a:r>
            <a:r>
              <a:rPr dirty="0">
                <a:latin typeface="Courier"/>
              </a:rPr>
              <a:t>Car</a:t>
            </a:r>
            <a:r>
              <a:rPr dirty="0"/>
              <a:t> class directly depends on a </a:t>
            </a:r>
            <a:r>
              <a:rPr dirty="0" err="1">
                <a:latin typeface="Courier"/>
              </a:rPr>
              <a:t>GasEngine</a:t>
            </a:r>
            <a:r>
              <a:rPr dirty="0"/>
              <a:t> class. If the engine type changes (e.g., to </a:t>
            </a:r>
            <a:r>
              <a:rPr dirty="0" err="1">
                <a:latin typeface="Courier"/>
              </a:rPr>
              <a:t>ElectricEngine</a:t>
            </a:r>
            <a:r>
              <a:rPr dirty="0"/>
              <a:t>), the </a:t>
            </a:r>
            <a:r>
              <a:rPr dirty="0">
                <a:latin typeface="Courier"/>
              </a:rPr>
              <a:t>Car</a:t>
            </a:r>
            <a:r>
              <a:rPr dirty="0"/>
              <a:t> class must also change. </a:t>
            </a:r>
            <a:r>
              <a:rPr lang="en-GB" dirty="0"/>
              <a:t>Instead,</a:t>
            </a:r>
            <a:r>
              <a:rPr dirty="0"/>
              <a:t> we can do this:</a:t>
            </a:r>
          </a:p>
          <a:p>
            <a:pPr marL="0" lvl="0" indent="0" algn="just">
              <a:buNone/>
            </a:pPr>
            <a:endParaRPr dirty="0"/>
          </a:p>
        </p:txBody>
      </p:sp>
      <p:pic>
        <p:nvPicPr>
          <p:cNvPr id="5" name="Picture 4" descr="A diagram of a engine">
            <a:extLst>
              <a:ext uri="{FF2B5EF4-FFF2-40B4-BE49-F238E27FC236}">
                <a16:creationId xmlns:a16="http://schemas.microsoft.com/office/drawing/2014/main" id="{8E8B5E72-F530-76F4-0190-0DC792F55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71" y="3452813"/>
            <a:ext cx="4629150" cy="2724150"/>
          </a:xfrm>
          <a:prstGeom prst="rect">
            <a:avLst/>
          </a:prstGeom>
        </p:spPr>
      </p:pic>
      <p:pic>
        <p:nvPicPr>
          <p:cNvPr id="6" name="Picture 5" descr="A diagram of a car&#10;&#10;AI-generated content may be incorrect.">
            <a:extLst>
              <a:ext uri="{FF2B5EF4-FFF2-40B4-BE49-F238E27FC236}">
                <a16:creationId xmlns:a16="http://schemas.microsoft.com/office/drawing/2014/main" id="{CCF349C9-98D2-FFED-1646-9FCF5A5AB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020" y="3452813"/>
            <a:ext cx="3470331" cy="2724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Wait a minute! What is this </a:t>
            </a:r>
            <a:r>
              <a:rPr dirty="0">
                <a:latin typeface="Courier"/>
              </a:rPr>
              <a:t>interface</a:t>
            </a:r>
            <a:r>
              <a:rPr dirty="0"/>
              <a:t> thing?!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/>
              <a:t>An interface is a contract that defines a set of methods that a class must implement.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dirty="0"/>
              <a:t>It specifies </a:t>
            </a:r>
            <a:r>
              <a:rPr dirty="0">
                <a:solidFill>
                  <a:srgbClr val="FF0000"/>
                </a:solidFill>
              </a:rPr>
              <a:t>what</a:t>
            </a:r>
            <a:r>
              <a:rPr dirty="0"/>
              <a:t> an object can do, but </a:t>
            </a:r>
            <a:r>
              <a:rPr dirty="0">
                <a:solidFill>
                  <a:srgbClr val="FF0000"/>
                </a:solidFill>
              </a:rPr>
              <a:t>not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how</a:t>
            </a:r>
            <a:r>
              <a:rPr dirty="0"/>
              <a:t> it does it.</a:t>
            </a:r>
            <a:endParaRPr lang="en-US" dirty="0"/>
          </a:p>
          <a:p>
            <a:pPr lvl="8" algn="just"/>
            <a:endParaRPr dirty="0"/>
          </a:p>
          <a:p>
            <a:pPr lvl="0" algn="just"/>
            <a:r>
              <a:rPr dirty="0"/>
              <a:t>Interfaces promote </a:t>
            </a:r>
            <a:r>
              <a:rPr dirty="0">
                <a:solidFill>
                  <a:srgbClr val="FF0000"/>
                </a:solidFill>
              </a:rPr>
              <a:t>loose coupling </a:t>
            </a:r>
            <a:r>
              <a:rPr dirty="0"/>
              <a:t>by allowing classes to interact based on shared behavior rather than concrete implementations.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Must be time to talk about Classes, Interfaces and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Classes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 class is a blueprint for creating objects.</a:t>
            </a:r>
          </a:p>
          <a:p>
            <a:pPr algn="just">
              <a:spcBef>
                <a:spcPts val="3000"/>
              </a:spcBef>
            </a:pPr>
            <a:r>
              <a:rPr b="1" dirty="0"/>
              <a:t>Interfaces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An interface is a contract that defines a set of methods that a class must implement.</a:t>
            </a:r>
          </a:p>
          <a:p>
            <a:pPr algn="just">
              <a:spcBef>
                <a:spcPts val="3000"/>
              </a:spcBef>
            </a:pPr>
            <a:r>
              <a:rPr b="1" dirty="0"/>
              <a:t>Abstract Classes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An abstract class is a class that cannot be instantiated on its own.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Must be time to talk about Classes, Interfaces and Abstract Classes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Classes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 class is a blueprint for creating objects.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It defines the properties (fields) and behaviors (methods) of objects.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Classes can be instantiated to create objects.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50EE4-F9B1-1F82-3FD7-2537067F2DD4}"/>
              </a:ext>
            </a:extLst>
          </p:cNvPr>
          <p:cNvSpPr txBox="1"/>
          <p:nvPr/>
        </p:nvSpPr>
        <p:spPr>
          <a:xfrm>
            <a:off x="1865377" y="3571393"/>
            <a:ext cx="498294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6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class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Car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r>
              <a:rPr lang="en-GB" sz="1600" i="1" dirty="0">
                <a:solidFill>
                  <a:srgbClr val="60A0B0"/>
                </a:solidFill>
                <a:latin typeface="Courier"/>
              </a:rPr>
              <a:t>// Properties (fields)</a:t>
            </a:r>
            <a:br>
              <a:rPr lang="en-GB" sz="1600" dirty="0"/>
            </a:br>
            <a:r>
              <a:rPr lang="en-GB" sz="16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 err="1">
                <a:latin typeface="Courier"/>
              </a:rPr>
              <a:t>color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;</a:t>
            </a:r>
            <a:r>
              <a:rPr lang="en-GB" sz="1600" dirty="0">
                <a:latin typeface="Courier"/>
              </a:rPr>
              <a:t> </a:t>
            </a: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int</a:t>
            </a:r>
            <a:r>
              <a:rPr lang="en-GB" sz="1600" dirty="0">
                <a:latin typeface="Courier"/>
              </a:rPr>
              <a:t> year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;</a:t>
            </a:r>
            <a:r>
              <a:rPr lang="en-GB" sz="1600" dirty="0">
                <a:latin typeface="Courier"/>
              </a:rPr>
              <a:t> </a:t>
            </a:r>
          </a:p>
          <a:p>
            <a:pPr lvl="0" indent="0">
              <a:buNone/>
            </a:pPr>
            <a:endParaRPr lang="en-GB" sz="1600" i="1" dirty="0">
              <a:solidFill>
                <a:srgbClr val="60A0B0"/>
              </a:solidFill>
              <a:latin typeface="Courier"/>
            </a:endParaRPr>
          </a:p>
          <a:p>
            <a:pPr lvl="0" indent="0">
              <a:buNone/>
            </a:pPr>
            <a:r>
              <a:rPr lang="en-GB" sz="1600" i="1" dirty="0">
                <a:solidFill>
                  <a:srgbClr val="60A0B0"/>
                </a:solidFill>
                <a:latin typeface="Courier"/>
              </a:rPr>
              <a:t>// Behaviour (methods)</a:t>
            </a: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”Car started"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);}</a:t>
            </a:r>
            <a:br>
              <a:rPr lang="en-GB" sz="1600" dirty="0"/>
            </a:br>
            <a:endParaRPr lang="en-GB" sz="1600" dirty="0"/>
          </a:p>
          <a:p>
            <a:pPr lvl="0" indent="0">
              <a:buNone/>
            </a:pP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stop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”Car stopped"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);}</a:t>
            </a:r>
            <a:br>
              <a:rPr lang="en-GB" sz="1600" dirty="0"/>
            </a:b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429D604-4CE7-6105-A1A3-788DD902F347}"/>
              </a:ext>
            </a:extLst>
          </p:cNvPr>
          <p:cNvSpPr txBox="1">
            <a:spLocks/>
          </p:cNvSpPr>
          <p:nvPr/>
        </p:nvSpPr>
        <p:spPr>
          <a:xfrm>
            <a:off x="7367954" y="4001293"/>
            <a:ext cx="3217986" cy="1854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GB" sz="1600" dirty="0">
                <a:latin typeface="Courier"/>
              </a:rPr>
              <a:t>Car </a:t>
            </a:r>
            <a:r>
              <a:rPr lang="en-GB" sz="1600" dirty="0" err="1">
                <a:latin typeface="Courier"/>
              </a:rPr>
              <a:t>myCar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Car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();</a:t>
            </a:r>
          </a:p>
          <a:p>
            <a:pPr indent="0">
              <a:buNone/>
            </a:pPr>
            <a:r>
              <a:rPr lang="en-GB" sz="1600" dirty="0" err="1">
                <a:latin typeface="Courier"/>
              </a:rPr>
              <a:t>myCar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color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 = “Red”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();</a:t>
            </a:r>
          </a:p>
          <a:p>
            <a:pPr indent="0">
              <a:buNone/>
            </a:pPr>
            <a:r>
              <a:rPr lang="en-GB" sz="1600" dirty="0" err="1">
                <a:latin typeface="Courier"/>
              </a:rPr>
              <a:t>myCar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year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 = 2026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;</a:t>
            </a:r>
          </a:p>
          <a:p>
            <a:pPr indent="0">
              <a:buNone/>
            </a:pPr>
            <a:r>
              <a:rPr lang="en-GB" sz="1600" dirty="0" err="1">
                <a:latin typeface="Courier"/>
              </a:rPr>
              <a:t>myCar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();</a:t>
            </a:r>
          </a:p>
          <a:p>
            <a:pPr indent="0">
              <a:buNone/>
            </a:pPr>
            <a:r>
              <a:rPr lang="en-GB" sz="1600" dirty="0" err="1">
                <a:latin typeface="Courier"/>
              </a:rPr>
              <a:t>myCar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stop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();</a:t>
            </a:r>
            <a:endParaRPr lang="en-GB" sz="1600" dirty="0">
              <a:solidFill>
                <a:srgbClr val="666666"/>
              </a:solidFill>
              <a:latin typeface="Courier"/>
            </a:endParaRPr>
          </a:p>
          <a:p>
            <a:pPr indent="0">
              <a:buNone/>
            </a:pPr>
            <a:endParaRPr lang="en-GB" sz="1600" dirty="0">
              <a:solidFill>
                <a:srgbClr val="666666"/>
              </a:solidFill>
              <a:latin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Must be time to talk about Classes, Interfaces and Abstract Classes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Interfaces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An interface is a </a:t>
            </a:r>
            <a:r>
              <a:rPr dirty="0">
                <a:solidFill>
                  <a:srgbClr val="FF0000"/>
                </a:solidFill>
              </a:rPr>
              <a:t>contract</a:t>
            </a:r>
            <a:r>
              <a:rPr dirty="0"/>
              <a:t> that defines a set of </a:t>
            </a:r>
            <a:r>
              <a:rPr dirty="0">
                <a:solidFill>
                  <a:srgbClr val="FF0000"/>
                </a:solidFill>
              </a:rPr>
              <a:t>methods</a:t>
            </a:r>
            <a:r>
              <a:rPr dirty="0"/>
              <a:t> that a class must </a:t>
            </a:r>
            <a:r>
              <a:rPr dirty="0">
                <a:solidFill>
                  <a:srgbClr val="FF0000"/>
                </a:solidFill>
              </a:rPr>
              <a:t>implement</a:t>
            </a:r>
            <a:r>
              <a:rPr dirty="0"/>
              <a:t>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It specifies what an object can do, but not how it does it.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Interfaces promote loose coupling by allowing classes to interact based on shared behavior rather than concrete implementations.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735DD-EB2D-4D69-19E8-C0E461353B83}"/>
              </a:ext>
            </a:extLst>
          </p:cNvPr>
          <p:cNvSpPr txBox="1"/>
          <p:nvPr/>
        </p:nvSpPr>
        <p:spPr>
          <a:xfrm>
            <a:off x="1665381" y="4545899"/>
            <a:ext cx="36034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6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interface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Animal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99E57-AEE1-9D43-38CE-0897791CE5ED}"/>
              </a:ext>
            </a:extLst>
          </p:cNvPr>
          <p:cNvSpPr txBox="1"/>
          <p:nvPr/>
        </p:nvSpPr>
        <p:spPr>
          <a:xfrm>
            <a:off x="5993774" y="4545899"/>
            <a:ext cx="4635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6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class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Dog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implements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Animal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br>
              <a:rPr lang="en-GB" sz="1600" dirty="0"/>
            </a:br>
            <a:r>
              <a:rPr lang="en-GB" sz="16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makeSound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(){</a:t>
            </a:r>
            <a:br>
              <a:rPr lang="en-GB" sz="1600" dirty="0"/>
            </a:br>
            <a:r>
              <a:rPr lang="en-GB" sz="1600" dirty="0">
                <a:latin typeface="Courier"/>
              </a:rPr>
              <a:t>        </a:t>
            </a: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”Woof!"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1600" dirty="0"/>
            </a:br>
            <a:r>
              <a:rPr lang="en-GB" sz="1600" dirty="0">
                <a:latin typeface="Courier"/>
              </a:rPr>
              <a:t>   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Must be time to talk about Classes, Interfaces and Abstract Classes</a:t>
            </a:r>
            <a:r>
              <a:rPr lang="en-US" dirty="0"/>
              <a:t> (</a:t>
            </a:r>
            <a:r>
              <a:rPr lang="en-US" dirty="0" err="1"/>
              <a:t>Cnt</a:t>
            </a:r>
            <a:r>
              <a:rPr lang="en-US" dirty="0"/>
              <a:t>.)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54545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3000"/>
              </a:spcBef>
            </a:pPr>
            <a:r>
              <a:rPr b="1" dirty="0"/>
              <a:t>Abstract Classes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An abstract class is a class that </a:t>
            </a:r>
            <a:r>
              <a:rPr dirty="0">
                <a:solidFill>
                  <a:srgbClr val="FF0000"/>
                </a:solidFill>
              </a:rPr>
              <a:t>cannot</a:t>
            </a:r>
            <a:r>
              <a:rPr dirty="0"/>
              <a:t> be </a:t>
            </a:r>
            <a:r>
              <a:rPr dirty="0">
                <a:solidFill>
                  <a:srgbClr val="FF0000"/>
                </a:solidFill>
              </a:rPr>
              <a:t>instantiated</a:t>
            </a:r>
            <a:r>
              <a:rPr dirty="0"/>
              <a:t> on its own.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It can contain abstract methods (methods without a body) that must be implemented by subclasses.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Abstract classes can provide a common base for related classes.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Abstract classes can also have concrete methods (since Java 8) - methods with a body.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14628-AA04-13DD-D66E-7B83059B618F}"/>
              </a:ext>
            </a:extLst>
          </p:cNvPr>
          <p:cNvSpPr txBox="1"/>
          <p:nvPr/>
        </p:nvSpPr>
        <p:spPr>
          <a:xfrm>
            <a:off x="1414071" y="4380170"/>
            <a:ext cx="46819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600" b="1" dirty="0">
                <a:solidFill>
                  <a:srgbClr val="007020"/>
                </a:solidFill>
                <a:latin typeface="Courier"/>
              </a:rPr>
              <a:t>abstract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class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Vehicle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endParaRPr lang="en-GB" sz="1600" i="1" dirty="0">
              <a:solidFill>
                <a:srgbClr val="60A0B0"/>
              </a:solidFill>
              <a:latin typeface="Courier"/>
            </a:endParaRPr>
          </a:p>
          <a:p>
            <a:pPr lvl="0" indent="0">
              <a:buNone/>
            </a:pP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move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r>
              <a:rPr lang="en-GB" sz="1600" i="1" dirty="0">
                <a:solidFill>
                  <a:srgbClr val="60A0B0"/>
                </a:solidFill>
                <a:latin typeface="Courier"/>
              </a:rPr>
              <a:t>//implemented </a:t>
            </a:r>
            <a:br>
              <a:rPr lang="en-GB" sz="1600" dirty="0"/>
            </a:b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”Vehicle moving"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);}</a:t>
            </a:r>
            <a:br>
              <a:rPr lang="en-GB" sz="1600" dirty="0"/>
            </a:br>
            <a:endParaRPr lang="en-GB" sz="1600" dirty="0"/>
          </a:p>
          <a:p>
            <a:pPr lvl="0" indent="0">
              <a:buNone/>
            </a:pPr>
            <a:r>
              <a:rPr lang="en-GB" sz="1600" dirty="0">
                <a:solidFill>
                  <a:srgbClr val="902000"/>
                </a:solidFill>
                <a:latin typeface="Courier"/>
              </a:rPr>
              <a:t>abstract 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(); </a:t>
            </a:r>
            <a:r>
              <a:rPr lang="en-GB" sz="1600" i="1" dirty="0">
                <a:solidFill>
                  <a:srgbClr val="60A0B0"/>
                </a:solidFill>
                <a:latin typeface="Courier"/>
              </a:rPr>
              <a:t>//must be implemented</a:t>
            </a:r>
            <a:br>
              <a:rPr lang="en-GB" sz="1600" dirty="0"/>
            </a:b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C8A60-D515-07C0-3D15-2DDC591821B6}"/>
              </a:ext>
            </a:extLst>
          </p:cNvPr>
          <p:cNvSpPr txBox="1"/>
          <p:nvPr/>
        </p:nvSpPr>
        <p:spPr>
          <a:xfrm>
            <a:off x="6194797" y="4057233"/>
            <a:ext cx="57348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6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1600" dirty="0">
                <a:latin typeface="Courier"/>
              </a:rPr>
              <a:t> 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class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Car</a:t>
            </a:r>
            <a:r>
              <a:rPr lang="en-GB" sz="1600" b="1" dirty="0">
                <a:solidFill>
                  <a:srgbClr val="007020"/>
                </a:solidFill>
                <a:latin typeface="Courier"/>
              </a:rPr>
              <a:t> extends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Vehicle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endParaRPr lang="en-GB" sz="1600" i="1" dirty="0">
              <a:solidFill>
                <a:srgbClr val="60A0B0"/>
              </a:solidFill>
              <a:latin typeface="Courier"/>
            </a:endParaRPr>
          </a:p>
          <a:p>
            <a:pPr lvl="0" indent="0">
              <a:buNone/>
            </a:pP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move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”Car drive on road"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);}</a:t>
            </a:r>
            <a:br>
              <a:rPr lang="en-GB" sz="1600" dirty="0"/>
            </a:b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br>
              <a:rPr lang="en-GB" sz="1600" dirty="0"/>
            </a:br>
            <a:r>
              <a:rPr lang="en-GB" sz="16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()</a:t>
            </a:r>
            <a:r>
              <a:rPr lang="en-GB" sz="1600" dirty="0">
                <a:latin typeface="Courier"/>
              </a:rPr>
              <a:t> 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1600" dirty="0"/>
            </a:br>
            <a:r>
              <a:rPr lang="en-GB" sz="16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16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16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1600" dirty="0">
                <a:solidFill>
                  <a:srgbClr val="4070A0"/>
                </a:solidFill>
                <a:latin typeface="Courier"/>
              </a:rPr>
              <a:t>”Car engine started"</a:t>
            </a:r>
            <a:r>
              <a:rPr lang="en-GB" sz="1600" dirty="0">
                <a:solidFill>
                  <a:srgbClr val="666666"/>
                </a:solidFill>
                <a:latin typeface="Courier"/>
              </a:rPr>
              <a:t>);}</a:t>
            </a:r>
            <a:endParaRPr lang="en-GB" sz="1600" dirty="0"/>
          </a:p>
          <a:p>
            <a:pPr lvl="0" indent="0">
              <a:buNone/>
            </a:pPr>
            <a:r>
              <a:rPr lang="en-GB" sz="16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When to Use Classes, Interfaces, and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b="1" dirty="0"/>
              <a:t>Classes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classes to define concrete objects with specific properties and behaviors.</a:t>
            </a:r>
          </a:p>
          <a:p>
            <a:pPr lvl="0" algn="just"/>
            <a:r>
              <a:rPr b="1" dirty="0"/>
              <a:t>Interfaces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interfaces to define common behavior that multiple classes can implement.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interfaces to promote loose coupling and flexibility in your design.</a:t>
            </a:r>
          </a:p>
          <a:p>
            <a:pPr lvl="0" algn="just"/>
            <a:r>
              <a:rPr b="1" dirty="0"/>
              <a:t>Abstract Classes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abstract classes to provide a common base for related classes.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abstract classes when you want to define some methods but leave others to be implemented by subclasses.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Use abstract classes when you want to prevent instantiation of the class itself.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To make a class abstract, use the </a:t>
            </a:r>
            <a:r>
              <a:rPr dirty="0">
                <a:latin typeface="Courier"/>
              </a:rPr>
              <a:t>abstract</a:t>
            </a:r>
            <a:r>
              <a:rPr dirty="0"/>
              <a:t> keyword in the class declaration.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Discussion - When to Use Classes, Interfaces, and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lvl="0" indent="-457200" algn="just">
              <a:buAutoNum type="arabicPeriod"/>
            </a:pPr>
            <a:r>
              <a:rPr dirty="0"/>
              <a:t>Can you think of a real-world example where you would use a class?</a:t>
            </a:r>
          </a:p>
          <a:p>
            <a:pPr marL="457200" lvl="0" indent="-457200" algn="just">
              <a:buAutoNum type="arabicPeriod"/>
            </a:pPr>
            <a:r>
              <a:rPr dirty="0"/>
              <a:t>Can you think of a real-world example where you would use an interface?</a:t>
            </a:r>
          </a:p>
          <a:p>
            <a:pPr marL="457200" lvl="0" indent="-457200" algn="just">
              <a:buAutoNum type="arabicPeriod"/>
            </a:pPr>
            <a:r>
              <a:rPr dirty="0"/>
              <a:t>Can you think of a real-world example where you would use an abstract class?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Have a minute to think about this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marL="0" lvl="0" indent="0" algn="just">
              <a:spcBef>
                <a:spcPts val="3000"/>
              </a:spcBef>
              <a:buNone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Message passing</a:t>
            </a:r>
            <a:r>
              <a:rPr dirty="0"/>
              <a:t> is a key concept in OOP where objects communicate by sending and receiving messages.</a:t>
            </a:r>
          </a:p>
          <a:p>
            <a:pPr lvl="0" algn="just"/>
            <a:r>
              <a:rPr b="1" dirty="0"/>
              <a:t>Benefits</a:t>
            </a:r>
            <a:r>
              <a:rPr dirty="0"/>
              <a:t> of message passing include modularity, abstraction, flexibility, and real-world modeling.</a:t>
            </a:r>
          </a:p>
          <a:p>
            <a:pPr lvl="0" algn="just"/>
            <a:r>
              <a:rPr b="1" dirty="0"/>
              <a:t>Limitations</a:t>
            </a:r>
            <a:r>
              <a:rPr dirty="0"/>
              <a:t> of literal message passing include performance overhead and complexity.</a:t>
            </a:r>
          </a:p>
          <a:p>
            <a:pPr lvl="0" algn="just"/>
            <a:r>
              <a:rPr b="1" dirty="0"/>
              <a:t>Thinking in terms of message passing</a:t>
            </a:r>
            <a:r>
              <a:rPr dirty="0"/>
              <a:t> encourages good design practices like encapsulation, separation of concerns, and polymorphism.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Classes</a:t>
            </a:r>
            <a:r>
              <a:rPr dirty="0"/>
              <a:t> define the properties and behaviors of objects.</a:t>
            </a:r>
          </a:p>
          <a:p>
            <a:pPr lvl="0" algn="just"/>
            <a:r>
              <a:rPr b="1" dirty="0"/>
              <a:t>Interfaces</a:t>
            </a:r>
            <a:r>
              <a:rPr dirty="0"/>
              <a:t> define a set of methods that a class must implement.</a:t>
            </a:r>
          </a:p>
          <a:p>
            <a:pPr lvl="0" algn="just"/>
            <a:r>
              <a:rPr b="1" dirty="0"/>
              <a:t>Abstract classes</a:t>
            </a:r>
            <a:r>
              <a:rPr dirty="0"/>
              <a:t> provide a common base for related classes and can contain abstract methods that must be implemented by subclasses.</a:t>
            </a:r>
          </a:p>
          <a:p>
            <a:pPr lvl="0" algn="just"/>
            <a:r>
              <a:rPr b="1" dirty="0"/>
              <a:t>Use classes, interfaces, and abstract classes</a:t>
            </a:r>
            <a:r>
              <a:rPr dirty="0"/>
              <a:t> based on the specific requirements of your design.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Lab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/>
              <a:t>The lab will focus on designing classes with message passing in mind.</a:t>
            </a:r>
          </a:p>
          <a:p>
            <a:pPr lvl="0" algn="just"/>
            <a:r>
              <a:rPr dirty="0"/>
              <a:t>You will create classes that interact through messages to perform specific actions.</a:t>
            </a:r>
          </a:p>
          <a:p>
            <a:pPr lvl="0" algn="just"/>
            <a:r>
              <a:rPr dirty="0"/>
              <a:t>You will use classes, interfaces, and abstract classes to model different behaviors and relationships.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20894</TotalTime>
  <Words>1907</Words>
  <Application>Microsoft Macintosh PowerPoint</Application>
  <PresentationFormat>Widescreen</PresentationFormat>
  <Paragraphs>225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Courier</vt:lpstr>
      <vt:lpstr>Courier New</vt:lpstr>
      <vt:lpstr>Wingdings</vt:lpstr>
      <vt:lpstr>Office Theme</vt:lpstr>
      <vt:lpstr>CS1OP Week 2</vt:lpstr>
      <vt:lpstr>Understanding Message Passing in OOP</vt:lpstr>
      <vt:lpstr>What is Message Passing?</vt:lpstr>
      <vt:lpstr>What is Message Passing? (Cnt.)</vt:lpstr>
      <vt:lpstr>What is Message Passing? (Cnt.)</vt:lpstr>
      <vt:lpstr>Why Message Passing?</vt:lpstr>
      <vt:lpstr>Why Message Passing? (Cnt.)</vt:lpstr>
      <vt:lpstr>Why Not Always Use Literal Message Passing?</vt:lpstr>
      <vt:lpstr>Why Not Always Use Literal Message Passing? (Cnt.)</vt:lpstr>
      <vt:lpstr>Why Not Always Use Literal Message Passing? (Cnt.)</vt:lpstr>
      <vt:lpstr>Why Thinking in Terms of Message Passing Encourages Good Design</vt:lpstr>
      <vt:lpstr>Why Thinking in Terms of Message Passing Encourages Good Design (Cnt.)</vt:lpstr>
      <vt:lpstr>Why Thinking in Terms of Message Passing Encourages Good Design (Cnt.)</vt:lpstr>
      <vt:lpstr>Example</vt:lpstr>
      <vt:lpstr>Example</vt:lpstr>
      <vt:lpstr>Example</vt:lpstr>
      <vt:lpstr>Discussion - How would we do this by literally passing messages?</vt:lpstr>
      <vt:lpstr>Software Engineering point to consider</vt:lpstr>
      <vt:lpstr>Loose Coupling vs Tight Coupling: Benefits and Drawbacks</vt:lpstr>
      <vt:lpstr>Loose Coupling vs Tight Coupling: Benefits and Drawbacks (Cnt.)</vt:lpstr>
      <vt:lpstr>UML Class Diagram: Loose Coupling Example</vt:lpstr>
      <vt:lpstr>Wait a minute! What is this interface thing?!</vt:lpstr>
      <vt:lpstr>Must be time to talk about Classes, Interfaces and Abstract Classes</vt:lpstr>
      <vt:lpstr>Must be time to talk about Classes, Interfaces and Abstract Classes (Cnt.)</vt:lpstr>
      <vt:lpstr>Must be time to talk about Classes, Interfaces and Abstract Classes (Cnt.)</vt:lpstr>
      <vt:lpstr>Must be time to talk about Classes, Interfaces and Abstract Classes (Cnt.)</vt:lpstr>
      <vt:lpstr>When to Use Classes, Interfaces, and Abstract Classes</vt:lpstr>
      <vt:lpstr>Discussion - When to Use Classes, Interfaces, and Abstract Classes</vt:lpstr>
      <vt:lpstr>Summary</vt:lpstr>
      <vt:lpstr>Summary part 2</vt:lpstr>
      <vt:lpstr>Lab Session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CS1OP Week 1</dc:title>
  <dc:creator>2024-12-31</dc:creator>
  <cp:keywords/>
  <cp:lastModifiedBy>Pooranian, Zahra Dr (Comp Sci &amp; Elec Eng)</cp:lastModifiedBy>
  <cp:revision>718</cp:revision>
  <dcterms:created xsi:type="dcterms:W3CDTF">2024-12-31T12:02:27Z</dcterms:created>
  <dcterms:modified xsi:type="dcterms:W3CDTF">2026-02-16T20:11:59Z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Author Pat Parslow</vt:lpwstr>
  </property>
</Properties>
</file>