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1" r:id="rId2"/>
    <p:sldId id="273" r:id="rId3"/>
    <p:sldId id="274" r:id="rId4"/>
    <p:sldId id="276" r:id="rId5"/>
    <p:sldId id="323" r:id="rId6"/>
    <p:sldId id="278" r:id="rId7"/>
    <p:sldId id="324" r:id="rId8"/>
    <p:sldId id="312" r:id="rId9"/>
    <p:sldId id="325" r:id="rId10"/>
    <p:sldId id="313" r:id="rId11"/>
    <p:sldId id="326" r:id="rId12"/>
    <p:sldId id="314" r:id="rId13"/>
    <p:sldId id="283" r:id="rId14"/>
    <p:sldId id="284" r:id="rId15"/>
    <p:sldId id="285" r:id="rId16"/>
    <p:sldId id="317" r:id="rId17"/>
    <p:sldId id="327" r:id="rId18"/>
    <p:sldId id="316" r:id="rId19"/>
    <p:sldId id="340" r:id="rId20"/>
    <p:sldId id="328" r:id="rId21"/>
    <p:sldId id="329" r:id="rId22"/>
    <p:sldId id="330" r:id="rId23"/>
    <p:sldId id="331" r:id="rId24"/>
    <p:sldId id="318" r:id="rId25"/>
    <p:sldId id="319" r:id="rId26"/>
    <p:sldId id="332" r:id="rId27"/>
    <p:sldId id="308" r:id="rId28"/>
    <p:sldId id="302" r:id="rId29"/>
    <p:sldId id="31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4A4A"/>
    <a:srgbClr val="8F8B90"/>
    <a:srgbClr val="A8A8B4"/>
    <a:srgbClr val="CBBDF1"/>
    <a:srgbClr val="ECECFF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9805" autoAdjust="0"/>
  </p:normalViewPr>
  <p:slideViewPr>
    <p:cSldViewPr snapToGrid="0">
      <p:cViewPr varScale="1">
        <p:scale>
          <a:sx n="115" d="100"/>
          <a:sy n="115" d="100"/>
        </p:scale>
        <p:origin x="12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A7F04-187F-464E-B459-861B67A00B5E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5BE37-8314-44C1-821F-0A097399A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47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12/05/2026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lang/package-summary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03249"/>
            <a:ext cx="10363200" cy="1362075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Week 9:  </a:t>
            </a:r>
            <a:br>
              <a:rPr lang="en-GB" noProof="0" dirty="0"/>
            </a:br>
            <a:r>
              <a:rPr lang="en-GB" noProof="0" dirty="0"/>
              <a:t>Exceptions and Exception Handling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75938-F492-69B7-A945-58368BBFD7C4}"/>
              </a:ext>
            </a:extLst>
          </p:cNvPr>
          <p:cNvSpPr txBox="1"/>
          <p:nvPr/>
        </p:nvSpPr>
        <p:spPr>
          <a:xfrm>
            <a:off x="914400" y="4169038"/>
            <a:ext cx="1090879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E2841">
                    <a:lumMod val="75000"/>
                    <a:lumOff val="25000"/>
                  </a:srgbClr>
                </a:solidFill>
                <a:latin typeface="Aptos" panose="02110004020202020204"/>
              </a:rPr>
              <a:t>Writing Reliable and Error-Resilient Code for 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Robust Java Applications</a:t>
            </a:r>
          </a:p>
          <a:p>
            <a:endParaRPr lang="en-GB" sz="2800" dirty="0">
              <a:solidFill>
                <a:srgbClr val="0E2841">
                  <a:lumMod val="75000"/>
                  <a:lumOff val="25000"/>
                </a:srgbClr>
              </a:solidFill>
              <a:latin typeface="Aptos" panose="02110004020202020204"/>
            </a:endParaRPr>
          </a:p>
          <a:p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8777"/>
            <a:ext cx="10710672" cy="3651631"/>
          </a:xfrm>
        </p:spPr>
        <p:txBody>
          <a:bodyPr>
            <a:normAutofit/>
          </a:bodyPr>
          <a:lstStyle/>
          <a:p>
            <a:r>
              <a:rPr lang="en-GB" sz="3200" noProof="0" dirty="0"/>
              <a:t>Understand what exceptions are and their purpose in Java.</a:t>
            </a:r>
            <a:endParaRPr lang="en-GB" sz="3200" dirty="0"/>
          </a:p>
          <a:p>
            <a:r>
              <a:rPr lang="en-GB" sz="3200" noProof="0" dirty="0"/>
              <a:t>Learn how to handle exceptions using </a:t>
            </a:r>
            <a:r>
              <a:rPr lang="en-GB" dirty="0">
                <a:latin typeface="Courier"/>
              </a:rPr>
              <a:t>try-catch</a:t>
            </a:r>
            <a:r>
              <a:rPr lang="en-GB" sz="3200" noProof="0" dirty="0"/>
              <a:t> blocks and </a:t>
            </a:r>
            <a:r>
              <a:rPr lang="en-GB" dirty="0">
                <a:latin typeface="Courier"/>
              </a:rPr>
              <a:t>finally</a:t>
            </a:r>
            <a:r>
              <a:rPr lang="en-GB" sz="3200" noProof="0" dirty="0"/>
              <a:t>.</a:t>
            </a:r>
            <a:endParaRPr lang="en-GB" sz="3200" dirty="0"/>
          </a:p>
          <a:p>
            <a:r>
              <a:rPr lang="en-GB" sz="3200" noProof="0" dirty="0"/>
              <a:t>Explore custom exceptions and best practices for exception handling.</a:t>
            </a:r>
            <a:endParaRPr lang="en-GB" sz="3200" dirty="0"/>
          </a:p>
          <a:p>
            <a:r>
              <a:rPr lang="en-GB" sz="3200" noProof="0" dirty="0"/>
              <a:t>Apply exception handling techniques to the Quiz Manager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512214"/>
            <a:ext cx="9860279" cy="715963"/>
          </a:xfrm>
        </p:spPr>
        <p:txBody>
          <a:bodyPr>
            <a:normAutofit/>
          </a:bodyPr>
          <a:lstStyle/>
          <a:p>
            <a:r>
              <a:rPr lang="en-GB" sz="4400" noProof="0" dirty="0"/>
              <a:t>Understanding Exceptions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23544" y="1585076"/>
            <a:ext cx="10168128" cy="4527857"/>
          </a:xfrm>
        </p:spPr>
        <p:txBody>
          <a:bodyPr>
            <a:normAutofit/>
          </a:bodyPr>
          <a:lstStyle/>
          <a:p>
            <a:pPr lvl="0"/>
            <a:r>
              <a:rPr lang="en-GB" sz="3200" b="1" noProof="0" dirty="0"/>
              <a:t>Definition</a:t>
            </a:r>
            <a:r>
              <a:rPr lang="en-GB" sz="3200" noProof="0" dirty="0"/>
              <a:t>: An exception is an event that disrupts the normal flow of a program.</a:t>
            </a:r>
          </a:p>
          <a:p>
            <a:pPr lvl="0"/>
            <a:r>
              <a:rPr lang="en-GB" b="1" dirty="0"/>
              <a:t>Purpose: </a:t>
            </a:r>
            <a:r>
              <a:rPr lang="en-GB" dirty="0"/>
              <a:t>To handle errors gracefully and prevent application crashes.</a:t>
            </a:r>
            <a:endParaRPr lang="en-GB" sz="3200" noProof="0" dirty="0"/>
          </a:p>
          <a:p>
            <a:pPr lvl="0"/>
            <a:r>
              <a:rPr lang="en-GB" sz="3200" b="1" noProof="0" dirty="0"/>
              <a:t>Examples</a:t>
            </a:r>
            <a:r>
              <a:rPr lang="en-GB" sz="3200" noProof="0" dirty="0"/>
              <a:t>:</a:t>
            </a:r>
          </a:p>
          <a:p>
            <a:pPr lvl="1"/>
            <a:r>
              <a:rPr lang="en-GB" sz="2800" noProof="0" dirty="0"/>
              <a:t>Dividing by zero.</a:t>
            </a:r>
          </a:p>
          <a:p>
            <a:pPr lvl="1"/>
            <a:r>
              <a:rPr lang="en-GB" sz="2800" noProof="0" dirty="0"/>
              <a:t>Accessing an invalid array index.</a:t>
            </a:r>
          </a:p>
          <a:p>
            <a:pPr lvl="1"/>
            <a:r>
              <a:rPr lang="en-GB" sz="2800" noProof="0" dirty="0"/>
              <a:t>File not found.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840" y="9599"/>
            <a:ext cx="11222734" cy="723647"/>
          </a:xfrm>
        </p:spPr>
        <p:txBody>
          <a:bodyPr>
            <a:noAutofit/>
          </a:bodyPr>
          <a:lstStyle/>
          <a:p>
            <a:r>
              <a:rPr lang="en-GB" sz="4400" noProof="0" dirty="0"/>
              <a:t>Throwable Class Hierarchy (</a:t>
            </a:r>
            <a:r>
              <a:rPr lang="en-GB" sz="4400" noProof="0" dirty="0" err="1"/>
              <a:t>java.lang</a:t>
            </a:r>
            <a:r>
              <a:rPr lang="en-GB" sz="4400" noProof="0" dirty="0"/>
              <a:t>)</a:t>
            </a:r>
            <a:endParaRPr lang="en-GB" sz="4000" noProof="0" dirty="0"/>
          </a:p>
        </p:txBody>
      </p:sp>
      <p:pic>
        <p:nvPicPr>
          <p:cNvPr id="1026" name="Picture 2" descr="Java exceptions hierarchy example">
            <a:extLst>
              <a:ext uri="{FF2B5EF4-FFF2-40B4-BE49-F238E27FC236}">
                <a16:creationId xmlns:a16="http://schemas.microsoft.com/office/drawing/2014/main" id="{D631D62A-355A-A361-1CB8-6C441CBB1C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8" b="2530"/>
          <a:stretch/>
        </p:blipFill>
        <p:spPr bwMode="auto">
          <a:xfrm>
            <a:off x="94624" y="733246"/>
            <a:ext cx="7105229" cy="596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D9A822-CFFC-72F4-13E8-F8A685DD6249}"/>
              </a:ext>
            </a:extLst>
          </p:cNvPr>
          <p:cNvSpPr txBox="1"/>
          <p:nvPr/>
        </p:nvSpPr>
        <p:spPr>
          <a:xfrm>
            <a:off x="7431160" y="1262014"/>
            <a:ext cx="4760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Error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Severe issues (e.g.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OutOfMemoryError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 Recoverable problems (e.g.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FileNotFoundException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323A2-F148-F58F-5475-F33889C9B898}"/>
              </a:ext>
            </a:extLst>
          </p:cNvPr>
          <p:cNvSpPr txBox="1"/>
          <p:nvPr/>
        </p:nvSpPr>
        <p:spPr>
          <a:xfrm>
            <a:off x="6951044" y="6581001"/>
            <a:ext cx="60976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hlinkClick r:id="rId3"/>
              </a:rPr>
              <a:t>https://docs.oracle.com/javase/8/docs/api/java/lang/package-summary.html</a:t>
            </a:r>
            <a:r>
              <a:rPr lang="en-GB" sz="1200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7321" y="254761"/>
            <a:ext cx="11222734" cy="1162051"/>
          </a:xfrm>
        </p:spPr>
        <p:txBody>
          <a:bodyPr>
            <a:noAutofit/>
          </a:bodyPr>
          <a:lstStyle/>
          <a:p>
            <a:r>
              <a:rPr lang="en-GB" sz="4400" noProof="0" dirty="0"/>
              <a:t>Types of Exceptions: Checked</a:t>
            </a:r>
            <a:r>
              <a:rPr lang="en-GB" sz="4000" noProof="0" dirty="0"/>
              <a:t> vs </a:t>
            </a:r>
            <a:r>
              <a:rPr lang="en-GB" sz="4400" noProof="0" dirty="0"/>
              <a:t>Unchecked</a:t>
            </a:r>
            <a:endParaRPr lang="en-GB" sz="4000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5C1531-3AD8-87AC-4E86-75DF1AB0A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788706"/>
              </p:ext>
            </p:extLst>
          </p:nvPr>
        </p:nvGraphicFramePr>
        <p:xfrm>
          <a:off x="1006127" y="2056765"/>
          <a:ext cx="10842973" cy="3463290"/>
        </p:xfrm>
        <a:graphic>
          <a:graphicData uri="http://schemas.openxmlformats.org/drawingml/2006/table">
            <a:tbl>
              <a:tblPr/>
              <a:tblGrid>
                <a:gridCol w="5254973">
                  <a:extLst>
                    <a:ext uri="{9D8B030D-6E8A-4147-A177-3AD203B41FA5}">
                      <a16:colId xmlns:a16="http://schemas.microsoft.com/office/drawing/2014/main" val="1332222611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504549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2800" b="1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Checked Exceptions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800" b="1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Unchecked Exceptions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822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Subclass of </a:t>
                      </a: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Exception</a:t>
                      </a: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Subclass of </a:t>
                      </a:r>
                      <a:r>
                        <a:rPr lang="en-GB" sz="2400" kern="120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RuntimeException</a:t>
                      </a: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614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Checked at compile time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Occur at runtime, not at </a:t>
                      </a:r>
                      <a:r>
                        <a:rPr lang="en-GB" sz="2400" kern="1200" noProof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compile time</a:t>
                      </a:r>
                      <a:endParaRPr lang="en-GB" sz="2400" kern="120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676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Must be handled with try-catch or declared with throws.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Can be ignored, but may cause runtime errors.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58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Examples: </a:t>
                      </a:r>
                    </a:p>
                    <a:p>
                      <a:r>
                        <a:rPr lang="en-GB" sz="2400" kern="120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IOException</a:t>
                      </a: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2400" kern="120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java.lang</a:t>
                      </a: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) </a:t>
                      </a:r>
                      <a:r>
                        <a:rPr lang="en-GB" sz="2400" kern="120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SQLException</a:t>
                      </a: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 (</a:t>
                      </a:r>
                      <a:r>
                        <a:rPr lang="en-GB" sz="2400" kern="120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java.sql</a:t>
                      </a: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)</a:t>
                      </a:r>
                      <a:endParaRPr lang="en-GB" sz="2400" kern="120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Examples: </a:t>
                      </a:r>
                    </a:p>
                    <a:p>
                      <a:r>
                        <a:rPr lang="en-GB" sz="2400" kern="120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NullPointerException</a:t>
                      </a:r>
                      <a:r>
                        <a:rPr lang="en-GB" sz="2400" kern="1200" noProof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2400" kern="1200" noProof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ourier"/>
                          <a:ea typeface="+mn-ea"/>
                          <a:cs typeface="+mn-cs"/>
                        </a:rPr>
                        <a:t>ArithmeticException</a:t>
                      </a:r>
                      <a:endParaRPr lang="en-GB" sz="2400" kern="1200" noProof="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25916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6413498" cy="1162051"/>
          </a:xfrm>
        </p:spPr>
        <p:txBody>
          <a:bodyPr>
            <a:normAutofit/>
          </a:bodyPr>
          <a:lstStyle/>
          <a:p>
            <a:r>
              <a:rPr lang="en-GB" sz="4400" noProof="0" dirty="0"/>
              <a:t>Basic Exception Handling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C493DD-FD1A-C767-18F4-F05EF7800669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039100" y="127000"/>
            <a:ext cx="3200365" cy="659534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18DF11-B98D-251C-1F52-145B64676560}"/>
              </a:ext>
            </a:extLst>
          </p:cNvPr>
          <p:cNvSpPr txBox="1"/>
          <p:nvPr/>
        </p:nvSpPr>
        <p:spPr>
          <a:xfrm>
            <a:off x="736600" y="1722231"/>
            <a:ext cx="6807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How to Catch Exceptions: The try-catch Block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try-catch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block handles exceptions gracefully.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Syntax: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126A4F-F601-E567-06A2-634B0EDD501D}"/>
              </a:ext>
            </a:extLst>
          </p:cNvPr>
          <p:cNvSpPr txBox="1"/>
          <p:nvPr/>
        </p:nvSpPr>
        <p:spPr>
          <a:xfrm>
            <a:off x="1600200" y="3566110"/>
            <a:ext cx="54229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try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   // Code that might throw an exception</a:t>
            </a:r>
          </a:p>
          <a:p>
            <a:pPr indent="0">
              <a:buFontTx/>
              <a:buNone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 catch (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ExceptionType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e)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   // Handle the exception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9936-A529-5998-11BE-8944CBD1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7671-21F4-243A-3590-868AB3D4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273049"/>
            <a:ext cx="8940798" cy="1162051"/>
          </a:xfrm>
        </p:spPr>
        <p:txBody>
          <a:bodyPr>
            <a:normAutofit/>
          </a:bodyPr>
          <a:lstStyle/>
          <a:p>
            <a:r>
              <a:rPr lang="en-GB" sz="4400" noProof="0" dirty="0"/>
              <a:t>Practical Exception Example 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AF7B397-97D2-18A9-831E-4AE76033D693}"/>
              </a:ext>
            </a:extLst>
          </p:cNvPr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87895-A055-2E3E-FEE2-1B144998FDB5}"/>
              </a:ext>
            </a:extLst>
          </p:cNvPr>
          <p:cNvSpPr txBox="1"/>
          <p:nvPr/>
        </p:nvSpPr>
        <p:spPr>
          <a:xfrm>
            <a:off x="723900" y="1963531"/>
            <a:ext cx="6807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Example: </a:t>
            </a:r>
          </a:p>
          <a:p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Handling a Division by Zero Exception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61DC16-E35E-8A83-9719-593E6B6B2C25}"/>
              </a:ext>
            </a:extLst>
          </p:cNvPr>
          <p:cNvSpPr txBox="1"/>
          <p:nvPr/>
        </p:nvSpPr>
        <p:spPr>
          <a:xfrm>
            <a:off x="1168400" y="3197810"/>
            <a:ext cx="9182100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try {</a:t>
            </a:r>
            <a:b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int result = 10 / 0;</a:t>
            </a:r>
            <a:b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 catch (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ArithmeticException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e) {</a:t>
            </a:r>
            <a:b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System.out.println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("Cannot divide by zero!");</a:t>
            </a:r>
            <a:b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2776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C63B-9690-4C4C-07D3-BEC73212C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91C3-0475-1C64-B2D1-80A17EE56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4984"/>
            <a:ext cx="10515600" cy="4844416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GB" b="1" noProof="0" dirty="0"/>
              <a:t>The Finally Block</a:t>
            </a:r>
          </a:p>
          <a:p>
            <a:r>
              <a:rPr lang="en-GB" b="1" noProof="0" dirty="0"/>
              <a:t>Purpose:</a:t>
            </a:r>
            <a:r>
              <a:rPr lang="en-GB" noProof="0" dirty="0"/>
              <a:t> Executes code that must run regardless of whether an exception occurs.</a:t>
            </a:r>
          </a:p>
          <a:p>
            <a:r>
              <a:rPr lang="en-GB" b="1" noProof="0" dirty="0"/>
              <a:t>Syntax:</a:t>
            </a:r>
          </a:p>
          <a:p>
            <a:endParaRPr lang="en-GB" b="1" noProof="0" dirty="0"/>
          </a:p>
          <a:p>
            <a:pPr marL="0" indent="0">
              <a:buNone/>
            </a:pPr>
            <a:endParaRPr lang="en-GB" b="1" noProof="0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noProof="0" dirty="0"/>
          </a:p>
          <a:p>
            <a:endParaRPr lang="en-GB" b="1" noProof="0" dirty="0"/>
          </a:p>
          <a:p>
            <a:endParaRPr lang="en-GB" b="1" noProof="0" dirty="0"/>
          </a:p>
          <a:p>
            <a:r>
              <a:rPr lang="en-GB" b="1" noProof="0" dirty="0"/>
              <a:t>Example: </a:t>
            </a:r>
            <a:r>
              <a:rPr lang="en-GB" noProof="0" dirty="0"/>
              <a:t>Closing a file or database connection.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2BD2D-2D17-54CF-85A1-92373A396556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1137391" cy="94128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noProof="0" dirty="0"/>
              <a:t>Using Finally Blocks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BEC11-FE06-B6FC-6DF7-C0BDA2A4E9FC}"/>
              </a:ext>
            </a:extLst>
          </p:cNvPr>
          <p:cNvSpPr txBox="1"/>
          <p:nvPr/>
        </p:nvSpPr>
        <p:spPr>
          <a:xfrm>
            <a:off x="2628900" y="3155145"/>
            <a:ext cx="5422900" cy="26776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try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   // Code that might throw an exception</a:t>
            </a:r>
          </a:p>
          <a:p>
            <a:pPr indent="0">
              <a:buFontTx/>
              <a:buNone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 catch (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ExceptionType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e)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   // Handle the exception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 finally {</a:t>
            </a:r>
          </a:p>
          <a:p>
            <a:pPr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    // Code that always run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5298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F61C-06B8-65AD-A2CF-DDD452A2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02CF8-6791-0FCC-0BA8-2C513176742D}"/>
              </a:ext>
            </a:extLst>
          </p:cNvPr>
          <p:cNvSpPr txBox="1">
            <a:spLocks/>
          </p:cNvSpPr>
          <p:nvPr/>
        </p:nvSpPr>
        <p:spPr>
          <a:xfrm>
            <a:off x="850900" y="495900"/>
            <a:ext cx="11137391" cy="94128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noProof="0" dirty="0"/>
              <a:t>Understanding Finally Blocks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83FDE-2906-848D-65BB-DD2499104F3C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14550" y="1469472"/>
            <a:ext cx="7962900" cy="489262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29719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2E2E5-0929-8DBE-7F4E-38451BBA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F376F-A4F2-E4A3-DC2F-C20FC68A8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785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b="1" noProof="0" dirty="0"/>
              <a:t>Throwing Exceptions</a:t>
            </a:r>
          </a:p>
          <a:p>
            <a:pPr marL="0" lvl="0" indent="0">
              <a:buNone/>
            </a:pPr>
            <a:r>
              <a:rPr lang="en-GB" noProof="0" dirty="0"/>
              <a:t>Use the throw keyword to explicitly throw an exception.</a:t>
            </a:r>
            <a:br>
              <a:rPr lang="en-GB" noProof="0" dirty="0"/>
            </a:br>
            <a:endParaRPr lang="en-GB" noProof="0" dirty="0"/>
          </a:p>
          <a:p>
            <a:pPr marL="0" lvl="0" indent="0">
              <a:buNone/>
            </a:pPr>
            <a:r>
              <a:rPr lang="en-GB" b="1" noProof="0" dirty="0"/>
              <a:t>Example:</a:t>
            </a:r>
          </a:p>
          <a:p>
            <a:pPr lvl="0"/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AF6F4-4147-2277-64A0-EE24F03CE74F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1137391" cy="94128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noProof="0" dirty="0"/>
              <a:t>Throwing Exceptions Manually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BEC2B-7BD8-8E4C-BD2B-C2B2BEE11F68}"/>
              </a:ext>
            </a:extLst>
          </p:cNvPr>
          <p:cNvSpPr txBox="1"/>
          <p:nvPr/>
        </p:nvSpPr>
        <p:spPr>
          <a:xfrm>
            <a:off x="1098550" y="4048710"/>
            <a:ext cx="950595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if (value &lt; 0) {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   throw new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IllegalArgumentException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("Value cannot be negative!");  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6067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1723-249C-B33B-64A9-190990A9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9B616-3989-2813-9FB9-A1214A79D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785"/>
            <a:ext cx="10515600" cy="43513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b="1" noProof="0" dirty="0"/>
              <a:t>Using Throws in Method Signatures</a:t>
            </a:r>
          </a:p>
          <a:p>
            <a:pPr marL="0" lvl="0" indent="0">
              <a:buNone/>
            </a:pPr>
            <a:r>
              <a:rPr lang="en-GB" noProof="0" dirty="0"/>
              <a:t>Declare exceptions that a method might throw using the </a:t>
            </a:r>
            <a:r>
              <a:rPr lang="en-GB" dirty="0">
                <a:latin typeface="Courier"/>
              </a:rPr>
              <a:t>throws</a:t>
            </a:r>
            <a:r>
              <a:rPr lang="en-GB" noProof="0" dirty="0"/>
              <a:t> keyword.</a:t>
            </a:r>
          </a:p>
          <a:p>
            <a:pPr marL="0" lvl="0" indent="0">
              <a:buNone/>
            </a:pPr>
            <a:endParaRPr lang="en-GB" b="1" dirty="0"/>
          </a:p>
          <a:p>
            <a:pPr marL="0" lvl="0" indent="0">
              <a:buNone/>
            </a:pPr>
            <a:r>
              <a:rPr lang="en-GB" b="1" noProof="0" dirty="0"/>
              <a:t>Example:</a:t>
            </a:r>
          </a:p>
          <a:p>
            <a:pPr lvl="0"/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FB1F7-EF52-0025-C07E-732BB64513B1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1137391" cy="94128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noProof="0" dirty="0"/>
              <a:t>Method Exception Declarations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56D2B5-ECB2-A991-9510-13AAE2B797BB}"/>
              </a:ext>
            </a:extLst>
          </p:cNvPr>
          <p:cNvSpPr txBox="1"/>
          <p:nvPr/>
        </p:nvSpPr>
        <p:spPr>
          <a:xfrm>
            <a:off x="939800" y="4378910"/>
            <a:ext cx="105156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public void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readFile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(String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fileName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) throws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IOException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{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    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// Code to read a file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840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8A58B-BD7C-8298-EB95-50617801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3DEF-D5B7-30E5-6373-C56F02D47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785"/>
            <a:ext cx="10515600" cy="4351338"/>
          </a:xfrm>
        </p:spPr>
        <p:txBody>
          <a:bodyPr/>
          <a:lstStyle/>
          <a:p>
            <a:pPr marL="0" lvl="0" indent="0">
              <a:buNone/>
            </a:pPr>
            <a:r>
              <a:rPr lang="en-GB" b="1" noProof="0" dirty="0"/>
              <a:t>Creating Custom Exceptions</a:t>
            </a:r>
            <a:br>
              <a:rPr lang="en-GB" b="1" noProof="0" dirty="0"/>
            </a:br>
            <a:r>
              <a:rPr lang="en-GB" noProof="0" dirty="0"/>
              <a:t>Define your own exception classes by extending </a:t>
            </a:r>
            <a:r>
              <a:rPr lang="en-GB" dirty="0">
                <a:latin typeface="Courier"/>
              </a:rPr>
              <a:t>Exception</a:t>
            </a:r>
            <a:r>
              <a:rPr lang="en-GB" noProof="0" dirty="0"/>
              <a:t> or </a:t>
            </a:r>
            <a:r>
              <a:rPr lang="en-GB" dirty="0" err="1">
                <a:latin typeface="Courier"/>
              </a:rPr>
              <a:t>RuntimeException</a:t>
            </a:r>
            <a:r>
              <a:rPr lang="en-GB" noProof="0" dirty="0"/>
              <a:t>.</a:t>
            </a:r>
          </a:p>
          <a:p>
            <a:pPr marL="0" lvl="0" indent="0">
              <a:buNone/>
            </a:pPr>
            <a:br>
              <a:rPr lang="en-GB" noProof="0" dirty="0"/>
            </a:br>
            <a:r>
              <a:rPr lang="en-GB" b="1" noProof="0" dirty="0"/>
              <a:t>Example:</a:t>
            </a:r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63119-609D-34FD-DD7C-C630528283DA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1137391" cy="94128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4400" noProof="0" dirty="0"/>
              <a:t>Creating Custom Exceptions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A4D1C-A453-8D03-B4B2-716BD51DA7E2}"/>
              </a:ext>
            </a:extLst>
          </p:cNvPr>
          <p:cNvSpPr txBox="1"/>
          <p:nvPr/>
        </p:nvSpPr>
        <p:spPr>
          <a:xfrm>
            <a:off x="1109472" y="4085229"/>
            <a:ext cx="9866376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public class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InvalidQuizException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extends Exception {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    public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InvalidQuizException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(String message) {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        super(message);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    }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9516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 of Custom Exception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AD0B19-8E92-6813-48A4-69BB24C99CDC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13114" y="1398588"/>
            <a:ext cx="9358312" cy="48886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Exception Handling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noProof="0" dirty="0"/>
              <a:t>Best Practices for Exception Handling</a:t>
            </a:r>
          </a:p>
          <a:p>
            <a:pPr marL="514350" indent="-514350">
              <a:buAutoNum type="arabicPeriod"/>
            </a:pPr>
            <a:r>
              <a:rPr lang="en-GB" sz="3200" noProof="0" dirty="0"/>
              <a:t>Handle exceptions at the appropriate level.</a:t>
            </a:r>
          </a:p>
          <a:p>
            <a:pPr marL="514350" indent="-514350">
              <a:buAutoNum type="arabicPeriod"/>
            </a:pPr>
            <a:r>
              <a:rPr lang="en-GB" sz="3200" noProof="0" dirty="0"/>
              <a:t>Avoid catching generic Exception unless necessary.</a:t>
            </a:r>
          </a:p>
          <a:p>
            <a:pPr marL="514350" indent="-514350">
              <a:buAutoNum type="arabicPeriod"/>
            </a:pPr>
            <a:r>
              <a:rPr lang="en-GB" sz="3200" noProof="0" dirty="0"/>
              <a:t>Use meaningful exception messages.</a:t>
            </a:r>
          </a:p>
          <a:p>
            <a:pPr marL="514350" indent="-514350">
              <a:buAutoNum type="arabicPeriod"/>
            </a:pPr>
            <a:r>
              <a:rPr lang="en-GB" sz="3200" noProof="0" dirty="0"/>
              <a:t>Log exceptions for debugging.</a:t>
            </a:r>
          </a:p>
          <a:p>
            <a:pPr marL="514350" indent="-514350">
              <a:buAutoNum type="arabicPeriod"/>
            </a:pPr>
            <a:r>
              <a:rPr lang="en-GB" sz="3200" noProof="0" dirty="0"/>
              <a:t>Avoid overusing exceptions for normal control flow.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Discussion Break: Exception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224" y="1716532"/>
            <a:ext cx="9832848" cy="4776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b="1" noProof="0" dirty="0"/>
              <a:t>Prompt</a:t>
            </a:r>
            <a:r>
              <a:rPr lang="en-GB" sz="2600" noProof="0" dirty="0"/>
              <a:t>:</a:t>
            </a:r>
          </a:p>
          <a:p>
            <a:r>
              <a:rPr lang="en-GB" sz="2600" noProof="0" dirty="0"/>
              <a:t>How do exceptions improve software reliability?</a:t>
            </a:r>
          </a:p>
          <a:p>
            <a:r>
              <a:rPr lang="en-GB" sz="2600" noProof="0" dirty="0"/>
              <a:t>What challenges might arise when handling exceptions in large applications?</a:t>
            </a:r>
          </a:p>
          <a:p>
            <a:endParaRPr lang="en-GB" sz="2600" b="1" noProof="0" dirty="0"/>
          </a:p>
          <a:p>
            <a:pPr marL="0" indent="0">
              <a:buNone/>
            </a:pPr>
            <a:r>
              <a:rPr lang="en-GB" sz="2600" b="1" noProof="0" dirty="0"/>
              <a:t>Have a minute to think about this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sz="2600" b="1" noProof="0" dirty="0"/>
              <a:t>Discuss with your neighbour for 5 minutes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sz="2600" b="1" noProof="0" dirty="0"/>
              <a:t>Then I will ask for ideas from the class</a:t>
            </a:r>
          </a:p>
          <a:p>
            <a:pPr marL="0" indent="0">
              <a:buNone/>
            </a:pPr>
            <a:endParaRPr lang="en-GB" sz="26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E0D0-0D30-9295-4033-6921D3C4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A10D-BE54-0096-3DE0-EB0D8A1B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Quiz Manager Exception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7C9D-530D-C680-EE67-041996D6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211" y="1811814"/>
            <a:ext cx="10798005" cy="4776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noProof="0" dirty="0"/>
              <a:t>Case Study: </a:t>
            </a:r>
            <a:r>
              <a:rPr lang="en-GB" noProof="0" dirty="0"/>
              <a:t> Applying Exception Handling to the Quiz Manager</a:t>
            </a:r>
          </a:p>
          <a:p>
            <a:pPr marL="0" indent="0">
              <a:buNone/>
            </a:pPr>
            <a:br>
              <a:rPr lang="en-GB" noProof="0" dirty="0"/>
            </a:br>
            <a:r>
              <a:rPr lang="en-GB" b="1" noProof="0" dirty="0"/>
              <a:t>Scenario:</a:t>
            </a:r>
          </a:p>
          <a:p>
            <a:r>
              <a:rPr lang="en-GB" noProof="0" dirty="0"/>
              <a:t>Handle invalid user input (e.g., entering a non-numeric value for a quiz answer). </a:t>
            </a:r>
          </a:p>
          <a:p>
            <a:r>
              <a:rPr lang="en-GB" noProof="0" dirty="0"/>
              <a:t>Handle file-related errors (e.g., missing quiz files, non-valid data).</a:t>
            </a:r>
            <a:endParaRPr lang="en-GB" sz="2400" noProof="0" dirty="0"/>
          </a:p>
          <a:p>
            <a:pPr marL="0" indent="0">
              <a:buNone/>
            </a:pPr>
            <a:endParaRPr lang="en-GB" sz="26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6CD4E-40C9-A110-A715-53F88B947CC8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34212" y="4775201"/>
            <a:ext cx="10323576" cy="148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879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99CA0-8596-B178-3378-2B10AD3B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A0FA-47BB-7066-D603-8C9EB6A15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365125"/>
            <a:ext cx="10765536" cy="1325563"/>
          </a:xfrm>
        </p:spPr>
        <p:txBody>
          <a:bodyPr>
            <a:normAutofit/>
          </a:bodyPr>
          <a:lstStyle/>
          <a:p>
            <a:r>
              <a:rPr lang="en-GB" sz="4000" noProof="0" dirty="0"/>
              <a:t>Handling Invalid Quiz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EDEC2-78B1-76DF-12DE-1041C6710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24" y="1963707"/>
            <a:ext cx="9414572" cy="360335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GB" sz="2400" dirty="0">
                <a:latin typeface="Courier"/>
              </a:rPr>
              <a:t>Scanner </a:t>
            </a:r>
            <a:r>
              <a:rPr lang="en-GB" sz="2400" dirty="0" err="1">
                <a:latin typeface="Courier"/>
              </a:rPr>
              <a:t>scanner</a:t>
            </a:r>
            <a:r>
              <a:rPr lang="en-GB" sz="2400" dirty="0">
                <a:latin typeface="Courier"/>
              </a:rPr>
              <a:t> = new Scanner(System.in);</a:t>
            </a:r>
            <a:br>
              <a:rPr lang="en-GB" sz="2400" dirty="0">
                <a:latin typeface="Courier"/>
              </a:rPr>
            </a:br>
            <a:endParaRPr lang="en-GB" sz="2400" dirty="0">
              <a:latin typeface="Courier"/>
            </a:endParaRPr>
          </a:p>
          <a:p>
            <a:pPr marL="0" lvl="0" indent="0">
              <a:buNone/>
            </a:pPr>
            <a:r>
              <a:rPr lang="en-GB" sz="2400" dirty="0" err="1">
                <a:latin typeface="Courier"/>
              </a:rPr>
              <a:t>System.out.print</a:t>
            </a:r>
            <a:r>
              <a:rPr lang="en-GB" sz="2400" dirty="0">
                <a:latin typeface="Courier"/>
              </a:rPr>
              <a:t>("Enter your answer: ");</a:t>
            </a:r>
            <a:br>
              <a:rPr lang="en-GB" sz="2400" dirty="0">
                <a:latin typeface="Courier"/>
              </a:rPr>
            </a:br>
            <a:endParaRPr lang="en-GB" sz="2400" dirty="0">
              <a:latin typeface="Courier"/>
            </a:endParaRPr>
          </a:p>
          <a:p>
            <a:pPr marL="0" lvl="0" indent="0">
              <a:buNone/>
            </a:pPr>
            <a:r>
              <a:rPr lang="en-GB" sz="2400" dirty="0">
                <a:solidFill>
                  <a:srgbClr val="FF0000"/>
                </a:solidFill>
                <a:latin typeface="Courier"/>
              </a:rPr>
              <a:t>int answer = </a:t>
            </a:r>
            <a:r>
              <a:rPr lang="en-GB" sz="2400" dirty="0" err="1">
                <a:solidFill>
                  <a:srgbClr val="FF0000"/>
                </a:solidFill>
                <a:highlight>
                  <a:srgbClr val="FFFF00"/>
                </a:highlight>
                <a:latin typeface="Courier"/>
              </a:rPr>
              <a:t>Integer.parseInt</a:t>
            </a:r>
            <a:r>
              <a:rPr lang="en-GB" sz="2400" dirty="0">
                <a:solidFill>
                  <a:srgbClr val="FF0000"/>
                </a:solidFill>
                <a:latin typeface="Courier"/>
              </a:rPr>
              <a:t>(</a:t>
            </a:r>
            <a:r>
              <a:rPr lang="en-GB" sz="2400" dirty="0" err="1">
                <a:solidFill>
                  <a:srgbClr val="FF0000"/>
                </a:solidFill>
                <a:latin typeface="Courier"/>
              </a:rPr>
              <a:t>scanner.nextLine</a:t>
            </a:r>
            <a:r>
              <a:rPr lang="en-GB" sz="2400" dirty="0">
                <a:solidFill>
                  <a:srgbClr val="FF0000"/>
                </a:solidFill>
                <a:latin typeface="Courier"/>
              </a:rPr>
              <a:t>());</a:t>
            </a:r>
            <a:br>
              <a:rPr lang="en-GB" sz="2400" dirty="0">
                <a:latin typeface="Courier"/>
              </a:rPr>
            </a:br>
            <a:endParaRPr lang="en-GB" sz="2400" dirty="0">
              <a:latin typeface="Courier"/>
            </a:endParaRPr>
          </a:p>
          <a:p>
            <a:pPr marL="0" lvl="0" indent="0">
              <a:buNone/>
            </a:pPr>
            <a:r>
              <a:rPr lang="en-GB" sz="2400" dirty="0" err="1">
                <a:latin typeface="Courier"/>
              </a:rPr>
              <a:t>System.out.println</a:t>
            </a:r>
            <a:r>
              <a:rPr lang="en-GB" sz="2400" dirty="0">
                <a:latin typeface="Courier"/>
              </a:rPr>
              <a:t>("You entered: " + answer);</a:t>
            </a:r>
            <a:br>
              <a:rPr lang="en-GB" sz="2400" dirty="0">
                <a:latin typeface="Courier"/>
              </a:rPr>
            </a:b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751189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7BD26-5B5E-647E-0431-08B458BCB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C803F-F868-64C0-3C7A-B7A576E0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365125"/>
            <a:ext cx="10765536" cy="1325563"/>
          </a:xfrm>
        </p:spPr>
        <p:txBody>
          <a:bodyPr>
            <a:normAutofit/>
          </a:bodyPr>
          <a:lstStyle/>
          <a:p>
            <a:r>
              <a:rPr lang="en-GB" sz="4000" noProof="0" dirty="0"/>
              <a:t>Handling Invalid Quiz Input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30DB6B-93B1-E598-C6CD-F47A0A885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67" y="1424029"/>
            <a:ext cx="9098445" cy="480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52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8B2BA-302F-FBB1-CB3F-9A5A699E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92E8A-D7F3-D5DA-EECA-517C8786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365125"/>
            <a:ext cx="10765536" cy="1325563"/>
          </a:xfrm>
        </p:spPr>
        <p:txBody>
          <a:bodyPr>
            <a:normAutofit/>
          </a:bodyPr>
          <a:lstStyle/>
          <a:p>
            <a:r>
              <a:rPr lang="en-GB" sz="4000" noProof="0" dirty="0"/>
              <a:t>Handling Invalid Quiz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267F-A94E-6FF6-EB76-976BFEABC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065" y="1925206"/>
            <a:ext cx="12337064" cy="360335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GB" sz="2400" dirty="0">
                <a:latin typeface="Courier"/>
              </a:rPr>
              <a:t>Scanner </a:t>
            </a:r>
            <a:r>
              <a:rPr lang="en-GB" sz="2400" dirty="0" err="1">
                <a:latin typeface="Courier"/>
              </a:rPr>
              <a:t>scanner</a:t>
            </a:r>
            <a:r>
              <a:rPr lang="en-GB" sz="2400" dirty="0">
                <a:latin typeface="Courier"/>
              </a:rPr>
              <a:t> = new Scanner(System.in);</a:t>
            </a:r>
            <a:br>
              <a:rPr lang="en-GB" sz="2400" dirty="0">
                <a:latin typeface="Courier"/>
              </a:rPr>
            </a:br>
            <a:endParaRPr lang="en-GB" sz="2400" dirty="0">
              <a:latin typeface="Courier"/>
            </a:endParaRPr>
          </a:p>
          <a:p>
            <a:pPr marL="0" lvl="0" indent="0">
              <a:buNone/>
            </a:pPr>
            <a:r>
              <a:rPr lang="en-GB" sz="2400" dirty="0">
                <a:highlight>
                  <a:srgbClr val="FFFF00"/>
                </a:highlight>
                <a:latin typeface="Courier"/>
              </a:rPr>
              <a:t>try {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</a:t>
            </a:r>
            <a:r>
              <a:rPr lang="en-GB" sz="2400" dirty="0" err="1">
                <a:latin typeface="Courier"/>
              </a:rPr>
              <a:t>System.out.print</a:t>
            </a:r>
            <a:r>
              <a:rPr lang="en-GB" sz="2400" dirty="0">
                <a:latin typeface="Courier"/>
              </a:rPr>
              <a:t>("Enter your answer: ");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int answer = </a:t>
            </a:r>
            <a:r>
              <a:rPr lang="en-GB" sz="2400" dirty="0" err="1">
                <a:highlight>
                  <a:srgbClr val="FFFF00"/>
                </a:highlight>
                <a:latin typeface="Courier"/>
              </a:rPr>
              <a:t>Integer.parseInt</a:t>
            </a:r>
            <a:r>
              <a:rPr lang="en-GB" sz="2400" dirty="0">
                <a:latin typeface="Courier"/>
              </a:rPr>
              <a:t>(</a:t>
            </a:r>
            <a:r>
              <a:rPr lang="en-GB" sz="2400" dirty="0" err="1">
                <a:latin typeface="Courier"/>
              </a:rPr>
              <a:t>scanner.nextLine</a:t>
            </a:r>
            <a:r>
              <a:rPr lang="en-GB" sz="2400" dirty="0">
                <a:latin typeface="Courier"/>
              </a:rPr>
              <a:t>());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</a:t>
            </a:r>
            <a:r>
              <a:rPr lang="en-GB" sz="2400" dirty="0" err="1">
                <a:latin typeface="Courier"/>
              </a:rPr>
              <a:t>System.out.println</a:t>
            </a:r>
            <a:r>
              <a:rPr lang="en-GB" sz="2400" dirty="0">
                <a:latin typeface="Courier"/>
              </a:rPr>
              <a:t>("You entered: " + answer);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highlight>
                  <a:srgbClr val="FFFF00"/>
                </a:highlight>
                <a:latin typeface="Courier"/>
              </a:rPr>
              <a:t>} catch (</a:t>
            </a:r>
            <a:r>
              <a:rPr lang="en-GB" sz="2400" dirty="0" err="1">
                <a:highlight>
                  <a:srgbClr val="FFFF00"/>
                </a:highlight>
                <a:latin typeface="Courier"/>
              </a:rPr>
              <a:t>NumberFormatException</a:t>
            </a:r>
            <a:r>
              <a:rPr lang="en-GB" sz="2400" dirty="0">
                <a:highlight>
                  <a:srgbClr val="FFFF00"/>
                </a:highlight>
                <a:latin typeface="Courier"/>
              </a:rPr>
              <a:t> e) {</a:t>
            </a:r>
            <a:br>
              <a:rPr lang="en-GB" sz="2400" dirty="0">
                <a:highlight>
                  <a:srgbClr val="FFFF00"/>
                </a:highlight>
                <a:latin typeface="Courier"/>
              </a:rPr>
            </a:br>
            <a:r>
              <a:rPr lang="en-GB" sz="2400" dirty="0">
                <a:latin typeface="Courier"/>
              </a:rPr>
              <a:t>    </a:t>
            </a:r>
            <a:r>
              <a:rPr lang="en-GB" sz="2400" dirty="0" err="1">
                <a:latin typeface="Courier"/>
              </a:rPr>
              <a:t>System.out.println</a:t>
            </a:r>
            <a:r>
              <a:rPr lang="en-GB" sz="2400" dirty="0">
                <a:latin typeface="Courier"/>
              </a:rPr>
              <a:t>("Invalid input! Please enter a number.");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highlight>
                  <a:srgbClr val="FFFF00"/>
                </a:highlight>
                <a:latin typeface="Courier"/>
              </a:rPr>
              <a:t>}</a:t>
            </a:r>
          </a:p>
          <a:p>
            <a:pPr mar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47335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94A68-66AF-D475-77FF-4C6D4749D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FC8A-F76A-16A2-D0F3-7C4C9308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69285"/>
            <a:ext cx="10765536" cy="1325563"/>
          </a:xfrm>
        </p:spPr>
        <p:txBody>
          <a:bodyPr>
            <a:normAutofit/>
          </a:bodyPr>
          <a:lstStyle/>
          <a:p>
            <a:r>
              <a:rPr lang="en-GB" sz="4000" noProof="0" dirty="0"/>
              <a:t>File Reading Error Handling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DA8AE-3625-C876-5182-28BECC307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24" y="1015140"/>
            <a:ext cx="7907755" cy="28479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52CA8D-7ED7-DF3B-ABAD-FCFAAA87E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24" y="3793374"/>
            <a:ext cx="7792227" cy="299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90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8F4D-73C5-8630-4638-6803B3A36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E8A3A-DADD-E3B7-6202-E9CFDB50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365125"/>
            <a:ext cx="10765536" cy="1325563"/>
          </a:xfrm>
        </p:spPr>
        <p:txBody>
          <a:bodyPr>
            <a:normAutofit/>
          </a:bodyPr>
          <a:lstStyle/>
          <a:p>
            <a:r>
              <a:rPr lang="en-GB" sz="4000" noProof="0" dirty="0"/>
              <a:t>File Reading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3A73A-AA8B-5275-6F19-4DF16456C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709" y="1909707"/>
            <a:ext cx="9717850" cy="360335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GB" sz="2400" dirty="0">
                <a:highlight>
                  <a:srgbClr val="FFFF00"/>
                </a:highlight>
                <a:latin typeface="Courier"/>
              </a:rPr>
              <a:t>try {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</a:t>
            </a:r>
            <a:r>
              <a:rPr lang="en-GB" sz="2400" dirty="0" err="1">
                <a:latin typeface="Courier"/>
              </a:rPr>
              <a:t>BufferedReader</a:t>
            </a:r>
            <a:r>
              <a:rPr lang="en-GB" sz="2400" dirty="0">
                <a:latin typeface="Courier"/>
              </a:rPr>
              <a:t> reader = new </a:t>
            </a:r>
            <a:r>
              <a:rPr lang="en-GB" sz="2400" dirty="0" err="1">
                <a:latin typeface="Courier"/>
              </a:rPr>
              <a:t>BufferedReader</a:t>
            </a:r>
            <a:r>
              <a:rPr lang="en-GB" sz="2400" dirty="0">
                <a:latin typeface="Courier"/>
              </a:rPr>
              <a:t>(new </a:t>
            </a:r>
            <a:r>
              <a:rPr lang="en-GB" sz="2400" dirty="0" err="1">
                <a:highlight>
                  <a:srgbClr val="FFFF00"/>
                </a:highlight>
                <a:latin typeface="Courier"/>
              </a:rPr>
              <a:t>FileReader</a:t>
            </a:r>
            <a:r>
              <a:rPr lang="en-GB" sz="2400" dirty="0">
                <a:latin typeface="Courier"/>
              </a:rPr>
              <a:t>("quiz.txt"));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</a:t>
            </a:r>
            <a:r>
              <a:rPr lang="en-GB" sz="2400" dirty="0" err="1">
                <a:latin typeface="Courier"/>
              </a:rPr>
              <a:t>System.out.println</a:t>
            </a:r>
            <a:r>
              <a:rPr lang="en-GB" sz="2400" dirty="0">
                <a:latin typeface="Courier"/>
              </a:rPr>
              <a:t>(</a:t>
            </a:r>
            <a:r>
              <a:rPr lang="en-GB" sz="2400" dirty="0" err="1">
                <a:latin typeface="Courier"/>
              </a:rPr>
              <a:t>reader.</a:t>
            </a:r>
            <a:r>
              <a:rPr lang="en-GB" sz="2400" dirty="0" err="1">
                <a:highlight>
                  <a:srgbClr val="FFFF00"/>
                </a:highlight>
                <a:latin typeface="Courier"/>
              </a:rPr>
              <a:t>readLine</a:t>
            </a:r>
            <a:r>
              <a:rPr lang="en-GB" sz="2400" dirty="0">
                <a:latin typeface="Courier"/>
              </a:rPr>
              <a:t>());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</a:t>
            </a:r>
            <a:r>
              <a:rPr lang="en-GB" sz="2400" dirty="0" err="1">
                <a:latin typeface="Courier"/>
              </a:rPr>
              <a:t>reader.close</a:t>
            </a:r>
            <a:r>
              <a:rPr lang="en-GB" sz="2400" dirty="0">
                <a:latin typeface="Courier"/>
              </a:rPr>
              <a:t>();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highlight>
                  <a:srgbClr val="FFFF00"/>
                </a:highlight>
                <a:latin typeface="Courier"/>
              </a:rPr>
              <a:t>} catch </a:t>
            </a:r>
            <a:r>
              <a:rPr lang="en-GB" sz="2400" dirty="0">
                <a:latin typeface="Courier"/>
              </a:rPr>
              <a:t>(</a:t>
            </a:r>
            <a:r>
              <a:rPr lang="en-GB" sz="2400" dirty="0" err="1">
                <a:highlight>
                  <a:srgbClr val="FFFF00"/>
                </a:highlight>
                <a:latin typeface="Courier"/>
              </a:rPr>
              <a:t>FileNotFoundException</a:t>
            </a:r>
            <a:r>
              <a:rPr lang="en-GB" sz="2400" dirty="0">
                <a:latin typeface="Courier"/>
              </a:rPr>
              <a:t> e) </a:t>
            </a:r>
            <a:r>
              <a:rPr lang="en-GB" sz="2400" dirty="0">
                <a:highlight>
                  <a:srgbClr val="FFFF00"/>
                </a:highlight>
                <a:latin typeface="Courier"/>
              </a:rPr>
              <a:t>{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</a:t>
            </a:r>
            <a:r>
              <a:rPr lang="en-GB" sz="2400" dirty="0" err="1">
                <a:latin typeface="Courier"/>
              </a:rPr>
              <a:t>System.out.println</a:t>
            </a:r>
            <a:r>
              <a:rPr lang="en-GB" sz="2400" dirty="0">
                <a:latin typeface="Courier"/>
              </a:rPr>
              <a:t>("Quiz file not found!");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highlight>
                  <a:srgbClr val="FFFF00"/>
                </a:highlight>
                <a:latin typeface="Courier"/>
              </a:rPr>
              <a:t>} catch</a:t>
            </a:r>
            <a:r>
              <a:rPr lang="en-GB" sz="2400" dirty="0">
                <a:latin typeface="Courier"/>
              </a:rPr>
              <a:t> (</a:t>
            </a:r>
            <a:r>
              <a:rPr lang="en-GB" sz="2400" dirty="0" err="1">
                <a:highlight>
                  <a:srgbClr val="FFFF00"/>
                </a:highlight>
                <a:latin typeface="Courier"/>
              </a:rPr>
              <a:t>IOException</a:t>
            </a:r>
            <a:r>
              <a:rPr lang="en-GB" sz="2400" dirty="0">
                <a:highlight>
                  <a:srgbClr val="FFFF00"/>
                </a:highlight>
                <a:latin typeface="Courier"/>
              </a:rPr>
              <a:t> e</a:t>
            </a:r>
            <a:r>
              <a:rPr lang="en-GB" sz="2400" dirty="0">
                <a:latin typeface="Courier"/>
              </a:rPr>
              <a:t>) </a:t>
            </a:r>
            <a:r>
              <a:rPr lang="en-GB" sz="2400" dirty="0">
                <a:highlight>
                  <a:srgbClr val="FFFF00"/>
                </a:highlight>
                <a:latin typeface="Courier"/>
              </a:rPr>
              <a:t>{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</a:t>
            </a:r>
            <a:r>
              <a:rPr lang="en-GB" sz="2400" dirty="0" err="1">
                <a:latin typeface="Courier"/>
              </a:rPr>
              <a:t>System.out.println</a:t>
            </a:r>
            <a:r>
              <a:rPr lang="en-GB" sz="2400" dirty="0">
                <a:latin typeface="Courier"/>
              </a:rPr>
              <a:t>("Error reading the file!");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highlight>
                  <a:srgbClr val="FFFF00"/>
                </a:highlight>
                <a:latin typeface="Courier"/>
              </a:rPr>
              <a:t>}</a:t>
            </a:r>
          </a:p>
          <a:p>
            <a:pPr mar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553767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7B44-7305-9B53-DFB8-0F3970AA8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7406F-3689-ADDF-CB25-25263B52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365125"/>
            <a:ext cx="10765536" cy="1325563"/>
          </a:xfrm>
        </p:spPr>
        <p:txBody>
          <a:bodyPr>
            <a:normAutofit/>
          </a:bodyPr>
          <a:lstStyle/>
          <a:p>
            <a:r>
              <a:rPr lang="en-GB" sz="4000" noProof="0" dirty="0"/>
              <a:t>Using custom exception for invalid quiz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8B442-642F-76E7-5CFF-0EEB54BD7745}"/>
              </a:ext>
            </a:extLst>
          </p:cNvPr>
          <p:cNvSpPr txBox="1"/>
          <p:nvPr/>
        </p:nvSpPr>
        <p:spPr>
          <a:xfrm>
            <a:off x="931242" y="2194435"/>
            <a:ext cx="9866376" cy="19389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public class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InvalidQuizException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extends Exception {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    public </a:t>
            </a:r>
            <a:r>
              <a:rPr lang="en-GB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InvalidQuizException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(String message) {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        super(message);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    }</a:t>
            </a:r>
          </a:p>
          <a:p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8703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90718-BA71-F7E0-1382-3E2911FC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905DD-BAE2-6D54-6B81-5E089AF7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24" y="365125"/>
            <a:ext cx="10765536" cy="1325563"/>
          </a:xfrm>
        </p:spPr>
        <p:txBody>
          <a:bodyPr>
            <a:normAutofit/>
          </a:bodyPr>
          <a:lstStyle/>
          <a:p>
            <a:r>
              <a:rPr lang="en-GB" sz="4000" noProof="0" dirty="0"/>
              <a:t>Using custom exception for invalid quiz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C119-1D67-46AD-0240-CE65B157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78" y="2165430"/>
            <a:ext cx="11935243" cy="239882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GB" sz="2400" dirty="0">
                <a:latin typeface="Courier"/>
              </a:rPr>
              <a:t>public void </a:t>
            </a:r>
            <a:r>
              <a:rPr lang="en-GB" sz="2400" dirty="0" err="1">
                <a:latin typeface="Courier"/>
              </a:rPr>
              <a:t>validateQuiz</a:t>
            </a:r>
            <a:r>
              <a:rPr lang="en-GB" sz="2400" dirty="0">
                <a:latin typeface="Courier"/>
              </a:rPr>
              <a:t>(Quiz quiz) </a:t>
            </a:r>
            <a:r>
              <a:rPr lang="en-GB" sz="2400" dirty="0">
                <a:highlight>
                  <a:srgbClr val="FFFF00"/>
                </a:highlight>
                <a:latin typeface="Courier"/>
              </a:rPr>
              <a:t>throws </a:t>
            </a:r>
            <a:r>
              <a:rPr lang="en-GB" sz="2400" dirty="0" err="1">
                <a:highlight>
                  <a:srgbClr val="FFFF00"/>
                </a:highlight>
                <a:latin typeface="Courier"/>
              </a:rPr>
              <a:t>InvalidQuizException</a:t>
            </a:r>
            <a:r>
              <a:rPr lang="en-GB" sz="24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400" dirty="0">
                <a:latin typeface="Courier"/>
              </a:rPr>
              <a:t>{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if (</a:t>
            </a:r>
            <a:r>
              <a:rPr lang="en-GB" sz="2400" dirty="0" err="1">
                <a:latin typeface="Courier"/>
              </a:rPr>
              <a:t>quiz.getQuestions</a:t>
            </a:r>
            <a:r>
              <a:rPr lang="en-GB" sz="2400" dirty="0">
                <a:latin typeface="Courier"/>
              </a:rPr>
              <a:t>().</a:t>
            </a:r>
            <a:r>
              <a:rPr lang="en-GB" sz="2400" dirty="0" err="1">
                <a:latin typeface="Courier"/>
              </a:rPr>
              <a:t>isEmpty</a:t>
            </a:r>
            <a:r>
              <a:rPr lang="en-GB" sz="2400" dirty="0">
                <a:latin typeface="Courier"/>
              </a:rPr>
              <a:t>()) {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    </a:t>
            </a:r>
            <a:r>
              <a:rPr lang="en-GB" sz="2400" dirty="0">
                <a:highlight>
                  <a:srgbClr val="FFFF00"/>
                </a:highlight>
                <a:latin typeface="Courier"/>
              </a:rPr>
              <a:t>throw new </a:t>
            </a:r>
            <a:r>
              <a:rPr lang="en-GB" sz="2400" dirty="0" err="1">
                <a:highlight>
                  <a:srgbClr val="FFFF00"/>
                </a:highlight>
                <a:latin typeface="Courier"/>
              </a:rPr>
              <a:t>InvalidQuizException</a:t>
            </a:r>
            <a:r>
              <a:rPr lang="en-GB" sz="2400" dirty="0">
                <a:latin typeface="Courier"/>
              </a:rPr>
              <a:t>("Quiz must contain at least one question!");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    }</a:t>
            </a:r>
            <a:br>
              <a:rPr lang="en-GB" sz="2400" dirty="0">
                <a:latin typeface="Courier"/>
              </a:rPr>
            </a:br>
            <a:r>
              <a:rPr lang="en-GB" sz="2400" dirty="0">
                <a:latin typeface="Courier"/>
              </a:rPr>
              <a:t>}</a:t>
            </a:r>
          </a:p>
          <a:p>
            <a:pPr mar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428657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479A2-7BBB-ECE8-C66A-6B1AB4DF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7E39A-D538-3F31-EF95-E7F32F36E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Real-World Exceptions: Discussion 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6A951-8525-B583-EFC4-0E05657CF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30" y="1862061"/>
            <a:ext cx="11107739" cy="4776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600" b="1" noProof="0" dirty="0"/>
              <a:t>Prompt</a:t>
            </a:r>
            <a:r>
              <a:rPr lang="en-GB" sz="2600" noProof="0" dirty="0"/>
              <a:t>:</a:t>
            </a:r>
          </a:p>
          <a:p>
            <a:r>
              <a:rPr lang="en-GB" sz="2600" noProof="0" dirty="0"/>
              <a:t>What types of exceptions have you encountered in real-world applications?</a:t>
            </a:r>
          </a:p>
          <a:p>
            <a:r>
              <a:rPr lang="en-GB" sz="2600" noProof="0" dirty="0"/>
              <a:t>How were they handled (or not handled)?</a:t>
            </a:r>
          </a:p>
          <a:p>
            <a:endParaRPr lang="en-GB" sz="2600" b="1" noProof="0" dirty="0"/>
          </a:p>
          <a:p>
            <a:pPr marL="0" indent="0">
              <a:buNone/>
            </a:pPr>
            <a:r>
              <a:rPr lang="en-GB" sz="2600" b="1" noProof="0" dirty="0"/>
              <a:t>Have a minute to think about this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sz="2600" b="1" noProof="0" dirty="0"/>
              <a:t>Discuss with your neighbour for 5 minutes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sz="2600" b="1" noProof="0" dirty="0"/>
              <a:t>Then I will ask for ideas from the class</a:t>
            </a:r>
          </a:p>
          <a:p>
            <a:pPr marL="0" indent="0">
              <a:buNone/>
            </a:pPr>
            <a:endParaRPr lang="en-GB" sz="2600" noProof="0" dirty="0"/>
          </a:p>
        </p:txBody>
      </p:sp>
    </p:spTree>
    <p:extLst>
      <p:ext uri="{BB962C8B-B14F-4D97-AF65-F5344CB8AC3E}">
        <p14:creationId xmlns:p14="http://schemas.microsoft.com/office/powerpoint/2010/main" val="2837761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BD2BC-F391-069D-C555-54DB4F67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76932-6523-193D-5F19-088AE510F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Advanced Exception Concepts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AA9B-A7FB-5C3C-A607-9D56756B3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609"/>
            <a:ext cx="10515600" cy="5058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noProof="0" dirty="0"/>
              <a:t>Multiple Exceptions</a:t>
            </a:r>
          </a:p>
          <a:p>
            <a:r>
              <a:rPr lang="en-GB" noProof="0" dirty="0"/>
              <a:t>Use multiple </a:t>
            </a:r>
            <a:r>
              <a:rPr lang="en-GB" noProof="0" dirty="0">
                <a:latin typeface="Courier"/>
              </a:rPr>
              <a:t>catch</a:t>
            </a:r>
            <a:r>
              <a:rPr lang="en-GB" noProof="0" dirty="0"/>
              <a:t> blocks to handle different exceptions.</a:t>
            </a:r>
            <a:br>
              <a:rPr lang="en-GB" noProof="0" dirty="0"/>
            </a:br>
            <a:endParaRPr lang="en-GB" b="1" noProof="0" dirty="0"/>
          </a:p>
          <a:p>
            <a:pPr marL="0" indent="0">
              <a:buNone/>
            </a:pPr>
            <a:r>
              <a:rPr lang="en-GB" b="1" noProof="0" dirty="0"/>
              <a:t>Code Example</a:t>
            </a:r>
            <a:r>
              <a:rPr lang="en-GB" noProof="0" dirty="0"/>
              <a:t> (already seen)</a:t>
            </a:r>
          </a:p>
          <a:p>
            <a:pPr marL="0" indent="0">
              <a:buNone/>
            </a:pPr>
            <a:br>
              <a:rPr lang="en-GB" noProof="0" dirty="0"/>
            </a:br>
            <a:endParaRPr lang="en-GB" b="0" noProof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E07C7-C5A4-0423-C7BF-152B09B914BB}"/>
              </a:ext>
            </a:extLst>
          </p:cNvPr>
          <p:cNvSpPr txBox="1"/>
          <p:nvPr/>
        </p:nvSpPr>
        <p:spPr>
          <a:xfrm>
            <a:off x="887660" y="3674940"/>
            <a:ext cx="10416680" cy="27607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ourier"/>
              </a:rPr>
              <a:t>try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{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// Code that might throw multiple exceptions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 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ourier"/>
              </a:rPr>
              <a:t>catch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(</a:t>
            </a:r>
            <a:r>
              <a:rPr lang="en-GB" sz="24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IOException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e) {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</a:t>
            </a:r>
            <a:r>
              <a:rPr lang="en-GB" sz="24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System.out.println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("File error: " + </a:t>
            </a:r>
            <a:r>
              <a:rPr lang="en-GB" sz="24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e.getMessage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());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 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ourier"/>
              </a:rPr>
              <a:t>catch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(</a:t>
            </a:r>
            <a:r>
              <a:rPr lang="en-GB" sz="24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NumberFormatException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e) {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</a:t>
            </a:r>
            <a:r>
              <a:rPr lang="en-GB" sz="24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System.out.println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("Input error: " + </a:t>
            </a:r>
            <a:r>
              <a:rPr lang="en-GB" sz="24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e.getMessage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());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7495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A223A-9E3C-CB9B-A965-D37B029C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D83E-68AB-1BC5-C3CF-ED8F7FC9E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Advanced Exception Concepts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CBD5B-23C2-5D0D-EFF5-1FAD40333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609"/>
            <a:ext cx="10515600" cy="5058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noProof="0" dirty="0"/>
              <a:t>Chaining Exceptions</a:t>
            </a:r>
          </a:p>
          <a:p>
            <a:r>
              <a:rPr lang="en-GB" noProof="0" dirty="0"/>
              <a:t>Preserve the original exception details when throwing a new one.</a:t>
            </a:r>
            <a:br>
              <a:rPr lang="en-GB" noProof="0" dirty="0"/>
            </a:br>
            <a:endParaRPr lang="en-GB" b="1" noProof="0" dirty="0"/>
          </a:p>
          <a:p>
            <a:pPr marL="0" indent="0">
              <a:buNone/>
            </a:pPr>
            <a:r>
              <a:rPr lang="en-GB" b="1" noProof="0" dirty="0"/>
              <a:t>Code Example</a:t>
            </a:r>
            <a:endParaRPr lang="en-GB" noProof="0" dirty="0"/>
          </a:p>
          <a:p>
            <a:pPr marL="0" indent="0">
              <a:buNone/>
            </a:pPr>
            <a:br>
              <a:rPr lang="en-GB" noProof="0" dirty="0"/>
            </a:br>
            <a:endParaRPr lang="en-GB" b="0" noProof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8B11B6-7BCD-214E-B86B-F92B1AB7874C}"/>
              </a:ext>
            </a:extLst>
          </p:cNvPr>
          <p:cNvSpPr txBox="1"/>
          <p:nvPr/>
        </p:nvSpPr>
        <p:spPr>
          <a:xfrm>
            <a:off x="495491" y="3674940"/>
            <a:ext cx="11201018" cy="17635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ourier"/>
              </a:rPr>
              <a:t>try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{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// Code that throws an exception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 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ourier"/>
              </a:rPr>
              <a:t>catch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(</a:t>
            </a:r>
            <a:r>
              <a:rPr lang="en-GB" sz="24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IOException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e) {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   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Courier"/>
              </a:rPr>
              <a:t>throw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 new </a:t>
            </a:r>
            <a:r>
              <a:rPr lang="en-GB" sz="2400" noProof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RuntimeException</a:t>
            </a: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("Failed to process file", e);</a:t>
            </a:r>
            <a:b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</a:br>
            <a:r>
              <a:rPr lang="en-GB" sz="24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3025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Hands-on Activity</a:t>
            </a:r>
            <a:r>
              <a:rPr lang="en-GB" noProof="0" dirty="0"/>
              <a:t> to try later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noProof="0" dirty="0"/>
              <a:t>Practical Activity: </a:t>
            </a:r>
          </a:p>
          <a:p>
            <a:pPr marL="0" indent="0">
              <a:buNone/>
            </a:pPr>
            <a:r>
              <a:rPr lang="en-GB" b="1" noProof="0" dirty="0"/>
              <a:t>Adding Exception Handling to the Quiz Manager System</a:t>
            </a:r>
            <a:br>
              <a:rPr lang="en-GB" noProof="0" dirty="0"/>
            </a:br>
            <a:endParaRPr lang="en-GB" noProof="0" dirty="0"/>
          </a:p>
          <a:p>
            <a:pPr marL="0" indent="0">
              <a:buNone/>
            </a:pPr>
            <a:r>
              <a:rPr lang="en-GB" b="1" noProof="0" dirty="0"/>
              <a:t>Task</a:t>
            </a:r>
            <a:r>
              <a:rPr lang="en-GB" noProof="0" dirty="0"/>
              <a:t>:</a:t>
            </a:r>
            <a:br>
              <a:rPr lang="en-GB" noProof="0" dirty="0"/>
            </a:br>
            <a:r>
              <a:rPr lang="en-GB" noProof="0" dirty="0"/>
              <a:t>1. Add exception handling for invalid answers in the CLI version of the Quiz Manager.</a:t>
            </a:r>
            <a:br>
              <a:rPr lang="en-GB" noProof="0" dirty="0"/>
            </a:br>
            <a:r>
              <a:rPr lang="en-GB" noProof="0" dirty="0"/>
              <a:t>2. Use a custom exception to handle missing quizzes in the data layer.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74714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noProof="0" dirty="0"/>
              <a:t>Key Takeaways</a:t>
            </a:r>
            <a:endParaRPr lang="en-GB" sz="3200" dirty="0"/>
          </a:p>
          <a:p>
            <a:r>
              <a:rPr lang="en-GB" sz="3200" noProof="0" dirty="0"/>
              <a:t>Exceptions help handle errors gracefully and improve software reliability.</a:t>
            </a:r>
            <a:endParaRPr lang="en-GB" sz="3200" dirty="0"/>
          </a:p>
          <a:p>
            <a:r>
              <a:rPr lang="en-GB" sz="3200" noProof="0" dirty="0"/>
              <a:t>Use </a:t>
            </a:r>
            <a:r>
              <a:rPr lang="en-GB" sz="3200" b="1" noProof="0" dirty="0">
                <a:latin typeface="Courier"/>
              </a:rPr>
              <a:t>try-catch</a:t>
            </a:r>
            <a:r>
              <a:rPr lang="en-GB" sz="3200" noProof="0" dirty="0"/>
              <a:t> blocks, finally, and custom exceptions effectively.</a:t>
            </a:r>
            <a:endParaRPr lang="en-GB" sz="3200" dirty="0"/>
          </a:p>
          <a:p>
            <a:r>
              <a:rPr lang="en-GB" sz="3200" noProof="0" dirty="0"/>
              <a:t>Apply exception handling to real-world scenarios, such as input validation and file management.</a:t>
            </a:r>
          </a:p>
        </p:txBody>
      </p:sp>
    </p:spTree>
    <p:extLst>
      <p:ext uri="{BB962C8B-B14F-4D97-AF65-F5344CB8AC3E}">
        <p14:creationId xmlns:p14="http://schemas.microsoft.com/office/powerpoint/2010/main" val="3525578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Preview: Advanced GUI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noProof="0" dirty="0"/>
              <a:t>Next Week</a:t>
            </a:r>
          </a:p>
          <a:p>
            <a:pPr marL="0" indent="0">
              <a:buNone/>
            </a:pPr>
            <a:endParaRPr lang="en-GB" b="1" noProof="0" dirty="0"/>
          </a:p>
          <a:p>
            <a:r>
              <a:rPr lang="en-GB" b="1" noProof="0" dirty="0"/>
              <a:t>Topic</a:t>
            </a:r>
            <a:r>
              <a:rPr lang="en-GB" noProof="0" dirty="0"/>
              <a:t>: Advanced Graphical User Interfaces</a:t>
            </a:r>
          </a:p>
          <a:p>
            <a:r>
              <a:rPr lang="en-GB" b="1" noProof="0" dirty="0"/>
              <a:t>Overview</a:t>
            </a:r>
            <a:r>
              <a:rPr lang="en-GB" noProof="0" dirty="0"/>
              <a:t>: Explore advanced GUI techniques using JavaFX or Swing.</a:t>
            </a:r>
          </a:p>
          <a:p>
            <a:r>
              <a:rPr lang="en-GB" b="1" noProof="0" dirty="0"/>
              <a:t>Practical Focus</a:t>
            </a:r>
            <a:r>
              <a:rPr lang="en-GB" noProof="0" dirty="0"/>
              <a:t>: Building a multi-screen GUI for the Quiz Manager System with navigation and styling.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Microsoft Office PowerPoint</Application>
  <PresentationFormat>Widescreen</PresentationFormat>
  <Paragraphs>163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Consolas</vt:lpstr>
      <vt:lpstr>Courier</vt:lpstr>
      <vt:lpstr>Office Theme</vt:lpstr>
      <vt:lpstr>Week 9:   Exceptions and Exception Handling in Java</vt:lpstr>
      <vt:lpstr>Objectives</vt:lpstr>
      <vt:lpstr>Understanding Exceptions</vt:lpstr>
      <vt:lpstr>Throwable Class Hierarchy (java.lang)</vt:lpstr>
      <vt:lpstr>Types of Exceptions: Checked vs Unchecked</vt:lpstr>
      <vt:lpstr>Basic Exception Handling</vt:lpstr>
      <vt:lpstr>Practical Exception Example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Custom Exception</vt:lpstr>
      <vt:lpstr>Exception Handling Guidelines</vt:lpstr>
      <vt:lpstr>Discussion Break: Exception Benefits</vt:lpstr>
      <vt:lpstr>Quiz Manager Exception Strategy</vt:lpstr>
      <vt:lpstr>Handling Invalid Quiz Input</vt:lpstr>
      <vt:lpstr>Handling Invalid Quiz Input</vt:lpstr>
      <vt:lpstr>Handling Invalid Quiz Input</vt:lpstr>
      <vt:lpstr>File Reading Error Handling</vt:lpstr>
      <vt:lpstr>File Reading Error Handling</vt:lpstr>
      <vt:lpstr>Using custom exception for invalid quiz data</vt:lpstr>
      <vt:lpstr>Using custom exception for invalid quiz data</vt:lpstr>
      <vt:lpstr>Real-World Exceptions: Discussion Break</vt:lpstr>
      <vt:lpstr>Advanced Exception Concepts (1/2)</vt:lpstr>
      <vt:lpstr>Advanced Exception Concepts (2/2)</vt:lpstr>
      <vt:lpstr>Hands-on Activity to try later</vt:lpstr>
      <vt:lpstr>Summary</vt:lpstr>
      <vt:lpstr>Preview: Advanced GUI Development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Ferran Espuny-Pujol</dc:creator>
  <cp:keywords/>
  <cp:lastModifiedBy>Pat Parslow</cp:lastModifiedBy>
  <cp:revision>114</cp:revision>
  <dcterms:created xsi:type="dcterms:W3CDTF">2024-12-31T16:51:16Z</dcterms:created>
  <dcterms:modified xsi:type="dcterms:W3CDTF">2026-05-12T10:50:37Z</dcterms:modified>
</cp:coreProperties>
</file>