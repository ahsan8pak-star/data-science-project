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3" r:id="rId2"/>
    <p:sldId id="256" r:id="rId3"/>
    <p:sldId id="257" r:id="rId4"/>
    <p:sldId id="258" r:id="rId5"/>
    <p:sldId id="259" r:id="rId6"/>
    <p:sldId id="260" r:id="rId7"/>
    <p:sldId id="27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5" autoAdjust="0"/>
    <p:restoredTop sz="45496"/>
  </p:normalViewPr>
  <p:slideViewPr>
    <p:cSldViewPr snapToGrid="0">
      <p:cViewPr varScale="1">
        <p:scale>
          <a:sx n="47" d="100"/>
          <a:sy n="47" d="100"/>
        </p:scale>
        <p:origin x="2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21F83-A78E-704A-A72D-C466940AD2B2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E4074-7DA8-F44C-82AA-00C9F620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55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141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486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91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028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144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572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922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938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239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1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Wingdings" pitchFamily="2" charset="2"/>
              <a:buChar char="ü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166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944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307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798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708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521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7E207-7931-9341-910C-FA04C19FCEA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442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469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F614D9-4624-E7A0-1531-1474E97EA7B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278" y="54302"/>
            <a:ext cx="1272209" cy="4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sgitlab.reading.ac.uk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CS1OP Week 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/>
            </a:br>
            <a:r>
              <a:t>202</a:t>
            </a:r>
            <a:r>
              <a:rPr lang="en-US"/>
              <a:t>6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400" dirty="0"/>
              <a:t>Author</a:t>
            </a:r>
            <a:r>
              <a:rPr lang="en-US" sz="1400" dirty="0"/>
              <a:t>: Zahra </a:t>
            </a:r>
            <a:r>
              <a:rPr lang="en-US" sz="1400" dirty="0" err="1"/>
              <a:t>Pooranian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Objectives-</a:t>
            </a:r>
            <a:r>
              <a:rPr lang="en-US" b="1" dirty="0"/>
              <a:t> </a:t>
            </a:r>
            <a:r>
              <a:rPr dirty="0"/>
              <a:t>User Interaction and User Interface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pPr lvl="0" algn="just"/>
            <a:r>
              <a:rPr dirty="0"/>
              <a:t>Introduce the concept of </a:t>
            </a:r>
            <a:r>
              <a:rPr b="1" dirty="0"/>
              <a:t>software layers</a:t>
            </a:r>
            <a:r>
              <a:rPr dirty="0"/>
              <a:t>: Presentation, Business Logic, and Data.</a:t>
            </a:r>
          </a:p>
          <a:p>
            <a:pPr lvl="0" algn="just"/>
            <a:r>
              <a:rPr dirty="0"/>
              <a:t>Understand the role of the </a:t>
            </a:r>
            <a:r>
              <a:rPr b="1" dirty="0"/>
              <a:t>Presentation Layer</a:t>
            </a:r>
            <a:r>
              <a:rPr dirty="0"/>
              <a:t> in user interaction.</a:t>
            </a:r>
          </a:p>
          <a:p>
            <a:pPr lvl="0" algn="just"/>
            <a:r>
              <a:rPr dirty="0"/>
              <a:t>Explore the benefits of providing </a:t>
            </a:r>
            <a:r>
              <a:rPr b="1" dirty="0"/>
              <a:t>multiple interface options</a:t>
            </a:r>
            <a:r>
              <a:rPr dirty="0"/>
              <a:t> for users.</a:t>
            </a:r>
          </a:p>
          <a:p>
            <a:pPr lvl="0" algn="just"/>
            <a:r>
              <a:rPr dirty="0"/>
              <a:t>Focus on three interface types for the Quiz Manager System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Command Line Interface (CLI)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Graphical User Interface (GUI)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HTML/Web Interface</a:t>
            </a:r>
          </a:p>
          <a:p>
            <a:pPr lvl="0" algn="just"/>
            <a:r>
              <a:rPr dirty="0"/>
              <a:t>Highlight how offering multiple interfaces enhances user choice and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E1F6-B1BB-0FA7-B460-6BDAD3CB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5"/>
            <a:ext cx="10515600" cy="1325563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Software Layers: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282"/>
            <a:ext cx="10515600" cy="685831"/>
          </a:xfrm>
        </p:spPr>
        <p:txBody>
          <a:bodyPr>
            <a:noAutofit/>
          </a:bodyPr>
          <a:lstStyle/>
          <a:p>
            <a:pPr algn="just"/>
            <a:r>
              <a:rPr sz="2400" b="1" dirty="0"/>
              <a:t>What are software layers?</a:t>
            </a:r>
            <a:r>
              <a:rPr sz="2400" dirty="0"/>
              <a:t> Software systems are divided into </a:t>
            </a:r>
            <a:r>
              <a:rPr sz="2400" b="1" dirty="0"/>
              <a:t>layers</a:t>
            </a:r>
            <a:r>
              <a:rPr sz="2400" dirty="0"/>
              <a:t> to separate concerns and improve maintainability.</a:t>
            </a:r>
          </a:p>
        </p:txBody>
      </p:sp>
      <p:pic>
        <p:nvPicPr>
          <p:cNvPr id="4" name="Picture 3" descr="A diagram of layered system architecture">
            <a:extLst>
              <a:ext uri="{FF2B5EF4-FFF2-40B4-BE49-F238E27FC236}">
                <a16:creationId xmlns:a16="http://schemas.microsoft.com/office/drawing/2014/main" id="{895D3FCD-51B6-4AE5-1B57-8A8C9CF5B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82845"/>
            <a:ext cx="5560099" cy="281787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58038D-A29F-A5CC-F64C-2C39991DD5BD}"/>
              </a:ext>
            </a:extLst>
          </p:cNvPr>
          <p:cNvSpPr txBox="1">
            <a:spLocks/>
          </p:cNvSpPr>
          <p:nvPr/>
        </p:nvSpPr>
        <p:spPr>
          <a:xfrm>
            <a:off x="838200" y="2212977"/>
            <a:ext cx="49149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0"/>
              </a:spcBef>
            </a:pPr>
            <a:r>
              <a:rPr lang="en-US" b="1" dirty="0"/>
              <a:t>Key Layers</a:t>
            </a:r>
          </a:p>
          <a:p>
            <a:pPr marL="914400" lvl="1" indent="-457200" algn="just">
              <a:buFont typeface="Arial" panose="020B0604020202020204" pitchFamily="34" charset="0"/>
              <a:buAutoNum type="arabicPeriod"/>
            </a:pPr>
            <a:r>
              <a:rPr lang="en-US" b="1" dirty="0"/>
              <a:t>Presentation Layer</a:t>
            </a:r>
            <a:endParaRPr lang="en-US" dirty="0"/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The layer that interacts directly with the user.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Responsible for displaying information and collecting user input.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Examples: CLI, GUI, Web Interface.</a:t>
            </a:r>
          </a:p>
          <a:p>
            <a:pPr marL="914400" lvl="1" indent="-457200" algn="just">
              <a:buFont typeface="Arial" panose="020B0604020202020204" pitchFamily="34" charset="0"/>
              <a:buAutoNum type="arabicPeriod"/>
            </a:pPr>
            <a:r>
              <a:rPr lang="en-US" b="1" dirty="0"/>
              <a:t>Business Logic Layer</a:t>
            </a:r>
            <a:endParaRPr lang="en-US" dirty="0"/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Contains the core functionality and rules of the application.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Processes user input and interacts with the data layer.</a:t>
            </a:r>
          </a:p>
          <a:p>
            <a:pPr marL="914400" lvl="1" indent="-457200" algn="just">
              <a:buFont typeface="Arial" panose="020B0604020202020204" pitchFamily="34" charset="0"/>
              <a:buAutoNum type="arabicPeriod"/>
            </a:pPr>
            <a:r>
              <a:rPr lang="en-US" b="1" dirty="0"/>
              <a:t>Data Layer</a:t>
            </a:r>
            <a:endParaRPr lang="en-US" dirty="0"/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Manages data storage and retrieval.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Ensures data consistency and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489C-CAF5-2962-9254-0F694E84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Software Layers: Why Use Them?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b="1" dirty="0"/>
              <a:t>Why use layers?</a:t>
            </a:r>
            <a:r>
              <a:rPr dirty="0"/>
              <a:t> </a:t>
            </a:r>
            <a:endParaRPr lang="en-GB" dirty="0"/>
          </a:p>
          <a:p>
            <a:pPr lvl="1" algn="just">
              <a:buFont typeface="Wingdings" pitchFamily="2" charset="2"/>
              <a:buChar char="ü"/>
            </a:pPr>
            <a:r>
              <a:rPr lang="en-US" b="1" dirty="0"/>
              <a:t> </a:t>
            </a:r>
            <a:r>
              <a:rPr b="1" dirty="0"/>
              <a:t>Separation of Concerns</a:t>
            </a:r>
            <a:r>
              <a:rPr dirty="0"/>
              <a:t>: Each layer has a specific responsibility, making the system easier to develop and maintain. </a:t>
            </a:r>
            <a:endParaRPr lang="en-GB" dirty="0"/>
          </a:p>
          <a:p>
            <a:pPr lvl="1" algn="just">
              <a:buFont typeface="Wingdings" pitchFamily="2" charset="2"/>
              <a:buChar char="ü"/>
            </a:pPr>
            <a:r>
              <a:rPr lang="en-US" b="1" dirty="0"/>
              <a:t> </a:t>
            </a:r>
            <a:r>
              <a:rPr b="1" dirty="0"/>
              <a:t>Flexibility</a:t>
            </a:r>
            <a:r>
              <a:rPr dirty="0"/>
              <a:t>: Changes in one layer (e.g., switching from CLI to Web) do not affect other layers. </a:t>
            </a:r>
            <a:endParaRPr lang="en-GB" dirty="0"/>
          </a:p>
          <a:p>
            <a:pPr lvl="1" algn="just">
              <a:buFont typeface="Wingdings" pitchFamily="2" charset="2"/>
              <a:buChar char="ü"/>
            </a:pPr>
            <a:r>
              <a:rPr lang="en-US" b="1" dirty="0"/>
              <a:t> </a:t>
            </a:r>
            <a:r>
              <a:rPr b="1" dirty="0"/>
              <a:t>Reusability</a:t>
            </a:r>
            <a:r>
              <a:rPr dirty="0"/>
              <a:t>: Components like the Business Logic and Data Layer can be reused across different interfaces.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C174-40EC-D3EA-44AF-882B5D00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The Importance of Multiple Interface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844" y="1680902"/>
            <a:ext cx="10515600" cy="4677037"/>
          </a:xfrm>
        </p:spPr>
        <p:txBody>
          <a:bodyPr>
            <a:normAutofit/>
          </a:bodyPr>
          <a:lstStyle/>
          <a:p>
            <a:pPr algn="just"/>
            <a:r>
              <a:rPr sz="2400" b="1" dirty="0"/>
              <a:t>Why provide multiple interfaces?</a:t>
            </a:r>
          </a:p>
          <a:p>
            <a:pPr lvl="1" algn="just">
              <a:buFont typeface="Wingdings" pitchFamily="2" charset="2"/>
              <a:buChar char="ü"/>
            </a:pPr>
            <a:r>
              <a:rPr sz="2000" dirty="0"/>
              <a:t>Different users have different preferences and needs:</a:t>
            </a:r>
          </a:p>
          <a:p>
            <a:pPr lvl="2" algn="just"/>
            <a:r>
              <a:rPr b="1" dirty="0"/>
              <a:t>Technical users</a:t>
            </a:r>
            <a:r>
              <a:rPr dirty="0"/>
              <a:t> may prefer a CLI for speed and efficiency.</a:t>
            </a:r>
          </a:p>
          <a:p>
            <a:pPr lvl="2" algn="just"/>
            <a:r>
              <a:rPr b="1" dirty="0"/>
              <a:t>General users</a:t>
            </a:r>
            <a:r>
              <a:rPr dirty="0"/>
              <a:t> may prefer a GUI or Web interface for ease of use and accessibility.</a:t>
            </a:r>
          </a:p>
          <a:p>
            <a:pPr lvl="1" algn="just">
              <a:buFont typeface="Wingdings" pitchFamily="2" charset="2"/>
              <a:buChar char="ü"/>
            </a:pPr>
            <a:r>
              <a:rPr sz="2000" dirty="0"/>
              <a:t>Offering multiple options ensures the system is accessible to a </a:t>
            </a:r>
            <a:r>
              <a:rPr sz="2000" b="1" dirty="0"/>
              <a:t>wider audience</a:t>
            </a:r>
            <a:r>
              <a:rPr sz="2000" dirty="0"/>
              <a:t>.</a:t>
            </a:r>
            <a:endParaRPr lang="en-US" sz="2000" dirty="0"/>
          </a:p>
          <a:p>
            <a:pPr lvl="8" algn="just">
              <a:buFont typeface="Wingdings" pitchFamily="2" charset="2"/>
              <a:buChar char="ü"/>
            </a:pPr>
            <a:endParaRPr sz="1400" dirty="0"/>
          </a:p>
          <a:p>
            <a:pPr algn="just"/>
            <a:r>
              <a:rPr sz="2400" b="1" dirty="0"/>
              <a:t>Benefits</a:t>
            </a:r>
            <a:endParaRPr sz="2400" dirty="0"/>
          </a:p>
          <a:p>
            <a:pPr marL="914400" lvl="1" indent="-457200" algn="just">
              <a:buAutoNum type="arabicPeriod"/>
            </a:pPr>
            <a:r>
              <a:rPr sz="2000" b="1" dirty="0"/>
              <a:t>User Choice</a:t>
            </a:r>
            <a:r>
              <a:rPr sz="2000" dirty="0"/>
              <a:t>: Users can select the interface that best suits their skills and preferences.</a:t>
            </a:r>
          </a:p>
          <a:p>
            <a:pPr marL="914400" lvl="1" indent="-457200" algn="just">
              <a:buAutoNum type="arabicPeriod"/>
            </a:pPr>
            <a:r>
              <a:rPr sz="2000" b="1" dirty="0"/>
              <a:t>Accessibility</a:t>
            </a:r>
            <a:r>
              <a:rPr sz="2000" dirty="0"/>
              <a:t>: A Web interface can be accessed remotely, while a CLI works well in resource-constrained environments.</a:t>
            </a:r>
          </a:p>
          <a:p>
            <a:pPr marL="914400" lvl="1" indent="-457200" algn="just">
              <a:buAutoNum type="arabicPeriod"/>
            </a:pPr>
            <a:r>
              <a:rPr sz="2000" b="1" dirty="0"/>
              <a:t>Flexibility</a:t>
            </a:r>
            <a:r>
              <a:rPr sz="2000" dirty="0"/>
              <a:t>: Multiple interfaces make the system adaptable to different use cases and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Discussion: Software Layers and User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4077"/>
            <a:ext cx="10515600" cy="4748798"/>
          </a:xfrm>
        </p:spPr>
        <p:txBody>
          <a:bodyPr>
            <a:normAutofit fontScale="77500" lnSpcReduction="20000"/>
          </a:bodyPr>
          <a:lstStyle/>
          <a:p>
            <a:pPr lvl="0" algn="just"/>
            <a:r>
              <a:rPr dirty="0"/>
              <a:t>How do software layers (Presentation, Business Logic, Data) contribute to the design and development of software systems?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dirty="0"/>
              <a:t>Why is the Presentation Layer crucial for user interaction and experience?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dirty="0"/>
              <a:t>What are the benefits of separating the Presentation Layer from the Business Logic and Data Layer?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dirty="0"/>
              <a:t>How can multiple interface options enhance the usability and accessibility of a software system?</a:t>
            </a:r>
            <a:endParaRPr lang="en-GB" dirty="0"/>
          </a:p>
          <a:p>
            <a:pPr marL="0" lvl="0" indent="0" algn="just">
              <a:spcBef>
                <a:spcPts val="3000"/>
              </a:spcBef>
              <a:buNone/>
            </a:pPr>
            <a:r>
              <a:rPr lang="en-US" b="1" dirty="0"/>
              <a:t>Have a minute to think about this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lang="en-US" b="1" dirty="0"/>
              <a:t>Discuss with your </a:t>
            </a:r>
            <a:r>
              <a:rPr lang="en-US" b="1" dirty="0" err="1"/>
              <a:t>neighbour</a:t>
            </a:r>
            <a:r>
              <a:rPr lang="en-US" b="1" dirty="0"/>
              <a:t> for 5 minutes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lang="en-US"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B91D-BF38-0A20-70AD-13A61D4D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Interface Options for the Quiz Manager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19" y="1690429"/>
            <a:ext cx="10515600" cy="5167571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3000"/>
              </a:spcBef>
              <a:buNone/>
            </a:pPr>
            <a:r>
              <a:rPr sz="2400" b="1" dirty="0"/>
              <a:t>1. Command Line Interface (CLI)</a:t>
            </a:r>
          </a:p>
          <a:p>
            <a:pPr lvl="1" algn="just"/>
            <a:r>
              <a:rPr sz="2000" b="1" dirty="0"/>
              <a:t>Description</a:t>
            </a:r>
            <a:r>
              <a:rPr sz="2000" dirty="0"/>
              <a:t>:</a:t>
            </a:r>
            <a:r>
              <a:rPr lang="en-US" sz="2000" dirty="0"/>
              <a:t> </a:t>
            </a:r>
            <a:r>
              <a:rPr sz="2000" dirty="0"/>
              <a:t>A text-based interface where users interact with the system by typing commands.</a:t>
            </a:r>
            <a:endParaRPr lang="en-US" sz="2000" dirty="0"/>
          </a:p>
          <a:p>
            <a:pPr marL="3657600" lvl="8" indent="0" algn="just">
              <a:buNone/>
            </a:pPr>
            <a:endParaRPr sz="1400" dirty="0"/>
          </a:p>
          <a:p>
            <a:pPr lvl="1" algn="just"/>
            <a:r>
              <a:rPr sz="2000" b="1" dirty="0"/>
              <a:t>Advantages</a:t>
            </a:r>
            <a:endParaRPr sz="2000" dirty="0"/>
          </a:p>
          <a:p>
            <a:pPr lvl="2" algn="just">
              <a:buFont typeface="Wingdings" pitchFamily="2" charset="2"/>
              <a:buChar char="ü"/>
            </a:pPr>
            <a:r>
              <a:rPr sz="1900" dirty="0"/>
              <a:t>Simple to implement and lightweight.</a:t>
            </a:r>
          </a:p>
          <a:p>
            <a:pPr lvl="2" algn="just">
              <a:buFont typeface="Wingdings" pitchFamily="2" charset="2"/>
              <a:buChar char="ü"/>
            </a:pPr>
            <a:r>
              <a:rPr sz="1900" dirty="0"/>
              <a:t>Ideal for technical users who value speed and efficiency.</a:t>
            </a:r>
          </a:p>
          <a:p>
            <a:pPr lvl="2" algn="just">
              <a:buFont typeface="Wingdings" pitchFamily="2" charset="2"/>
              <a:buChar char="ü"/>
            </a:pPr>
            <a:r>
              <a:rPr sz="1900" dirty="0"/>
              <a:t>Works well in environments without graphical capabilities.</a:t>
            </a:r>
            <a:endParaRPr lang="en-US" sz="1900" dirty="0"/>
          </a:p>
          <a:p>
            <a:pPr marL="3657600" lvl="8" indent="0" algn="just">
              <a:buNone/>
            </a:pPr>
            <a:endParaRPr sz="2200" dirty="0"/>
          </a:p>
          <a:p>
            <a:pPr lvl="1" algn="just"/>
            <a:r>
              <a:rPr sz="2000" b="1" dirty="0"/>
              <a:t>Challenges</a:t>
            </a:r>
            <a:endParaRPr sz="2000" dirty="0"/>
          </a:p>
          <a:p>
            <a:pPr lvl="2" algn="just">
              <a:buFont typeface="Wingdings" pitchFamily="2" charset="2"/>
              <a:buChar char="ü"/>
            </a:pPr>
            <a:r>
              <a:rPr sz="1900" dirty="0"/>
              <a:t>Steeper learning curve for non-technical users.</a:t>
            </a:r>
          </a:p>
          <a:p>
            <a:pPr lvl="2" algn="just">
              <a:buFont typeface="Wingdings" pitchFamily="2" charset="2"/>
              <a:buChar char="ü"/>
            </a:pPr>
            <a:r>
              <a:rPr sz="1900" dirty="0"/>
              <a:t>Limited visual appeal.</a:t>
            </a:r>
          </a:p>
        </p:txBody>
      </p:sp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47C191FB-3DDE-1A6A-4B31-CD69ECA76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0" y="3073400"/>
            <a:ext cx="2571099" cy="757798"/>
          </a:xfrm>
          <a:prstGeom prst="rect">
            <a:avLst/>
          </a:prstGeom>
        </p:spPr>
      </p:pic>
      <p:pic>
        <p:nvPicPr>
          <p:cNvPr id="8" name="Picture 7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D08AD0F7-51A4-4D3D-1E15-D0E689D69A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0" y="4101623"/>
            <a:ext cx="2202799" cy="7661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527F-9E7D-582A-485B-96BEF0EA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1. Command Line Interface (CLI)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741"/>
            <a:ext cx="10515600" cy="5856849"/>
          </a:xfrm>
        </p:spPr>
        <p:txBody>
          <a:bodyPr>
            <a:normAutofit fontScale="85000" lnSpcReduction="10000"/>
          </a:bodyPr>
          <a:lstStyle/>
          <a:p>
            <a:pPr lvl="0" indent="0">
              <a:buNone/>
            </a:pPr>
            <a:endParaRPr lang="en-US" b="1" dirty="0">
              <a:solidFill>
                <a:srgbClr val="007020"/>
              </a:solidFill>
              <a:latin typeface="Courier"/>
            </a:endParaRP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CommandLineInterface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startQuiz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Quiz quiz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"Starting Quiz: "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for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Question question 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getQuestions</a:t>
            </a:r>
            <a:r>
              <a:rPr dirty="0">
                <a:solidFill>
                  <a:srgbClr val="666666"/>
                </a:solidFill>
                <a:latin typeface="Courier"/>
              </a:rPr>
              <a:t>())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question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getPrompt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</a:t>
            </a:r>
            <a:r>
              <a:rPr dirty="0">
                <a:latin typeface="Courier"/>
              </a:rPr>
              <a:t> options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question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getOptions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for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902000"/>
                </a:solidFill>
                <a:latin typeface="Courier"/>
              </a:rPr>
              <a:t>int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i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i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options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length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i</a:t>
            </a:r>
            <a:r>
              <a:rPr dirty="0">
                <a:solidFill>
                  <a:srgbClr val="666666"/>
                </a:solidFill>
                <a:latin typeface="Courier"/>
              </a:rPr>
              <a:t>++)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((</a:t>
            </a:r>
            <a:r>
              <a:rPr dirty="0" err="1">
                <a:latin typeface="Courier"/>
              </a:rPr>
              <a:t>i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". "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options</a:t>
            </a:r>
            <a:r>
              <a:rPr dirty="0">
                <a:solidFill>
                  <a:srgbClr val="666666"/>
                </a:solidFill>
                <a:latin typeface="Courier"/>
              </a:rPr>
              <a:t>[</a:t>
            </a:r>
            <a:r>
              <a:rPr dirty="0" err="1">
                <a:latin typeface="Courier"/>
              </a:rPr>
              <a:t>i</a:t>
            </a:r>
            <a:r>
              <a:rPr dirty="0">
                <a:solidFill>
                  <a:srgbClr val="666666"/>
                </a:solidFill>
                <a:latin typeface="Courier"/>
              </a:rPr>
              <a:t>]);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"Enter your answer: 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 Collect user input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BB695C-8E0B-903F-B242-0D98F056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Interface Options for the Quiz Manager System (</a:t>
            </a:r>
            <a:r>
              <a:rPr lang="en-US" dirty="0" err="1"/>
              <a:t>Cnt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278" y="1644773"/>
            <a:ext cx="10515600" cy="5513263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3000"/>
              </a:spcBef>
              <a:buNone/>
            </a:pPr>
            <a:r>
              <a:rPr sz="2400" b="1" dirty="0"/>
              <a:t>2. Graphical User Interface (GUI)</a:t>
            </a:r>
          </a:p>
          <a:p>
            <a:pPr lvl="1" algn="just"/>
            <a:r>
              <a:rPr sz="2200" b="1" dirty="0"/>
              <a:t>Description</a:t>
            </a:r>
            <a:r>
              <a:rPr sz="2200" dirty="0"/>
              <a:t>:</a:t>
            </a:r>
            <a:r>
              <a:rPr lang="en-US" sz="2200" dirty="0"/>
              <a:t> </a:t>
            </a:r>
            <a:r>
              <a:rPr sz="2200" dirty="0"/>
              <a:t>A visual interface that uses windows, buttons, and other graphical elements to interact with the user.</a:t>
            </a:r>
          </a:p>
          <a:p>
            <a:pPr lvl="1" algn="just"/>
            <a:r>
              <a:rPr sz="2200" b="1" dirty="0"/>
              <a:t>Advantages</a:t>
            </a:r>
            <a:endParaRPr sz="2200" dirty="0"/>
          </a:p>
          <a:p>
            <a:pPr lvl="2" algn="just">
              <a:buFont typeface="Wingdings" pitchFamily="2" charset="2"/>
              <a:buChar char="ü"/>
            </a:pPr>
            <a:r>
              <a:rPr dirty="0"/>
              <a:t>Intuitive and user-friendly.</a:t>
            </a:r>
          </a:p>
          <a:p>
            <a:pPr lvl="2" algn="just">
              <a:buFont typeface="Wingdings" pitchFamily="2" charset="2"/>
              <a:buChar char="ü"/>
            </a:pPr>
            <a:r>
              <a:rPr dirty="0"/>
              <a:t>Supports rich visual elements like images and animations.</a:t>
            </a:r>
          </a:p>
          <a:p>
            <a:pPr lvl="2" algn="just">
              <a:buFont typeface="Wingdings" pitchFamily="2" charset="2"/>
              <a:buChar char="ü"/>
            </a:pPr>
            <a:r>
              <a:rPr dirty="0"/>
              <a:t>Suitable for a wide range of users.</a:t>
            </a:r>
          </a:p>
          <a:p>
            <a:pPr lvl="1" algn="just"/>
            <a:r>
              <a:rPr sz="2200" b="1" dirty="0"/>
              <a:t>Challenges</a:t>
            </a:r>
            <a:endParaRPr sz="2200" dirty="0"/>
          </a:p>
          <a:p>
            <a:pPr lvl="2" algn="just">
              <a:buFont typeface="Wingdings" pitchFamily="2" charset="2"/>
              <a:buChar char="ü"/>
            </a:pPr>
            <a:r>
              <a:rPr dirty="0"/>
              <a:t>More complex to implement compared to CLI.</a:t>
            </a:r>
          </a:p>
          <a:p>
            <a:pPr lvl="2" algn="just">
              <a:buFont typeface="Wingdings" pitchFamily="2" charset="2"/>
              <a:buChar char="ü"/>
            </a:pPr>
            <a:r>
              <a:rPr dirty="0"/>
              <a:t>Requires additional libraries or frameworks (e.g., JavaFX, Swing).</a:t>
            </a:r>
          </a:p>
          <a:p>
            <a:pPr lvl="1"/>
            <a:r>
              <a:rPr sz="2200" b="1" dirty="0"/>
              <a:t>Example</a:t>
            </a:r>
            <a:endParaRPr dirty="0"/>
          </a:p>
          <a:p>
            <a:pPr lvl="3" indent="0">
              <a:buNone/>
            </a:pPr>
            <a:r>
              <a:rPr sz="12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sz="1200" dirty="0">
                <a:latin typeface="Courier"/>
              </a:rPr>
              <a:t> 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javafx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application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Application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sz="1200" dirty="0">
                <a:latin typeface="Courier"/>
              </a:rPr>
              <a:t> 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javafx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scene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Scene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sz="1200" dirty="0">
                <a:latin typeface="Courier"/>
              </a:rPr>
              <a:t> 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javafx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scene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control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Button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sz="1200" dirty="0">
                <a:latin typeface="Courier"/>
              </a:rPr>
              <a:t> 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javafx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scene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control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Label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sz="1200" dirty="0">
                <a:latin typeface="Courier"/>
              </a:rPr>
              <a:t> 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javafx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scene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layout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VBox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sz="1200" dirty="0">
                <a:latin typeface="Courier"/>
              </a:rPr>
              <a:t> 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javafx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stage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b="1" dirty="0" err="1">
                <a:solidFill>
                  <a:srgbClr val="008000"/>
                </a:solidFill>
                <a:latin typeface="Courier"/>
              </a:rPr>
              <a:t>Stage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</a:p>
          <a:p>
            <a:pPr marL="457200" lvl="1" indent="0">
              <a:buNone/>
            </a:pPr>
            <a:r>
              <a:rPr sz="1800" dirty="0"/>
              <a:t>Yeah, we’re not done yet!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4050C-43F0-13CF-3244-F53FC532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05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dirty="0"/>
              <a:t>2. Graphical User Interface (GUI)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190"/>
            <a:ext cx="10515600" cy="6192408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sz="19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900" dirty="0">
                <a:latin typeface="Courier"/>
              </a:rPr>
              <a:t>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900" dirty="0">
                <a:latin typeface="Courier"/>
              </a:rPr>
              <a:t> </a:t>
            </a:r>
            <a:r>
              <a:rPr sz="1900" dirty="0" err="1">
                <a:latin typeface="Courier"/>
              </a:rPr>
              <a:t>GraphicalInterface</a:t>
            </a:r>
            <a:r>
              <a:rPr sz="1900" dirty="0">
                <a:latin typeface="Courier"/>
              </a:rPr>
              <a:t>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extends</a:t>
            </a:r>
            <a:r>
              <a:rPr sz="1900" dirty="0">
                <a:latin typeface="Courier"/>
              </a:rPr>
              <a:t> Application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900" dirty="0"/>
            </a:br>
            <a:r>
              <a:rPr sz="1900" dirty="0">
                <a:latin typeface="Courier"/>
              </a:rPr>
              <a:t>    </a:t>
            </a:r>
            <a:r>
              <a:rPr sz="1900" dirty="0">
                <a:solidFill>
                  <a:srgbClr val="7D9029"/>
                </a:solidFill>
                <a:latin typeface="Courier"/>
              </a:rPr>
              <a:t>@Override</a:t>
            </a:r>
            <a:br>
              <a:rPr sz="1900" dirty="0"/>
            </a:br>
            <a:r>
              <a:rPr sz="1900" dirty="0">
                <a:latin typeface="Courier"/>
              </a:rPr>
              <a:t>   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06287E"/>
                </a:solidFill>
                <a:latin typeface="Courier"/>
              </a:rPr>
              <a:t>start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latin typeface="Courier"/>
              </a:rPr>
              <a:t>Stage </a:t>
            </a:r>
            <a:r>
              <a:rPr sz="1900" dirty="0" err="1">
                <a:latin typeface="Courier"/>
              </a:rPr>
              <a:t>primaryStage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>
                <a:solidFill>
                  <a:srgbClr val="008000"/>
                </a:solidFill>
                <a:latin typeface="Courier"/>
              </a:rPr>
              <a:t>Label</a:t>
            </a:r>
            <a:r>
              <a:rPr sz="1900" dirty="0">
                <a:latin typeface="Courier"/>
              </a:rPr>
              <a:t> label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=</a:t>
            </a:r>
            <a:r>
              <a:rPr sz="1900" dirty="0">
                <a:latin typeface="Courier"/>
              </a:rPr>
              <a:t>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008000"/>
                </a:solidFill>
                <a:latin typeface="Courier"/>
              </a:rPr>
              <a:t>Label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solidFill>
                  <a:srgbClr val="4070A0"/>
                </a:solidFill>
                <a:latin typeface="Courier"/>
              </a:rPr>
              <a:t>"Welcome to the Quiz Manager!"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>
                <a:solidFill>
                  <a:srgbClr val="008000"/>
                </a:solidFill>
                <a:latin typeface="Courier"/>
              </a:rPr>
              <a:t>Button</a:t>
            </a:r>
            <a:r>
              <a:rPr sz="1900" dirty="0">
                <a:latin typeface="Courier"/>
              </a:rPr>
              <a:t> </a:t>
            </a:r>
            <a:r>
              <a:rPr sz="1900" dirty="0" err="1">
                <a:latin typeface="Courier"/>
              </a:rPr>
              <a:t>startButton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=</a:t>
            </a:r>
            <a:r>
              <a:rPr sz="1900" dirty="0">
                <a:latin typeface="Courier"/>
              </a:rPr>
              <a:t>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008000"/>
                </a:solidFill>
                <a:latin typeface="Courier"/>
              </a:rPr>
              <a:t>Button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solidFill>
                  <a:srgbClr val="4070A0"/>
                </a:solidFill>
                <a:latin typeface="Courier"/>
              </a:rPr>
              <a:t>"Start Quiz"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 err="1">
                <a:latin typeface="Courier"/>
              </a:rPr>
              <a:t>startButton</a:t>
            </a:r>
            <a:r>
              <a:rPr sz="1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900" dirty="0" err="1">
                <a:solidFill>
                  <a:srgbClr val="06287E"/>
                </a:solidFill>
                <a:latin typeface="Courier"/>
              </a:rPr>
              <a:t>setOnAction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latin typeface="Courier"/>
              </a:rPr>
              <a:t>e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-&gt;</a:t>
            </a:r>
            <a:r>
              <a:rPr sz="1900" dirty="0">
                <a:latin typeface="Courier"/>
              </a:rPr>
              <a:t> </a:t>
            </a:r>
            <a:r>
              <a:rPr sz="19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sz="1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9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sz="1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9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solidFill>
                  <a:srgbClr val="4070A0"/>
                </a:solidFill>
                <a:latin typeface="Courier"/>
              </a:rPr>
              <a:t>"Quiz Started"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));</a:t>
            </a:r>
            <a:br>
              <a:rPr sz="1900" dirty="0"/>
            </a:b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 err="1">
                <a:latin typeface="Courier"/>
              </a:rPr>
              <a:t>VBox</a:t>
            </a:r>
            <a:r>
              <a:rPr sz="1900" dirty="0">
                <a:latin typeface="Courier"/>
              </a:rPr>
              <a:t> layout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=</a:t>
            </a:r>
            <a:r>
              <a:rPr sz="1900" dirty="0">
                <a:latin typeface="Courier"/>
              </a:rPr>
              <a:t>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900" dirty="0">
                <a:latin typeface="Courier"/>
              </a:rPr>
              <a:t> </a:t>
            </a:r>
            <a:r>
              <a:rPr sz="1900" dirty="0" err="1">
                <a:solidFill>
                  <a:srgbClr val="06287E"/>
                </a:solidFill>
                <a:latin typeface="Courier"/>
              </a:rPr>
              <a:t>VBox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solidFill>
                  <a:srgbClr val="40A070"/>
                </a:solidFill>
                <a:latin typeface="Courier"/>
              </a:rPr>
              <a:t>10</a:t>
            </a:r>
            <a:r>
              <a:rPr sz="1900" dirty="0">
                <a:solidFill>
                  <a:srgbClr val="666666"/>
                </a:solidFill>
                <a:latin typeface="Courier"/>
              </a:rPr>
              <a:t>,</a:t>
            </a:r>
            <a:r>
              <a:rPr sz="1900" dirty="0">
                <a:latin typeface="Courier"/>
              </a:rPr>
              <a:t> label</a:t>
            </a:r>
            <a:r>
              <a:rPr sz="1900" dirty="0">
                <a:solidFill>
                  <a:srgbClr val="666666"/>
                </a:solidFill>
                <a:latin typeface="Courier"/>
              </a:rPr>
              <a:t>,</a:t>
            </a:r>
            <a:r>
              <a:rPr sz="1900" dirty="0">
                <a:latin typeface="Courier"/>
              </a:rPr>
              <a:t> </a:t>
            </a:r>
            <a:r>
              <a:rPr sz="1900" dirty="0" err="1">
                <a:latin typeface="Courier"/>
              </a:rPr>
              <a:t>startButton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900" dirty="0"/>
            </a:br>
            <a:r>
              <a:rPr sz="1900" dirty="0">
                <a:latin typeface="Courier"/>
              </a:rPr>
              <a:t>        Scene scene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=</a:t>
            </a:r>
            <a:r>
              <a:rPr sz="1900" dirty="0">
                <a:latin typeface="Courier"/>
              </a:rPr>
              <a:t>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06287E"/>
                </a:solidFill>
                <a:latin typeface="Courier"/>
              </a:rPr>
              <a:t>Scene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latin typeface="Courier"/>
              </a:rPr>
              <a:t>layout</a:t>
            </a:r>
            <a:r>
              <a:rPr sz="1900" dirty="0">
                <a:solidFill>
                  <a:srgbClr val="666666"/>
                </a:solidFill>
                <a:latin typeface="Courier"/>
              </a:rPr>
              <a:t>,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40A070"/>
                </a:solidFill>
                <a:latin typeface="Courier"/>
              </a:rPr>
              <a:t>300</a:t>
            </a:r>
            <a:r>
              <a:rPr sz="1900" dirty="0">
                <a:solidFill>
                  <a:srgbClr val="666666"/>
                </a:solidFill>
                <a:latin typeface="Courier"/>
              </a:rPr>
              <a:t>,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40A070"/>
                </a:solidFill>
                <a:latin typeface="Courier"/>
              </a:rPr>
              <a:t>200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900" dirty="0"/>
            </a:b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 err="1">
                <a:latin typeface="Courier"/>
              </a:rPr>
              <a:t>primaryStage</a:t>
            </a:r>
            <a:r>
              <a:rPr sz="1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900" dirty="0" err="1">
                <a:solidFill>
                  <a:srgbClr val="06287E"/>
                </a:solidFill>
                <a:latin typeface="Courier"/>
              </a:rPr>
              <a:t>setScene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latin typeface="Courier"/>
              </a:rPr>
              <a:t>scene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 err="1">
                <a:latin typeface="Courier"/>
              </a:rPr>
              <a:t>primaryStage</a:t>
            </a:r>
            <a:r>
              <a:rPr sz="1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900" dirty="0" err="1">
                <a:solidFill>
                  <a:srgbClr val="06287E"/>
                </a:solidFill>
                <a:latin typeface="Courier"/>
              </a:rPr>
              <a:t>setTitle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solidFill>
                  <a:srgbClr val="4070A0"/>
                </a:solidFill>
                <a:latin typeface="Courier"/>
              </a:rPr>
              <a:t>"Quiz Manager"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 err="1">
                <a:latin typeface="Courier"/>
              </a:rPr>
              <a:t>primaryStage</a:t>
            </a:r>
            <a:r>
              <a:rPr sz="1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900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();</a:t>
            </a:r>
            <a:br>
              <a:rPr sz="1900" dirty="0"/>
            </a:br>
            <a:r>
              <a:rPr sz="1900" dirty="0">
                <a:latin typeface="Courier"/>
              </a:rPr>
              <a:t>   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900" dirty="0"/>
            </a:br>
            <a:br>
              <a:rPr sz="1900" dirty="0"/>
            </a:br>
            <a:r>
              <a:rPr sz="1900" dirty="0">
                <a:latin typeface="Courier"/>
              </a:rPr>
              <a:t>    </a:t>
            </a:r>
            <a:r>
              <a:rPr sz="19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902000"/>
                </a:solidFill>
                <a:latin typeface="Courier"/>
              </a:rPr>
              <a:t>static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06287E"/>
                </a:solidFill>
                <a:latin typeface="Courier"/>
              </a:rPr>
              <a:t>main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>
                <a:solidFill>
                  <a:srgbClr val="008000"/>
                </a:solidFill>
                <a:latin typeface="Courier"/>
              </a:rPr>
              <a:t>String</a:t>
            </a:r>
            <a:r>
              <a:rPr sz="1900" dirty="0">
                <a:solidFill>
                  <a:srgbClr val="666666"/>
                </a:solidFill>
                <a:latin typeface="Courier"/>
              </a:rPr>
              <a:t>[]</a:t>
            </a:r>
            <a:r>
              <a:rPr sz="1900" dirty="0">
                <a:latin typeface="Courier"/>
              </a:rPr>
              <a:t> </a:t>
            </a:r>
            <a:r>
              <a:rPr sz="1900" dirty="0" err="1">
                <a:latin typeface="Courier"/>
              </a:rPr>
              <a:t>args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</a:t>
            </a:r>
            <a:r>
              <a:rPr sz="1900" dirty="0">
                <a:latin typeface="Courier"/>
              </a:rPr>
              <a:t>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900" dirty="0"/>
            </a:br>
            <a:r>
              <a:rPr sz="1900" dirty="0">
                <a:latin typeface="Courier"/>
              </a:rPr>
              <a:t>        </a:t>
            </a:r>
            <a:r>
              <a:rPr sz="1900" dirty="0">
                <a:solidFill>
                  <a:srgbClr val="06287E"/>
                </a:solidFill>
                <a:latin typeface="Courier"/>
              </a:rPr>
              <a:t>launch</a:t>
            </a:r>
            <a:r>
              <a:rPr sz="1900" dirty="0">
                <a:solidFill>
                  <a:srgbClr val="666666"/>
                </a:solidFill>
                <a:latin typeface="Courier"/>
              </a:rPr>
              <a:t>(</a:t>
            </a:r>
            <a:r>
              <a:rPr sz="1900" dirty="0" err="1">
                <a:latin typeface="Courier"/>
              </a:rPr>
              <a:t>args</a:t>
            </a:r>
            <a:r>
              <a:rPr sz="19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900" dirty="0"/>
            </a:br>
            <a:r>
              <a:rPr sz="1900" dirty="0">
                <a:latin typeface="Courier"/>
              </a:rPr>
              <a:t>    </a:t>
            </a:r>
            <a:r>
              <a:rPr sz="19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900" dirty="0"/>
            </a:br>
            <a:r>
              <a:rPr sz="19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3112-DF26-B2B7-B8C8-974F0E46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05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dirty="0"/>
              <a:t>Interface Options for the Quiz Manager System (</a:t>
            </a:r>
            <a:r>
              <a:rPr lang="en-US" dirty="0" err="1"/>
              <a:t>Cnt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81" y="1586936"/>
            <a:ext cx="10515600" cy="4351338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3. HTML/Web Interface</a:t>
            </a:r>
          </a:p>
          <a:p>
            <a:pPr lvl="1" algn="just"/>
            <a:r>
              <a:rPr b="1" dirty="0"/>
              <a:t>Description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A web-based interface that runs in a browser, using HTML, CSS, and JavaScript.</a:t>
            </a:r>
            <a:endParaRPr lang="en-US" dirty="0"/>
          </a:p>
          <a:p>
            <a:pPr lvl="8" algn="just"/>
            <a:endParaRPr dirty="0"/>
          </a:p>
          <a:p>
            <a:pPr lvl="1" algn="just"/>
            <a:r>
              <a:rPr b="1" dirty="0"/>
              <a:t>Advantages</a:t>
            </a:r>
            <a:endParaRPr dirty="0"/>
          </a:p>
          <a:p>
            <a:pPr lvl="2" algn="just">
              <a:buFont typeface="Wingdings" pitchFamily="2" charset="2"/>
              <a:buChar char="ü"/>
            </a:pPr>
            <a:r>
              <a:rPr dirty="0"/>
              <a:t>Accessible from any device with a browser.</a:t>
            </a:r>
          </a:p>
          <a:p>
            <a:pPr lvl="2" algn="just">
              <a:buFont typeface="Wingdings" pitchFamily="2" charset="2"/>
              <a:buChar char="ü"/>
            </a:pPr>
            <a:r>
              <a:rPr dirty="0"/>
              <a:t>Can be styled and customized extensively.</a:t>
            </a:r>
          </a:p>
          <a:p>
            <a:pPr lvl="2" algn="just">
              <a:buFont typeface="Wingdings" pitchFamily="2" charset="2"/>
              <a:buChar char="ü"/>
            </a:pPr>
            <a:r>
              <a:rPr dirty="0"/>
              <a:t>Supports integration with other web-based tools and services.</a:t>
            </a:r>
            <a:endParaRPr lang="en-US" dirty="0"/>
          </a:p>
          <a:p>
            <a:pPr lvl="8" algn="just">
              <a:buFont typeface="Wingdings" pitchFamily="2" charset="2"/>
              <a:buChar char="ü"/>
            </a:pPr>
            <a:endParaRPr dirty="0"/>
          </a:p>
          <a:p>
            <a:pPr lvl="1" algn="just"/>
            <a:r>
              <a:rPr b="1" dirty="0"/>
              <a:t>Challenges</a:t>
            </a:r>
            <a:endParaRPr dirty="0"/>
          </a:p>
          <a:p>
            <a:pPr lvl="2" algn="just">
              <a:buFont typeface="Wingdings" pitchFamily="2" charset="2"/>
              <a:buChar char="ü"/>
            </a:pPr>
            <a:r>
              <a:rPr dirty="0"/>
              <a:t>Requires knowledge of web technologies (HTML, CSS, JavaScript).</a:t>
            </a:r>
          </a:p>
          <a:p>
            <a:pPr lvl="2" algn="just">
              <a:buFont typeface="Wingdings" pitchFamily="2" charset="2"/>
              <a:buChar char="ü"/>
            </a:pPr>
            <a:r>
              <a:rPr dirty="0"/>
              <a:t>Needs a backend server to handle business logic and data storage.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762"/>
            <a:ext cx="10515600" cy="5373433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dirty="0">
                <a:solidFill>
                  <a:srgbClr val="902000"/>
                </a:solidFill>
                <a:latin typeface="Courier"/>
              </a:rPr>
              <a:t>&lt;!DOCTYPE </a:t>
            </a:r>
            <a:r>
              <a:rPr dirty="0">
                <a:latin typeface="Courier"/>
              </a:rPr>
              <a:t>html</a:t>
            </a:r>
            <a:r>
              <a:rPr dirty="0">
                <a:solidFill>
                  <a:srgbClr val="902000"/>
                </a:solidFill>
                <a:latin typeface="Courier"/>
              </a:rPr>
              <a:t>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&lt;html&gt;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&lt;head&gt;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&lt;title&gt;</a:t>
            </a:r>
            <a:r>
              <a:rPr dirty="0">
                <a:latin typeface="Courier"/>
              </a:rPr>
              <a:t>Quiz Manager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&lt;/title&gt;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&lt;/head&gt;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&lt;body&gt;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&lt;h1&gt;</a:t>
            </a:r>
            <a:r>
              <a:rPr dirty="0">
                <a:latin typeface="Courier"/>
              </a:rPr>
              <a:t>Welcome to the Quiz Manager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&lt;/h1&gt;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&lt;button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FF0000"/>
                </a:solidFill>
                <a:latin typeface="Courier"/>
              </a:rPr>
              <a:t>onclick</a:t>
            </a:r>
            <a:r>
              <a:rPr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startQuiz</a:t>
            </a:r>
            <a:r>
              <a:rPr dirty="0">
                <a:solidFill>
                  <a:srgbClr val="4070A0"/>
                </a:solidFill>
                <a:latin typeface="Courier"/>
              </a:rPr>
              <a:t>()"</a:t>
            </a:r>
            <a:r>
              <a:rPr b="1" dirty="0">
                <a:solidFill>
                  <a:srgbClr val="007020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Start Quiz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&lt;/button&gt;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&lt;script&gt;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startQuiz</a:t>
            </a:r>
            <a:r>
              <a:rPr dirty="0">
                <a:latin typeface="Courier"/>
              </a:rPr>
              <a:t>() 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06287E"/>
                </a:solidFill>
                <a:latin typeface="Courier"/>
              </a:rPr>
              <a:t>alert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"Quiz Started!"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}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&lt;/script&gt;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&lt;/body&gt;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&lt;/html&gt;</a:t>
            </a:r>
          </a:p>
          <a:p>
            <a:pPr marL="0" lvl="0" indent="0">
              <a:buNone/>
            </a:pPr>
            <a:r>
              <a:rPr dirty="0"/>
              <a:t>But we would need to be able to </a:t>
            </a:r>
            <a:r>
              <a:rPr dirty="0">
                <a:latin typeface="Courier"/>
              </a:rPr>
              <a:t>serve</a:t>
            </a:r>
            <a:r>
              <a:rPr dirty="0"/>
              <a:t> this file to a client.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F8E51-355C-3041-15AA-66583889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05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dirty="0"/>
              <a:t>3. HTML</a:t>
            </a:r>
            <a:r>
              <a:rPr lang="en-US"/>
              <a:t>/Web Interface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664"/>
            <a:ext cx="10515600" cy="619813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A very quick and dirty way to serve a file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java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b="1" dirty="0">
                <a:solidFill>
                  <a:srgbClr val="008000"/>
                </a:solidFill>
                <a:latin typeface="Courier"/>
              </a:rPr>
              <a:t>io</a:t>
            </a:r>
            <a:r>
              <a:rPr dirty="0">
                <a:solidFill>
                  <a:srgbClr val="666666"/>
                </a:solidFill>
                <a:latin typeface="Courier"/>
              </a:rPr>
              <a:t>.*;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net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ServerSocket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net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Socket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SimpleWebServer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//first let's have a utility method to read a file, returning its content as a string or returning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//HTML error message if the file is not found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static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readFile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08000"/>
                </a:solidFill>
                <a:latin typeface="Courier"/>
              </a:rPr>
              <a:t>File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File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file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exists</a:t>
            </a:r>
            <a:r>
              <a:rPr dirty="0">
                <a:solidFill>
                  <a:srgbClr val="666666"/>
                </a:solidFill>
                <a:latin typeface="Courier"/>
              </a:rPr>
              <a:t>())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try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fileReader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FileReader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file</a:t>
            </a:r>
            <a:r>
              <a:rPr dirty="0">
                <a:solidFill>
                  <a:srgbClr val="666666"/>
                </a:solidFill>
                <a:latin typeface="Courier"/>
              </a:rPr>
              <a:t>)))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StringBuilder</a:t>
            </a:r>
            <a:r>
              <a:rPr dirty="0">
                <a:latin typeface="Courier"/>
              </a:rPr>
              <a:t> content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StringBuilder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line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while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((</a:t>
            </a:r>
            <a:r>
              <a:rPr dirty="0">
                <a:latin typeface="Courier"/>
              </a:rPr>
              <a:t>line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fileReader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readLine</a:t>
            </a:r>
            <a:r>
              <a:rPr dirty="0">
                <a:solidFill>
                  <a:srgbClr val="666666"/>
                </a:solidFill>
                <a:latin typeface="Courier"/>
              </a:rPr>
              <a:t>())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!=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dirty="0" err="1">
                <a:latin typeface="Courier"/>
              </a:rPr>
              <a:t>content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append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line</a:t>
            </a:r>
            <a:r>
              <a:rPr dirty="0">
                <a:solidFill>
                  <a:srgbClr val="666666"/>
                </a:solidFill>
                <a:latin typeface="Courier"/>
              </a:rPr>
              <a:t>).</a:t>
            </a:r>
            <a:r>
              <a:rPr dirty="0">
                <a:solidFill>
                  <a:srgbClr val="06287E"/>
                </a:solidFill>
                <a:latin typeface="Courier"/>
              </a:rPr>
              <a:t>append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"\n"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content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toString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catch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IOException</a:t>
            </a:r>
            <a:r>
              <a:rPr dirty="0">
                <a:latin typeface="Courier"/>
              </a:rPr>
              <a:t> e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 err="1">
                <a:latin typeface="Courier"/>
              </a:rPr>
              <a:t>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printStackTrace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"&lt;html&gt;&lt;body&gt;&lt;h1&gt;404 Not Found&lt;/h1&gt;&lt;/body&gt;&lt;/html&gt;"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5371"/>
            <a:ext cx="10515600" cy="5750930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//and a simple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utlitity</a:t>
            </a:r>
            <a:r>
              <a:rPr i="1" dirty="0">
                <a:solidFill>
                  <a:srgbClr val="60A0B0"/>
                </a:solidFill>
                <a:latin typeface="Courier"/>
              </a:rPr>
              <a:t> method to serve a file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static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serveFile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PrintWriter</a:t>
            </a:r>
            <a:r>
              <a:rPr dirty="0">
                <a:latin typeface="Courier"/>
              </a:rPr>
              <a:t> out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content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readFile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"HTTP/1.1 200 OK"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"Content-Type: text/html"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"Content-Length: "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content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length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content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8268"/>
            <a:ext cx="10515600" cy="6036088"/>
          </a:xfrm>
        </p:spPr>
        <p:txBody>
          <a:bodyPr>
            <a:normAutofit fontScale="62500" lnSpcReduction="20000"/>
          </a:bodyPr>
          <a:lstStyle/>
          <a:p>
            <a:pPr lvl="0" indent="0">
              <a:buNone/>
            </a:pP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static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main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args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try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ServerSocket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serverSocket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ServerSocket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8080</a:t>
            </a:r>
            <a:r>
              <a:rPr dirty="0">
                <a:solidFill>
                  <a:srgbClr val="666666"/>
                </a:solidFill>
                <a:latin typeface="Courier"/>
              </a:rPr>
              <a:t>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"Server started on port 8080"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while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true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try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latin typeface="Courier"/>
              </a:rPr>
              <a:t>Socket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clientSocket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serverSocket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accept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dirty="0">
                <a:latin typeface="Courier"/>
              </a:rPr>
              <a:t> in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InputStreamReader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clientSocket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getInputStream</a:t>
            </a:r>
            <a:r>
              <a:rPr dirty="0">
                <a:solidFill>
                  <a:srgbClr val="666666"/>
                </a:solidFill>
                <a:latin typeface="Courier"/>
              </a:rPr>
              <a:t>()));</a:t>
            </a:r>
            <a:br>
              <a:rPr dirty="0"/>
            </a:br>
            <a:r>
              <a:rPr dirty="0">
                <a:latin typeface="Courier"/>
              </a:rPr>
              <a:t>         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PrintWriter</a:t>
            </a:r>
            <a:r>
              <a:rPr dirty="0">
                <a:latin typeface="Courier"/>
              </a:rPr>
              <a:t> out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PrintWriter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clientSocket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getOutputStream</a:t>
            </a:r>
            <a:r>
              <a:rPr dirty="0">
                <a:solidFill>
                  <a:srgbClr val="666666"/>
                </a:solidFill>
                <a:latin typeface="Courier"/>
              </a:rPr>
              <a:t>(),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true</a:t>
            </a:r>
            <a:r>
              <a:rPr dirty="0">
                <a:solidFill>
                  <a:srgbClr val="666666"/>
                </a:solidFill>
                <a:latin typeface="Courier"/>
              </a:rPr>
              <a:t>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line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//get the filename to serve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fileName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in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readLine</a:t>
            </a:r>
            <a:r>
              <a:rPr dirty="0">
                <a:solidFill>
                  <a:srgbClr val="666666"/>
                </a:solidFill>
                <a:latin typeface="Courier"/>
              </a:rPr>
              <a:t>().</a:t>
            </a:r>
            <a:r>
              <a:rPr dirty="0">
                <a:solidFill>
                  <a:srgbClr val="06287E"/>
                </a:solidFill>
                <a:latin typeface="Courier"/>
              </a:rPr>
              <a:t>split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 "</a:t>
            </a:r>
            <a:r>
              <a:rPr dirty="0">
                <a:solidFill>
                  <a:srgbClr val="666666"/>
                </a:solidFill>
                <a:latin typeface="Courier"/>
              </a:rPr>
              <a:t>)[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solidFill>
                  <a:srgbClr val="666666"/>
                </a:solidFill>
                <a:latin typeface="Courier"/>
              </a:rPr>
              <a:t>].</a:t>
            </a:r>
            <a:r>
              <a:rPr dirty="0">
                <a:solidFill>
                  <a:srgbClr val="06287E"/>
                </a:solidFill>
                <a:latin typeface="Courier"/>
              </a:rPr>
              <a:t>substring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//read the file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content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readFile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//send the HTTP response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serveFile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out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catch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IOException</a:t>
            </a:r>
            <a:r>
              <a:rPr dirty="0">
                <a:latin typeface="Courier"/>
              </a:rPr>
              <a:t> e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dirty="0" err="1">
                <a:latin typeface="Courier"/>
              </a:rPr>
              <a:t>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printStackTrace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r>
              <a:rPr dirty="0">
                <a:latin typeface="Courier"/>
              </a:rPr>
              <a:t>                    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catch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IOException</a:t>
            </a:r>
            <a:r>
              <a:rPr dirty="0">
                <a:latin typeface="Courier"/>
              </a:rPr>
              <a:t> e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latin typeface="Courier"/>
              </a:rPr>
              <a:t>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printStackTrace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dirty="0"/>
              <a:t>There are </a:t>
            </a:r>
            <a:r>
              <a:rPr b="1" dirty="0"/>
              <a:t>so</a:t>
            </a:r>
            <a:r>
              <a:rPr dirty="0"/>
              <a:t> many things to be improved in this code, but it’s a start.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A3E-5A6C-C6B9-601C-AB3C6FA4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3"/>
            <a:ext cx="10515600" cy="1325563"/>
          </a:xfrm>
        </p:spPr>
        <p:txBody>
          <a:bodyPr/>
          <a:lstStyle/>
          <a:p>
            <a:r>
              <a:rPr lang="en-US" dirty="0"/>
              <a:t>Discussion: Benefits of Multiple Interfaces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20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dirty="0"/>
              <a:t>Why is it beneficial to provide multiple interface options for the Quiz Manager System?</a:t>
            </a:r>
          </a:p>
          <a:p>
            <a:pPr lvl="0" algn="just"/>
            <a:r>
              <a:rPr dirty="0"/>
              <a:t>How would you decide which interface(s) to implement for a specific audience?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Have a minute to think about this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DC4B-B9DE-E3FB-FE6E-4690CA16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3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773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dirty="0"/>
              <a:t>The </a:t>
            </a:r>
            <a:r>
              <a:rPr b="1" dirty="0"/>
              <a:t>Presentation Layer</a:t>
            </a:r>
            <a:r>
              <a:rPr dirty="0"/>
              <a:t> is critical for user interaction and experience.</a:t>
            </a:r>
          </a:p>
          <a:p>
            <a:pPr lvl="0" algn="just"/>
            <a:r>
              <a:rPr dirty="0"/>
              <a:t>Offering </a:t>
            </a:r>
            <a:r>
              <a:rPr b="1" dirty="0"/>
              <a:t>multiple interface options</a:t>
            </a:r>
            <a:r>
              <a:rPr dirty="0"/>
              <a:t> (CLI, GUI, Web) enhances user choice, accessibility, and flexibility.</a:t>
            </a:r>
          </a:p>
          <a:p>
            <a:pPr lvl="0" algn="just"/>
            <a:r>
              <a:rPr dirty="0"/>
              <a:t>By separating the Presentation Layer from the Business Logic and Data Layer, we can easily implement and switch between interfaces without affecting the core functionality of the system.</a:t>
            </a:r>
          </a:p>
          <a:p>
            <a:pPr lvl="0" algn="just"/>
            <a:r>
              <a:rPr dirty="0"/>
              <a:t>Providing multiple interfaces ensures the Quiz Manager System is accessible to a wider audience and adaptable to various use cases.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7446-8FC7-17AB-4BB2-9C53E74E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7B1DC-39D7-43BC-CB4E-74F8BCF2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Design/implement a presentation layer</a:t>
            </a:r>
          </a:p>
          <a:p>
            <a:pPr algn="just"/>
            <a:r>
              <a:rPr lang="en-GB" dirty="0"/>
              <a:t>Consider the benefits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Do NOT FORGET to push code to </a:t>
            </a:r>
            <a:r>
              <a:rPr lang="en-GB" dirty="0">
                <a:hlinkClick r:id="rId3"/>
              </a:rPr>
              <a:t>https://csgitlab.reading.ac.uk</a:t>
            </a:r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Note the spelling.  </a:t>
            </a:r>
            <a:r>
              <a:rPr lang="en-GB" dirty="0" err="1"/>
              <a:t>CSGitLab</a:t>
            </a:r>
            <a:r>
              <a:rPr lang="en-GB" dirty="0"/>
              <a:t> is not gitlab.com nor is it gitlab.act.reading.ac.uk  - you can tell because it is spelt differently!</a:t>
            </a:r>
          </a:p>
        </p:txBody>
      </p:sp>
    </p:spTree>
    <p:extLst>
      <p:ext uri="{BB962C8B-B14F-4D97-AF65-F5344CB8AC3E}">
        <p14:creationId xmlns:p14="http://schemas.microsoft.com/office/powerpoint/2010/main" val="166930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19517</TotalTime>
  <Words>1889</Words>
  <Application>Microsoft Macintosh PowerPoint</Application>
  <PresentationFormat>Widescreen</PresentationFormat>
  <Paragraphs>138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Courier</vt:lpstr>
      <vt:lpstr>Helvetica Neue</vt:lpstr>
      <vt:lpstr>Wingdings</vt:lpstr>
      <vt:lpstr>Office Theme</vt:lpstr>
      <vt:lpstr>CS1OP Week 5</vt:lpstr>
      <vt:lpstr>Objectives- User Interaction and User Interface Design</vt:lpstr>
      <vt:lpstr>Software Layers: An Overview</vt:lpstr>
      <vt:lpstr>Software Layers: Why Use Them?</vt:lpstr>
      <vt:lpstr>The Importance of Multiple Interface Options</vt:lpstr>
      <vt:lpstr>Discussion: Software Layers and User Interaction</vt:lpstr>
      <vt:lpstr>Interface Options for the Quiz Manager System</vt:lpstr>
      <vt:lpstr>1. Command Line Interface (CLI)</vt:lpstr>
      <vt:lpstr>Interface Options for the Quiz Manager System (Cnt.)</vt:lpstr>
      <vt:lpstr>2. Graphical User Interface (GUI)</vt:lpstr>
      <vt:lpstr>Interface Options for the Quiz Manager System (Cnt.)</vt:lpstr>
      <vt:lpstr>3. HTML/Web Interface</vt:lpstr>
      <vt:lpstr>PowerPoint Presentation</vt:lpstr>
      <vt:lpstr>PowerPoint Presentation</vt:lpstr>
      <vt:lpstr>PowerPoint Presentation</vt:lpstr>
      <vt:lpstr>Discussion: Benefits of Multiple Interfaces</vt:lpstr>
      <vt:lpstr>Conclusion</vt:lpstr>
      <vt:lpstr>Lab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CS1OP Week 1</dc:title>
  <dc:creator>2024-12-31</dc:creator>
  <cp:keywords/>
  <cp:lastModifiedBy>Zahra Pooranian</cp:lastModifiedBy>
  <cp:revision>652</cp:revision>
  <dcterms:created xsi:type="dcterms:W3CDTF">2024-12-31T12:02:27Z</dcterms:created>
  <dcterms:modified xsi:type="dcterms:W3CDTF">2026-03-17T12:43:58Z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Author Pat Parslow</vt:lpwstr>
  </property>
</Properties>
</file>