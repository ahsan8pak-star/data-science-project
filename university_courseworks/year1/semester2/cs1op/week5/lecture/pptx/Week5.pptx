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2" r:id="rId2"/>
    <p:sldId id="257" r:id="rId3"/>
    <p:sldId id="258" r:id="rId4"/>
    <p:sldId id="259" r:id="rId5"/>
    <p:sldId id="260" r:id="rId6"/>
    <p:sldId id="284" r:id="rId7"/>
    <p:sldId id="285" r:id="rId8"/>
    <p:sldId id="286" r:id="rId9"/>
    <p:sldId id="287" r:id="rId10"/>
    <p:sldId id="262" r:id="rId11"/>
    <p:sldId id="269" r:id="rId12"/>
    <p:sldId id="270" r:id="rId13"/>
    <p:sldId id="263" r:id="rId14"/>
    <p:sldId id="271" r:id="rId15"/>
    <p:sldId id="264" r:id="rId16"/>
    <p:sldId id="265" r:id="rId17"/>
    <p:sldId id="283" r:id="rId18"/>
    <p:sldId id="267" r:id="rId19"/>
    <p:sldId id="268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78" autoAdjust="0"/>
    <p:restoredTop sz="52061"/>
  </p:normalViewPr>
  <p:slideViewPr>
    <p:cSldViewPr snapToGrid="0">
      <p:cViewPr varScale="1">
        <p:scale>
          <a:sx n="55" d="100"/>
          <a:sy n="55" d="100"/>
        </p:scale>
        <p:origin x="2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21F83-A78E-704A-A72D-C466940AD2B2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E4074-7DA8-F44C-82AA-00C9F620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55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173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040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569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618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F9D3-D141-DF3B-7488-5D0671F28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236A2-692B-7F34-9949-59FE1E755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170A1-637C-9710-FF19-BA5523FC5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06D4E-5450-1305-AEC0-B4FA27A17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623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1171-E430-FB63-830E-ECCCF658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333C1-EEEB-49BC-578A-41E2C99BA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C09FC-F7D0-35D5-0A38-01D8B8D2C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44AE-0758-25BA-B3A0-4966ED867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440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1FC4-3C1C-211A-9486-8291D124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3442F-2DFE-C274-1525-5056F58DA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D9760-79AE-078E-9E2C-F40A4DBC8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76917-685D-3173-64DF-89D5D303B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4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812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829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832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905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Wingdings" pitchFamily="2" charset="2"/>
              <a:buChar char="ü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635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035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04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05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E0DE-0690-CBC7-7223-2F09DAD5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E9BFA-6D3C-2DB6-EA46-FA5DACBA5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DBBE8-7497-FB12-8283-0E9B38947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E0877-A209-6255-AFC7-4EA0E58C3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265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993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930B9-076A-EA49-8CDA-4B7202A7EB4F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193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115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F614D9-4624-E7A0-1531-1474E97EA7B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278" y="54302"/>
            <a:ext cx="1272209" cy="4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CS1OP Week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/>
            </a:br>
            <a:r>
              <a:t>202</a:t>
            </a:r>
            <a:r>
              <a:rPr lang="en-US"/>
              <a:t>6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400" dirty="0"/>
              <a:t>Author</a:t>
            </a:r>
            <a:r>
              <a:rPr lang="en-US" sz="1400" dirty="0"/>
              <a:t>:</a:t>
            </a:r>
            <a:r>
              <a:rPr sz="1400" dirty="0"/>
              <a:t> </a:t>
            </a:r>
            <a:r>
              <a:rPr lang="en-US" sz="1400" dirty="0"/>
              <a:t>Zahra </a:t>
            </a:r>
            <a:r>
              <a:rPr lang="en-US" sz="1400" dirty="0" err="1"/>
              <a:t>Pooranian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5AA1-1F77-D817-CE7A-05F54E2B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Object</a:t>
            </a:r>
            <a:r>
              <a:rPr lang="en-US" dirty="0"/>
              <a:t>ives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dirty="0"/>
              <a:t>Understand the concept of </a:t>
            </a:r>
            <a:r>
              <a:rPr b="1" dirty="0"/>
              <a:t>design patterns</a:t>
            </a:r>
            <a:r>
              <a:rPr dirty="0"/>
              <a:t> and their role in software development.</a:t>
            </a:r>
          </a:p>
          <a:p>
            <a:pPr lvl="0" algn="just"/>
            <a:r>
              <a:rPr dirty="0"/>
              <a:t>Explore common design patterns and their applications.</a:t>
            </a:r>
          </a:p>
          <a:p>
            <a:pPr lvl="0" algn="just"/>
            <a:r>
              <a:rPr dirty="0"/>
              <a:t>Learn how to apply design patterns to the </a:t>
            </a:r>
            <a:r>
              <a:rPr b="1" dirty="0"/>
              <a:t>Quiz Manager System</a:t>
            </a:r>
            <a:r>
              <a:rPr dirty="0"/>
              <a:t>.</a:t>
            </a:r>
          </a:p>
          <a:p>
            <a:pPr lvl="0" algn="just"/>
            <a:r>
              <a:rPr dirty="0"/>
              <a:t>Engage in two discussion sessions to reflect on the use of design patterns in real-world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FCA74D-B55D-515E-F014-F354FDD6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What Are Design Patterns?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661"/>
            <a:ext cx="10805160" cy="4848213"/>
          </a:xfrm>
        </p:spPr>
        <p:txBody>
          <a:bodyPr>
            <a:normAutofit/>
          </a:bodyPr>
          <a:lstStyle/>
          <a:p>
            <a:pPr algn="just"/>
            <a:r>
              <a:rPr b="1" dirty="0"/>
              <a:t>Definition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Design patterns are </a:t>
            </a:r>
            <a:r>
              <a:rPr b="1" dirty="0"/>
              <a:t>proven solutions</a:t>
            </a:r>
            <a:r>
              <a:rPr dirty="0"/>
              <a:t> to common problems in software design.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They provide a </a:t>
            </a:r>
            <a:r>
              <a:rPr b="1" dirty="0"/>
              <a:t>template</a:t>
            </a:r>
            <a:r>
              <a:rPr dirty="0"/>
              <a:t> for solving recurring design challenges.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algn="just"/>
            <a:r>
              <a:rPr b="1" dirty="0"/>
              <a:t>Why Use Design Patterns?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Reusability</a:t>
            </a:r>
            <a:r>
              <a:rPr dirty="0"/>
              <a:t>: Patterns provide reusable solutions that save time and effort.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Scalability</a:t>
            </a:r>
            <a:r>
              <a:rPr dirty="0"/>
              <a:t>: They help design systems that can grow without major redesigns.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Maintainability</a:t>
            </a:r>
            <a:r>
              <a:rPr dirty="0"/>
              <a:t>: Patterns improve code readability and consistency.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Best Practices</a:t>
            </a:r>
            <a:r>
              <a:rPr dirty="0"/>
              <a:t>: They encapsulate industry-standard approaches to common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History of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649"/>
            <a:ext cx="10515600" cy="4760533"/>
          </a:xfrm>
        </p:spPr>
        <p:txBody>
          <a:bodyPr>
            <a:normAutofit fontScale="85000" lnSpcReduction="20000"/>
          </a:bodyPr>
          <a:lstStyle/>
          <a:p>
            <a:pPr lvl="0" algn="just"/>
            <a:r>
              <a:rPr b="1" dirty="0"/>
              <a:t>Origin</a:t>
            </a:r>
            <a:r>
              <a:rPr dirty="0"/>
              <a:t>: Design patterns were popularized by the book “Design Patterns: Elements of Reusable Object-Oriented Software” by the “Gang of Four” (Erich Gamma, Richard Helm, Ralph Johnson, John </a:t>
            </a:r>
            <a:r>
              <a:rPr dirty="0" err="1"/>
              <a:t>Vlissides</a:t>
            </a:r>
            <a:r>
              <a:rPr dirty="0"/>
              <a:t>).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Published</a:t>
            </a:r>
            <a:r>
              <a:rPr dirty="0"/>
              <a:t>: The book was published in 1994 and introduced </a:t>
            </a:r>
            <a:r>
              <a:rPr b="1" dirty="0"/>
              <a:t>23 classic design patterns</a:t>
            </a:r>
            <a:r>
              <a:rPr dirty="0"/>
              <a:t>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Influence</a:t>
            </a:r>
            <a:r>
              <a:rPr dirty="0"/>
              <a:t>: Design patterns have become a cornerstone of modern software engineering.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Evolution</a:t>
            </a:r>
            <a:r>
              <a:rPr dirty="0"/>
              <a:t>: New patterns have been identified and documented over the years.</a:t>
            </a:r>
            <a:endParaRPr lang="en-GB" dirty="0"/>
          </a:p>
          <a:p>
            <a:pPr lvl="8" algn="just"/>
            <a:endParaRPr dirty="0"/>
          </a:p>
          <a:p>
            <a:pPr lvl="0" algn="just"/>
            <a:r>
              <a:rPr b="1" dirty="0"/>
              <a:t>Categories</a:t>
            </a:r>
            <a:r>
              <a:rPr dirty="0"/>
              <a:t>: Patterns are typically grouped into creational, structural, and </a:t>
            </a:r>
            <a:r>
              <a:rPr dirty="0" err="1"/>
              <a:t>behavioural</a:t>
            </a:r>
            <a:r>
              <a:rPr dirty="0"/>
              <a:t>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13AA-772C-ACAB-B7F1-372C8ACE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Categories of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832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b="1" dirty="0"/>
              <a:t>Creational Patterns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Focus on object creation mechanisms.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Examples: Singleton, Factory, Builder.</a:t>
            </a:r>
            <a:endParaRPr lang="en-GB" dirty="0"/>
          </a:p>
          <a:p>
            <a:pPr lvl="8" algn="just">
              <a:buFont typeface="Wingdings" pitchFamily="2" charset="2"/>
              <a:buChar char="ü"/>
            </a:pPr>
            <a:endParaRPr dirty="0"/>
          </a:p>
          <a:p>
            <a:pPr algn="just"/>
            <a:r>
              <a:rPr b="1" dirty="0"/>
              <a:t>Structural Patterns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lang="en-US"/>
              <a:t>Focus on </a:t>
            </a:r>
            <a:r>
              <a:t>composition </a:t>
            </a:r>
            <a:r>
              <a:rPr dirty="0"/>
              <a:t>of classes and objects.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Examples: Adapter, Composite, Decorator.</a:t>
            </a:r>
            <a:endParaRPr lang="en-GB" dirty="0"/>
          </a:p>
          <a:p>
            <a:pPr lvl="8" algn="just">
              <a:buFont typeface="Wingdings" pitchFamily="2" charset="2"/>
              <a:buChar char="ü"/>
            </a:pPr>
            <a:endParaRPr dirty="0"/>
          </a:p>
          <a:p>
            <a:pPr algn="just"/>
            <a:r>
              <a:rPr b="1" dirty="0" err="1"/>
              <a:t>Behavioural</a:t>
            </a:r>
            <a:r>
              <a:rPr b="1" dirty="0"/>
              <a:t> Patterns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Focus on communication between objects.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Examples: Observer, Strategy, Command.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E37B-89B1-3DD1-9FD0-82149EA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A14F-5394-4218-32C5-EFB63F7E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dirty="0"/>
              <a:t>Creational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1BA0-EC28-0C6D-5A25-E6D7A590B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832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b="1" dirty="0"/>
              <a:t>Singleton</a:t>
            </a:r>
            <a:r>
              <a:rPr lang="en-GB" b="1" dirty="0"/>
              <a:t>: </a:t>
            </a:r>
            <a:r>
              <a:rPr lang="en-GB" dirty="0"/>
              <a:t>A Singleton ensures that only one instance of a class exists in the entire system.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Database connection</a:t>
            </a:r>
          </a:p>
          <a:p>
            <a:pPr lvl="8" algn="just">
              <a:buFont typeface="Wingdings" pitchFamily="2" charset="2"/>
              <a:buChar char="ü"/>
            </a:pPr>
            <a:endParaRPr lang="en-US" dirty="0"/>
          </a:p>
          <a:p>
            <a:pPr algn="just"/>
            <a:r>
              <a:rPr b="1" dirty="0"/>
              <a:t>Factory</a:t>
            </a:r>
            <a:r>
              <a:rPr lang="en-GB" b="1" dirty="0"/>
              <a:t>: </a:t>
            </a:r>
            <a:r>
              <a:rPr lang="en-GB" dirty="0"/>
              <a:t>A Factory creates objects without exposing the exact creation logic.</a:t>
            </a:r>
            <a:endParaRPr lang="en-US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Payment method creation</a:t>
            </a:r>
          </a:p>
          <a:p>
            <a:pPr lvl="8" algn="just">
              <a:buFont typeface="Wingdings" pitchFamily="2" charset="2"/>
              <a:buChar char="ü"/>
            </a:pPr>
            <a:endParaRPr lang="en-US" b="1" dirty="0"/>
          </a:p>
          <a:p>
            <a:pPr algn="just"/>
            <a:r>
              <a:rPr b="1" dirty="0"/>
              <a:t>Builder</a:t>
            </a:r>
            <a:r>
              <a:rPr lang="en-GB" b="1" dirty="0"/>
              <a:t>: </a:t>
            </a:r>
            <a:r>
              <a:rPr lang="en-GB" dirty="0"/>
              <a:t>The Builder pattern is used when an object is complex and built step by step.</a:t>
            </a:r>
            <a:endParaRPr lang="en-US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User profile creation</a:t>
            </a:r>
          </a:p>
          <a:p>
            <a:pPr lvl="1" algn="just">
              <a:buFont typeface="Wingdings" pitchFamily="2" charset="2"/>
              <a:buChar char="ü"/>
            </a:pPr>
            <a:endParaRPr lang="en-US" dirty="0"/>
          </a:p>
          <a:p>
            <a:pPr algn="just"/>
            <a:endParaRPr lang="en-GB" b="1" dirty="0"/>
          </a:p>
          <a:p>
            <a:pPr lvl="8" algn="just">
              <a:buFont typeface="Wingdings" pitchFamily="2" charset="2"/>
              <a:buChar char="ü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09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DE3F-A566-CE99-7CAE-0DB56EC3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58C2-2DEA-28F3-9B5A-1B2983C6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dirty="0"/>
              <a:t>Structural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9FCAD-D4C3-DD5E-5AD8-9AC63FCF7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832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b="1" dirty="0"/>
              <a:t>Adapter: </a:t>
            </a:r>
            <a:r>
              <a:rPr lang="en-US" dirty="0"/>
              <a:t>An Adapter allows two incompatible interfaces to work together.</a:t>
            </a:r>
            <a:endParaRPr lang="en-GB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Travel plug adapter</a:t>
            </a:r>
            <a:r>
              <a:rPr lang="en-US" dirty="0"/>
              <a:t>.</a:t>
            </a:r>
            <a:endParaRPr lang="en-US" b="1" dirty="0"/>
          </a:p>
          <a:p>
            <a:pPr lvl="8" algn="just">
              <a:buFont typeface="Wingdings" pitchFamily="2" charset="2"/>
              <a:buChar char="ü"/>
            </a:pPr>
            <a:endParaRPr lang="en-US" dirty="0"/>
          </a:p>
          <a:p>
            <a:pPr algn="just"/>
            <a:r>
              <a:rPr lang="en-GB" b="1" dirty="0"/>
              <a:t>Composite: </a:t>
            </a:r>
            <a:r>
              <a:rPr lang="en-GB" dirty="0"/>
              <a:t>The Composite pattern lets you treat individual objects and groups of objects in the same way.</a:t>
            </a:r>
            <a:endParaRPr lang="en-US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File system folders</a:t>
            </a:r>
            <a:r>
              <a:rPr lang="en-US" dirty="0"/>
              <a:t>.</a:t>
            </a:r>
            <a:endParaRPr lang="en-US" b="1" dirty="0"/>
          </a:p>
          <a:p>
            <a:pPr lvl="8" algn="just">
              <a:buFont typeface="Wingdings" pitchFamily="2" charset="2"/>
              <a:buChar char="ü"/>
            </a:pPr>
            <a:endParaRPr lang="en-US" b="1" dirty="0"/>
          </a:p>
          <a:p>
            <a:pPr algn="just"/>
            <a:r>
              <a:rPr lang="en-GB" b="1" dirty="0"/>
              <a:t>Decorator: </a:t>
            </a:r>
            <a:r>
              <a:rPr lang="en-GB" dirty="0"/>
              <a:t>The Decorator pattern adds new functionality to an object dynamically without modifying the original class.</a:t>
            </a:r>
            <a:endParaRPr lang="en-US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Coffee with toppings.</a:t>
            </a:r>
          </a:p>
          <a:p>
            <a:pPr lvl="1" algn="just">
              <a:buFont typeface="Wingdings" pitchFamily="2" charset="2"/>
              <a:buChar char="ü"/>
            </a:pPr>
            <a:endParaRPr lang="en-US" dirty="0"/>
          </a:p>
          <a:p>
            <a:pPr algn="just"/>
            <a:endParaRPr lang="en-GB" b="1" dirty="0"/>
          </a:p>
          <a:p>
            <a:pPr lvl="8" algn="just">
              <a:buFont typeface="Wingdings" pitchFamily="2" charset="2"/>
              <a:buChar char="ü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581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33A11-D3F9-CA99-AF3A-E9D72387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C6C8-F09E-D2E9-33ED-40D8453B1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dirty="0" err="1"/>
              <a:t>Behavioural</a:t>
            </a:r>
            <a:r>
              <a:rPr lang="en-US" b="1" dirty="0"/>
              <a:t>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7A802-31BD-D863-B529-B67C26809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832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b="1" dirty="0"/>
              <a:t>Observer: </a:t>
            </a:r>
            <a:r>
              <a:rPr lang="en-GB" dirty="0"/>
              <a:t>The Observer pattern allows an object to notify multiple other objects automatically when its state changes</a:t>
            </a:r>
            <a:r>
              <a:rPr lang="en-US" dirty="0"/>
              <a:t>.</a:t>
            </a:r>
            <a:endParaRPr lang="en-GB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YouTube notifications</a:t>
            </a:r>
            <a:r>
              <a:rPr lang="en-US" dirty="0"/>
              <a:t>.</a:t>
            </a:r>
            <a:endParaRPr lang="en-US" b="1" dirty="0"/>
          </a:p>
          <a:p>
            <a:pPr lvl="8" algn="just">
              <a:buFont typeface="Wingdings" pitchFamily="2" charset="2"/>
              <a:buChar char="ü"/>
            </a:pPr>
            <a:endParaRPr lang="en-US" dirty="0"/>
          </a:p>
          <a:p>
            <a:pPr algn="just"/>
            <a:r>
              <a:rPr lang="en-GB" b="1" dirty="0"/>
              <a:t>Strategy: </a:t>
            </a:r>
            <a:r>
              <a:rPr lang="en-GB" dirty="0"/>
              <a:t>The Strategy pattern allows a program to choose between different algorithms at runtime.</a:t>
            </a:r>
            <a:endParaRPr lang="en-US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Google Maps route selection</a:t>
            </a:r>
            <a:r>
              <a:rPr lang="en-US" dirty="0"/>
              <a:t>.</a:t>
            </a:r>
            <a:endParaRPr lang="en-US" b="1" dirty="0"/>
          </a:p>
          <a:p>
            <a:pPr lvl="8" algn="just">
              <a:buFont typeface="Wingdings" pitchFamily="2" charset="2"/>
              <a:buChar char="ü"/>
            </a:pPr>
            <a:endParaRPr lang="en-US" b="1" dirty="0"/>
          </a:p>
          <a:p>
            <a:pPr algn="just"/>
            <a:r>
              <a:rPr lang="en-GB" b="1" dirty="0"/>
              <a:t>Command</a:t>
            </a:r>
            <a:r>
              <a:rPr lang="en-GB" dirty="0"/>
              <a:t>: The Command pattern turns a request into an object so that it can be stored, queued, logged, undone.</a:t>
            </a:r>
            <a:endParaRPr lang="en-US" dirty="0"/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Example: </a:t>
            </a:r>
            <a:r>
              <a:rPr lang="en-US" b="1" dirty="0"/>
              <a:t>TV remote control</a:t>
            </a:r>
            <a:r>
              <a:rPr lang="en-US" dirty="0"/>
              <a:t>.</a:t>
            </a:r>
            <a:endParaRPr lang="en-US" b="1" dirty="0"/>
          </a:p>
          <a:p>
            <a:pPr lvl="1" algn="just">
              <a:buFont typeface="Wingdings" pitchFamily="2" charset="2"/>
              <a:buChar char="ü"/>
            </a:pPr>
            <a:endParaRPr lang="en-US" dirty="0"/>
          </a:p>
          <a:p>
            <a:pPr algn="just"/>
            <a:endParaRPr lang="en-GB" b="1" dirty="0"/>
          </a:p>
          <a:p>
            <a:pPr lvl="8" algn="just">
              <a:buFont typeface="Wingdings" pitchFamily="2" charset="2"/>
              <a:buChar char="ü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532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76" y="436601"/>
            <a:ext cx="5257800" cy="4642783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Applying Design Patterns to the Quiz Manager System</a:t>
            </a:r>
          </a:p>
          <a:p>
            <a:pPr algn="just">
              <a:spcBef>
                <a:spcPts val="3000"/>
              </a:spcBef>
            </a:pPr>
            <a:r>
              <a:rPr b="1" dirty="0"/>
              <a:t>Singleton Pattern (Creational)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Problem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The </a:t>
            </a:r>
            <a:r>
              <a:rPr dirty="0" err="1">
                <a:latin typeface="Courier"/>
              </a:rPr>
              <a:t>DataLayer</a:t>
            </a:r>
            <a:r>
              <a:rPr dirty="0"/>
              <a:t> class should have a single instance to manage data across the system.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Solution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Use the Singleton pattern to ensure only one instance of </a:t>
            </a:r>
            <a:r>
              <a:rPr dirty="0" err="1">
                <a:latin typeface="Courier"/>
              </a:rPr>
              <a:t>DataLayer</a:t>
            </a:r>
            <a:r>
              <a:rPr dirty="0"/>
              <a:t> exists.</a:t>
            </a:r>
          </a:p>
          <a:p>
            <a:pPr lvl="1" algn="just">
              <a:buFont typeface="Wingdings" pitchFamily="2" charset="2"/>
              <a:buChar char="ü"/>
            </a:pPr>
            <a:r>
              <a:rPr lang="en-GB" b="1" dirty="0"/>
              <a:t>Benefits</a:t>
            </a:r>
            <a:endParaRPr lang="en-GB" dirty="0"/>
          </a:p>
          <a:p>
            <a:pPr lvl="2" algn="just">
              <a:lnSpc>
                <a:spcPts val="1425"/>
              </a:lnSpc>
              <a:buFont typeface="Courier New" panose="02070309020205020404" pitchFamily="49" charset="0"/>
              <a:buChar char="o"/>
            </a:pPr>
            <a:r>
              <a:rPr lang="en-GB" sz="2100" dirty="0"/>
              <a:t>Ensures a single, consistent data source.</a:t>
            </a:r>
          </a:p>
          <a:p>
            <a:pPr lvl="2" algn="just">
              <a:lnSpc>
                <a:spcPts val="1425"/>
              </a:lnSpc>
              <a:buFont typeface="Courier New" panose="02070309020205020404" pitchFamily="49" charset="0"/>
              <a:buChar char="o"/>
            </a:pPr>
            <a:r>
              <a:rPr lang="en-GB" sz="2100" dirty="0"/>
              <a:t>Reduces memory usage by avoiding multiple instances.</a:t>
            </a:r>
            <a:endParaRPr lang="en-GB" dirty="0"/>
          </a:p>
          <a:p>
            <a:pPr lvl="0" algn="just"/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BC4C0-D305-FEA7-6BDB-AFD76FD3A048}"/>
              </a:ext>
            </a:extLst>
          </p:cNvPr>
          <p:cNvSpPr txBox="1"/>
          <p:nvPr/>
        </p:nvSpPr>
        <p:spPr>
          <a:xfrm>
            <a:off x="5917363" y="416281"/>
            <a:ext cx="6112571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indent="0">
              <a:buNone/>
            </a:pP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DataLayer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static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DataLayer</a:t>
            </a:r>
            <a:r>
              <a:rPr lang="en-GB" dirty="0">
                <a:latin typeface="Courier"/>
              </a:rPr>
              <a:t> instance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Map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&lt;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dirty="0">
                <a:latin typeface="Courier"/>
              </a:rPr>
              <a:t>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&gt;</a:t>
            </a:r>
            <a:r>
              <a:rPr lang="en-GB" dirty="0">
                <a:latin typeface="Courier"/>
              </a:rPr>
              <a:t> quizzes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DataLayer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quizzes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HashMap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&lt;&gt;();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static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DataLayer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getInstance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if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instance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    instance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DataLayer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lang="en-GB" dirty="0">
                <a:latin typeface="Courier"/>
              </a:rPr>
              <a:t> instance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saveQuiz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Quiz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latin typeface="Courier"/>
              </a:rPr>
              <a:t>quizzes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quiz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(),</a:t>
            </a:r>
            <a:r>
              <a:rPr lang="en-GB" dirty="0">
                <a:latin typeface="Courier"/>
              </a:rPr>
              <a:t>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Quiz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dirty="0">
                <a:latin typeface="Courier"/>
              </a:rPr>
              <a:t> title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quizzes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title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3C507-6721-EB3A-9D1E-C7CB1C81165D}"/>
              </a:ext>
            </a:extLst>
          </p:cNvPr>
          <p:cNvSpPr txBox="1"/>
          <p:nvPr/>
        </p:nvSpPr>
        <p:spPr>
          <a:xfrm>
            <a:off x="255507" y="5242560"/>
            <a:ext cx="5561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indent="0">
              <a:buNone/>
            </a:pPr>
            <a:r>
              <a:rPr lang="en-GB" dirty="0" err="1">
                <a:solidFill>
                  <a:srgbClr val="06287E"/>
                </a:solidFill>
                <a:latin typeface="Courier"/>
              </a:rPr>
              <a:t>DataLayer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 dl = </a:t>
            </a:r>
            <a:r>
              <a:rPr lang="en-GB" dirty="0" err="1">
                <a:latin typeface="Courier"/>
              </a:rPr>
              <a:t>DataLayer.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getInstance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FEA3E-673E-0748-9057-F482649282F4}"/>
              </a:ext>
            </a:extLst>
          </p:cNvPr>
          <p:cNvSpPr txBox="1"/>
          <p:nvPr/>
        </p:nvSpPr>
        <p:spPr>
          <a:xfrm>
            <a:off x="255507" y="5775068"/>
            <a:ext cx="44582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06287E"/>
                </a:solidFill>
                <a:latin typeface="Courier"/>
              </a:rPr>
              <a:t>DataLayer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 d =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  </a:t>
            </a:r>
            <a:r>
              <a:rPr lang="en-GB" dirty="0" err="1">
                <a:latin typeface="Courier"/>
              </a:rPr>
              <a:t>DataLayer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  <a:endParaRPr lang="en-GB" dirty="0">
              <a:solidFill>
                <a:srgbClr val="06287E"/>
              </a:solidFill>
              <a:latin typeface="Courier"/>
            </a:endParaRPr>
          </a:p>
          <a:p>
            <a:pPr lvl="0" indent="0">
              <a:buNone/>
            </a:pPr>
            <a:r>
              <a:rPr lang="en-GB" dirty="0" err="1">
                <a:solidFill>
                  <a:srgbClr val="06287E"/>
                </a:solidFill>
                <a:latin typeface="Courier"/>
              </a:rPr>
              <a:t>DataLayer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 dl = 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d</a:t>
            </a:r>
            <a:r>
              <a:rPr lang="en-GB" dirty="0" err="1"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getInstance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</a:p>
          <a:p>
            <a:r>
              <a:rPr lang="en-GB" dirty="0" err="1">
                <a:solidFill>
                  <a:srgbClr val="06287E"/>
                </a:solidFill>
                <a:latin typeface="Courier"/>
              </a:rPr>
              <a:t>DataLayer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 d2 = 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d</a:t>
            </a:r>
            <a:r>
              <a:rPr lang="en-GB" dirty="0" err="1"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getInstance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A8A2-6004-A57F-9D4B-F4461972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Strategy Pattern (</a:t>
            </a:r>
            <a:r>
              <a:rPr lang="en-US" b="1" dirty="0" err="1"/>
              <a:t>Behavioural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910"/>
            <a:ext cx="9775554" cy="5097966"/>
          </a:xfrm>
        </p:spPr>
        <p:txBody>
          <a:bodyPr>
            <a:normAutofit/>
          </a:bodyPr>
          <a:lstStyle/>
          <a:p>
            <a:pPr algn="just"/>
            <a:r>
              <a:rPr b="1" dirty="0"/>
              <a:t>Problem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The </a:t>
            </a:r>
            <a:r>
              <a:rPr dirty="0" err="1">
                <a:latin typeface="Courier"/>
              </a:rPr>
              <a:t>PresentationLayer</a:t>
            </a:r>
            <a:r>
              <a:rPr dirty="0"/>
              <a:t> needs to support different ways of displaying quizzes (e.g., text-based, graphical).</a:t>
            </a:r>
          </a:p>
          <a:p>
            <a:pPr algn="just"/>
            <a:r>
              <a:rPr b="1" dirty="0"/>
              <a:t>Solution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Use the Strategy pattern to define </a:t>
            </a:r>
            <a:r>
              <a:rPr b="1" dirty="0">
                <a:solidFill>
                  <a:srgbClr val="FF0000"/>
                </a:solidFill>
              </a:rPr>
              <a:t>interchangeable display </a:t>
            </a:r>
            <a:r>
              <a:rPr dirty="0"/>
              <a:t>strategies.</a:t>
            </a:r>
          </a:p>
          <a:p>
            <a:pPr algn="just"/>
            <a:r>
              <a:rPr b="1" dirty="0"/>
              <a:t>Benefits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Allows flexibility in how quizzes are displayed.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Makes it easy to add new display strategies without modifying existing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C8D7E2-02A2-0583-18F2-C90A6ABE71D5}"/>
              </a:ext>
            </a:extLst>
          </p:cNvPr>
          <p:cNvSpPr txBox="1"/>
          <p:nvPr/>
        </p:nvSpPr>
        <p:spPr>
          <a:xfrm>
            <a:off x="646827" y="889124"/>
            <a:ext cx="108983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None/>
            </a:pP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interface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displayQuiz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Quiz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TextDisplayStrategy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implements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displayQuiz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Quiz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"Quiz: "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quiz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for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Question question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quiz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getQuestions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question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getPrompt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GraphicalDisplayStrategy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implements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displayQuiz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Quiz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"Displaying quiz in a graphical interface..."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// Implementation for graphical display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049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672A-89FA-AAA0-6F22-2A1036414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9999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GB" dirty="0"/>
            </a:b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PresentationLayer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PresentationLayer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setDisplayStrategy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this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displayStrategy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r>
              <a:rPr lang="en-GB" dirty="0">
                <a:latin typeface="Courier"/>
              </a:rPr>
              <a:t>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//allows the strategy to be changed at runtime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displayQuiz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Quiz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latin typeface="Courier"/>
              </a:rPr>
              <a:t>displayStrategy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displayQuiz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r>
              <a:rPr lang="en-GB" dirty="0">
                <a:latin typeface="Courier"/>
              </a:rPr>
              <a:t>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//delegates the display to the strategy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439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1392"/>
            <a:ext cx="5807927" cy="5620753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b="1" dirty="0"/>
              <a:t>Observer Pattern (</a:t>
            </a:r>
            <a:r>
              <a:rPr b="1" dirty="0" err="1"/>
              <a:t>Behavioural</a:t>
            </a:r>
            <a:r>
              <a:rPr b="1" dirty="0"/>
              <a:t>)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Problem</a:t>
            </a:r>
            <a:endParaRPr dirty="0"/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The system needs to notify multiple components (e.g., UI, logs) when a quiz is completed.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Solution</a:t>
            </a:r>
            <a:endParaRPr dirty="0"/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Use the Observer pattern to notify observers of quiz completion.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Benefits</a:t>
            </a:r>
            <a:endParaRPr dirty="0"/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Decouples the </a:t>
            </a:r>
            <a:r>
              <a:rPr dirty="0" err="1">
                <a:latin typeface="Courier"/>
              </a:rPr>
              <a:t>QuizManager</a:t>
            </a:r>
            <a:r>
              <a:rPr dirty="0"/>
              <a:t> from specific observer implementations.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Makes it easy to add new observers (e.g., analytics, notifications).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8D74EE-837B-024F-320D-CECCB1F2CD7D}"/>
              </a:ext>
            </a:extLst>
          </p:cNvPr>
          <p:cNvSpPr txBox="1"/>
          <p:nvPr/>
        </p:nvSpPr>
        <p:spPr>
          <a:xfrm>
            <a:off x="5807927" y="965855"/>
            <a:ext cx="652614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indent="0">
              <a:buNone/>
            </a:pPr>
            <a:r>
              <a:rPr lang="en-GB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lang="en-GB" dirty="0">
                <a:latin typeface="Courier"/>
              </a:rPr>
              <a:t> </a:t>
            </a:r>
            <a:r>
              <a:rPr lang="en-GB"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b="1" dirty="0" err="1">
                <a:solidFill>
                  <a:srgbClr val="008000"/>
                </a:solidFill>
                <a:latin typeface="Courier"/>
              </a:rPr>
              <a:t>util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b="1" dirty="0" err="1">
                <a:solidFill>
                  <a:srgbClr val="008000"/>
                </a:solidFill>
                <a:latin typeface="Courier"/>
              </a:rPr>
              <a:t>ArrayList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dirty="0"/>
            </a:br>
            <a:r>
              <a:rPr lang="en-GB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lang="en-GB" dirty="0">
                <a:latin typeface="Courier"/>
              </a:rPr>
              <a:t> </a:t>
            </a:r>
            <a:r>
              <a:rPr lang="en-GB"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b="1" dirty="0" err="1">
                <a:solidFill>
                  <a:srgbClr val="008000"/>
                </a:solidFill>
                <a:latin typeface="Courier"/>
              </a:rPr>
              <a:t>util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b="1" dirty="0" err="1">
                <a:solidFill>
                  <a:srgbClr val="008000"/>
                </a:solidFill>
                <a:latin typeface="Courier"/>
              </a:rPr>
              <a:t>List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dirty="0"/>
            </a:br>
            <a:br>
              <a:rPr lang="en-GB" dirty="0"/>
            </a:b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interface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Observer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update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dirty="0">
                <a:latin typeface="Courier"/>
              </a:rPr>
              <a:t> message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Logger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implements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Observer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update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dirty="0">
                <a:latin typeface="Courier"/>
              </a:rPr>
              <a:t> message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"Log: "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latin typeface="Courier"/>
              </a:rPr>
              <a:t> message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C428-16F6-C008-B561-A123B9C5D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563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QuizManager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List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&lt;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Observer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&gt;</a:t>
            </a:r>
            <a:r>
              <a:rPr lang="en-GB" dirty="0">
                <a:latin typeface="Courier"/>
              </a:rPr>
              <a:t> observers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ArrayList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&lt;&gt;();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addObserver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Observer</a:t>
            </a:r>
            <a:r>
              <a:rPr lang="en-GB" dirty="0">
                <a:latin typeface="Courier"/>
              </a:rPr>
              <a:t> observer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latin typeface="Courier"/>
              </a:rPr>
              <a:t>observers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observer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notifyObservers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dirty="0">
                <a:latin typeface="Courier"/>
              </a:rPr>
              <a:t> message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for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008000"/>
                </a:solidFill>
                <a:latin typeface="Courier"/>
              </a:rPr>
              <a:t>Observer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observer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GB" dirty="0">
                <a:latin typeface="Courier"/>
              </a:rPr>
              <a:t> observers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    </a:t>
            </a:r>
            <a:r>
              <a:rPr lang="en-GB" dirty="0" err="1">
                <a:latin typeface="Courier"/>
              </a:rPr>
              <a:t>observer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update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message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completeQuiz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Quiz quiz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"Quiz completed: "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quiz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dirty="0"/>
            </a:br>
            <a:r>
              <a:rPr lang="en-GB" dirty="0">
                <a:latin typeface="Courier"/>
              </a:rPr>
              <a:t>       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notifyObservers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"Quiz completed: "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quiz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getTitle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dirty="0"/>
            </a:br>
            <a:r>
              <a:rPr lang="en-GB" dirty="0">
                <a:latin typeface="Courier"/>
              </a:rPr>
              <a:t>   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dirty="0"/>
            </a:br>
            <a:r>
              <a:rPr lang="en-GB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433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065A92-4522-DCA3-D700-6B15EAD4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4400" b="1" dirty="0"/>
              <a:t>Discussion Session 1: Choosing the Right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661"/>
            <a:ext cx="10515600" cy="5065006"/>
          </a:xfrm>
        </p:spPr>
        <p:txBody>
          <a:bodyPr>
            <a:noAutofit/>
          </a:bodyPr>
          <a:lstStyle/>
          <a:p>
            <a:pPr lvl="0"/>
            <a:r>
              <a:rPr sz="2100" dirty="0"/>
              <a:t>How do you decide which design pattern to use for a specific problem?</a:t>
            </a:r>
          </a:p>
          <a:p>
            <a:pPr lvl="0"/>
            <a:r>
              <a:rPr sz="2100" dirty="0"/>
              <a:t>Can you think of scenarios where using a design pattern might complicate the design instead of simplifying it?</a:t>
            </a:r>
          </a:p>
          <a:p>
            <a:r>
              <a:rPr sz="2100" b="1" dirty="0"/>
              <a:t>Key Points for Discussion</a:t>
            </a:r>
            <a:endParaRPr sz="2100" dirty="0"/>
          </a:p>
          <a:p>
            <a:pPr marL="914400" lvl="1" indent="-457200">
              <a:buAutoNum type="arabicPeriod"/>
            </a:pPr>
            <a:r>
              <a:rPr sz="2100" b="1" dirty="0"/>
              <a:t>Problem Fit</a:t>
            </a:r>
            <a:r>
              <a:rPr sz="2100" dirty="0"/>
              <a:t>: Patterns should address a specific problem, not be forced into the design.</a:t>
            </a:r>
          </a:p>
          <a:p>
            <a:pPr marL="914400" lvl="1" indent="-457200">
              <a:buAutoNum type="arabicPeriod"/>
            </a:pPr>
            <a:r>
              <a:rPr sz="2100" b="1" dirty="0"/>
              <a:t>Complexity</a:t>
            </a:r>
            <a:r>
              <a:rPr sz="2100" dirty="0"/>
              <a:t>: Overusing patterns can lead to unnecessary complexity.</a:t>
            </a:r>
          </a:p>
          <a:p>
            <a:pPr marL="914400" lvl="1" indent="-457200">
              <a:buAutoNum type="arabicPeriod"/>
            </a:pPr>
            <a:r>
              <a:rPr sz="2100" b="1" dirty="0"/>
              <a:t>Team Understanding</a:t>
            </a:r>
            <a:r>
              <a:rPr sz="2100" dirty="0"/>
              <a:t>: Patterns should be chosen based on the team’s familiarity with them.</a:t>
            </a:r>
          </a:p>
          <a:p>
            <a:pPr lvl="0">
              <a:spcBef>
                <a:spcPts val="3000"/>
              </a:spcBef>
              <a:buFont typeface="Wingdings" pitchFamily="2" charset="2"/>
              <a:buChar char="ü"/>
            </a:pPr>
            <a:r>
              <a:rPr sz="2100" b="1" dirty="0"/>
              <a:t>Have a minute to think about this</a:t>
            </a:r>
          </a:p>
          <a:p>
            <a:pPr lvl="0">
              <a:spcBef>
                <a:spcPts val="3000"/>
              </a:spcBef>
              <a:buFont typeface="Wingdings" pitchFamily="2" charset="2"/>
              <a:buChar char="ü"/>
            </a:pPr>
            <a:r>
              <a:rPr sz="2100" b="1" dirty="0"/>
              <a:t>Discuss with your </a:t>
            </a:r>
            <a:r>
              <a:rPr sz="2100" b="1" dirty="0" err="1"/>
              <a:t>neighbour</a:t>
            </a:r>
            <a:r>
              <a:rPr sz="2100" b="1" dirty="0"/>
              <a:t> for 5 minutes</a:t>
            </a:r>
          </a:p>
          <a:p>
            <a:pPr lvl="0">
              <a:spcBef>
                <a:spcPts val="3000"/>
              </a:spcBef>
              <a:buFont typeface="Wingdings" pitchFamily="2" charset="2"/>
              <a:buChar char="ü"/>
            </a:pPr>
            <a:r>
              <a:rPr sz="2100"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ECA2-E976-2E0D-213F-928BB360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Real-World Applications of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3000"/>
              </a:spcBef>
            </a:pPr>
            <a:r>
              <a:rPr b="1" dirty="0"/>
              <a:t>Example 1: Text Adventure Game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Pattern</a:t>
            </a:r>
            <a:r>
              <a:rPr dirty="0"/>
              <a:t>: Strategy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Use Case</a:t>
            </a:r>
            <a:r>
              <a:rPr dirty="0"/>
              <a:t>: Use different strategies to display puzzles (e.g., text-based for console games, graphical for desktop games).</a:t>
            </a:r>
          </a:p>
          <a:p>
            <a:pPr>
              <a:spcBef>
                <a:spcPts val="3000"/>
              </a:spcBef>
            </a:pPr>
            <a:r>
              <a:rPr b="1" dirty="0"/>
              <a:t>Example 2: Data Science Application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Pattern</a:t>
            </a:r>
            <a:r>
              <a:rPr dirty="0"/>
              <a:t>: Singleton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Use Case</a:t>
            </a:r>
            <a:r>
              <a:rPr dirty="0"/>
              <a:t>: Ensure a single instance of the data layer to manage survey data.</a:t>
            </a:r>
          </a:p>
          <a:p>
            <a:pPr>
              <a:spcBef>
                <a:spcPts val="3000"/>
              </a:spcBef>
            </a:pPr>
            <a:r>
              <a:rPr b="1" dirty="0"/>
              <a:t>Example 3: Business Application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Pattern</a:t>
            </a:r>
            <a:r>
              <a:rPr dirty="0"/>
              <a:t>: Observer</a:t>
            </a:r>
          </a:p>
          <a:p>
            <a:pPr lvl="1">
              <a:buFont typeface="Wingdings" pitchFamily="2" charset="2"/>
              <a:buChar char="ü"/>
            </a:pPr>
            <a:r>
              <a:rPr b="1" dirty="0"/>
              <a:t>Use Case</a:t>
            </a:r>
            <a:r>
              <a:rPr dirty="0"/>
              <a:t>: Notify HR and training logs when an employee completes a training quiz.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5F15-D9AF-5B72-43A7-B9A253C7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3B610F-428A-8E08-9CBC-E9445480F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4400" b="1" dirty="0"/>
              <a:t>Discussion Session 2: Desing Patterns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6C2E-111A-F4FC-150C-5073D10A5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661"/>
            <a:ext cx="10515600" cy="5065006"/>
          </a:xfrm>
        </p:spPr>
        <p:txBody>
          <a:bodyPr>
            <a:noAutofit/>
          </a:bodyPr>
          <a:lstStyle/>
          <a:p>
            <a:pPr lvl="0"/>
            <a:r>
              <a:rPr lang="en-US" sz="2400" dirty="0"/>
              <a:t>Share examples of design patterns you’ve encountered in real-world projects.</a:t>
            </a:r>
          </a:p>
          <a:p>
            <a:pPr lvl="0"/>
            <a:r>
              <a:rPr lang="en-US" sz="2400" dirty="0"/>
              <a:t>What challenges did you face when implementing these patterns?</a:t>
            </a:r>
          </a:p>
          <a:p>
            <a:r>
              <a:rPr lang="en-US" sz="2400" b="1" dirty="0"/>
              <a:t>Key Points for Discussion</a:t>
            </a:r>
            <a:r>
              <a:rPr lang="en-US" sz="2400" dirty="0"/>
              <a:t>:</a:t>
            </a:r>
          </a:p>
          <a:p>
            <a:pPr marL="914400" lvl="1" indent="-457200">
              <a:buAutoNum type="arabicPeriod"/>
            </a:pPr>
            <a:r>
              <a:rPr lang="en-US" sz="2000" b="1" dirty="0"/>
              <a:t>Adaptability</a:t>
            </a:r>
            <a:r>
              <a:rPr lang="en-US" sz="2000" dirty="0"/>
              <a:t>: Patterns often need to be adapted to fit specific use cases.</a:t>
            </a:r>
          </a:p>
          <a:p>
            <a:pPr marL="914400" lvl="1" indent="-457200">
              <a:buAutoNum type="arabicPeriod"/>
            </a:pPr>
            <a:r>
              <a:rPr lang="en-US" sz="2000" b="1" dirty="0"/>
              <a:t>Learning Curve</a:t>
            </a:r>
            <a:r>
              <a:rPr lang="en-US" sz="2000" dirty="0"/>
              <a:t>: Some patterns (e.g., Observer, Factory) can be difficult to understand initially.</a:t>
            </a:r>
          </a:p>
          <a:p>
            <a:pPr marL="914400" lvl="1" indent="-457200">
              <a:buAutoNum type="arabicPeriod"/>
            </a:pPr>
            <a:r>
              <a:rPr lang="en-US" sz="2000" b="1" dirty="0"/>
              <a:t>Collaboration</a:t>
            </a:r>
            <a:r>
              <a:rPr lang="en-US" sz="2000" dirty="0"/>
              <a:t>: Patterns improve collaboration by providing a shared vocabulary for design.</a:t>
            </a:r>
          </a:p>
          <a:p>
            <a:pPr lvl="0">
              <a:spcBef>
                <a:spcPts val="3000"/>
              </a:spcBef>
              <a:buFont typeface="Wingdings" pitchFamily="2" charset="2"/>
              <a:buChar char="ü"/>
            </a:pPr>
            <a:r>
              <a:rPr sz="2100" b="1" dirty="0"/>
              <a:t>Have a minute to think about this</a:t>
            </a:r>
          </a:p>
          <a:p>
            <a:pPr lvl="0">
              <a:spcBef>
                <a:spcPts val="3000"/>
              </a:spcBef>
              <a:buFont typeface="Wingdings" pitchFamily="2" charset="2"/>
              <a:buChar char="ü"/>
            </a:pPr>
            <a:r>
              <a:rPr sz="2100" b="1" dirty="0"/>
              <a:t>Discuss with your </a:t>
            </a:r>
            <a:r>
              <a:rPr sz="2100" b="1" dirty="0" err="1"/>
              <a:t>neighbour</a:t>
            </a:r>
            <a:r>
              <a:rPr sz="2100" b="1" dirty="0"/>
              <a:t> for 5 minutes</a:t>
            </a:r>
          </a:p>
          <a:p>
            <a:pPr lvl="0">
              <a:spcBef>
                <a:spcPts val="3000"/>
              </a:spcBef>
              <a:buFont typeface="Wingdings" pitchFamily="2" charset="2"/>
              <a:buChar char="ü"/>
            </a:pPr>
            <a:r>
              <a:rPr sz="2100" b="1" dirty="0"/>
              <a:t>Then I will ask for ideas from the class</a:t>
            </a:r>
          </a:p>
        </p:txBody>
      </p:sp>
    </p:spTree>
    <p:extLst>
      <p:ext uri="{BB962C8B-B14F-4D97-AF65-F5344CB8AC3E}">
        <p14:creationId xmlns:p14="http://schemas.microsoft.com/office/powerpoint/2010/main" val="1275642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CA5A-DCD2-3F0B-6513-1CE84761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Avoid over-engineering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Design patterns are tools, not goals</a:t>
            </a:r>
            <a:r>
              <a:rPr dirty="0"/>
              <a:t>.</a:t>
            </a:r>
          </a:p>
          <a:p>
            <a:pPr lvl="0" algn="just"/>
            <a:r>
              <a:rPr b="1" dirty="0"/>
              <a:t>Simplicity is key</a:t>
            </a:r>
            <a:r>
              <a:rPr dirty="0"/>
              <a:t>.</a:t>
            </a:r>
          </a:p>
          <a:p>
            <a:pPr lvl="0" algn="just"/>
            <a:r>
              <a:rPr b="1" dirty="0"/>
              <a:t>Use patterns judiciously</a:t>
            </a:r>
            <a:r>
              <a:rPr dirty="0"/>
              <a:t>.</a:t>
            </a:r>
          </a:p>
          <a:p>
            <a:pPr lvl="0" algn="just"/>
            <a:r>
              <a:rPr b="1" dirty="0"/>
              <a:t>Focus on solving the problem at hand</a:t>
            </a:r>
            <a:r>
              <a:rPr dirty="0"/>
              <a:t>.</a:t>
            </a:r>
          </a:p>
          <a:p>
            <a:pPr lvl="0" algn="just"/>
            <a:r>
              <a:rPr dirty="0"/>
              <a:t>It is often best to start with a simple design and refactor as needed.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0A7C-D0E0-8CF5-033A-363E339B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Design patterns provide reusable solutions to common design problems.</a:t>
            </a:r>
          </a:p>
          <a:p>
            <a:pPr lvl="0" algn="just"/>
            <a:r>
              <a:rPr dirty="0"/>
              <a:t>Patterns like Singleton, Strategy, and Observer can enhance the flexibility and scalability of the Quiz Manager System.</a:t>
            </a:r>
          </a:p>
          <a:p>
            <a:pPr lvl="0" algn="just"/>
            <a:r>
              <a:rPr dirty="0"/>
              <a:t>Understanding when and how to use design patterns is key to building maintainable and efficient software.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7446-8FC7-17AB-4BB2-9C53E74E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</a:t>
            </a:r>
            <a:r>
              <a:rPr lang="en-US" dirty="0"/>
              <a:t>Activity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7B1DC-39D7-43BC-CB4E-74F8BCF2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lang="en-US" b="1" dirty="0"/>
              <a:t>This week’s lab activity will focus on</a:t>
            </a:r>
          </a:p>
          <a:p>
            <a:pPr lvl="1" algn="just">
              <a:spcBef>
                <a:spcPts val="3000"/>
              </a:spcBef>
              <a:buFont typeface="Wingdings" pitchFamily="2" charset="2"/>
              <a:buChar char="ü"/>
            </a:pPr>
            <a:r>
              <a:rPr lang="en-US" dirty="0"/>
              <a:t>Applying  Design Patterns in the Quiz Manager System</a:t>
            </a:r>
          </a:p>
        </p:txBody>
      </p:sp>
    </p:spTree>
    <p:extLst>
      <p:ext uri="{BB962C8B-B14F-4D97-AF65-F5344CB8AC3E}">
        <p14:creationId xmlns:p14="http://schemas.microsoft.com/office/powerpoint/2010/main" val="166930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19846</TotalTime>
  <Words>1679</Words>
  <Application>Microsoft Macintosh PowerPoint</Application>
  <PresentationFormat>Widescreen</PresentationFormat>
  <Paragraphs>166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Courier</vt:lpstr>
      <vt:lpstr>Courier New</vt:lpstr>
      <vt:lpstr>Wingdings</vt:lpstr>
      <vt:lpstr>Office Theme</vt:lpstr>
      <vt:lpstr>CS1OP Week 4</vt:lpstr>
      <vt:lpstr>Objectives</vt:lpstr>
      <vt:lpstr>What Are Design Patterns?</vt:lpstr>
      <vt:lpstr>History of Design Patterns</vt:lpstr>
      <vt:lpstr>Categories of Design Patterns</vt:lpstr>
      <vt:lpstr>Creational Patterns</vt:lpstr>
      <vt:lpstr>Structural Patterns</vt:lpstr>
      <vt:lpstr>Behavioural Patterns</vt:lpstr>
      <vt:lpstr>PowerPoint Presentation</vt:lpstr>
      <vt:lpstr>Strategy Pattern (Behavioural)</vt:lpstr>
      <vt:lpstr>PowerPoint Presentation</vt:lpstr>
      <vt:lpstr>PowerPoint Presentation</vt:lpstr>
      <vt:lpstr>PowerPoint Presentation</vt:lpstr>
      <vt:lpstr>PowerPoint Presentation</vt:lpstr>
      <vt:lpstr>Discussion Session 1: Choosing the Right Pattern</vt:lpstr>
      <vt:lpstr>Real-World Applications of Design Patterns</vt:lpstr>
      <vt:lpstr>Discussion Session 2: Desing Patterns in Practice</vt:lpstr>
      <vt:lpstr>Avoid over-engineering</vt:lpstr>
      <vt:lpstr>Summary</vt:lpstr>
      <vt:lpstr>Lab Activity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CS1OP Week 1</dc:title>
  <dc:creator>2024-12-31</dc:creator>
  <cp:keywords/>
  <cp:lastModifiedBy>Zahra Pooranian</cp:lastModifiedBy>
  <cp:revision>710</cp:revision>
  <dcterms:created xsi:type="dcterms:W3CDTF">2024-12-31T12:02:27Z</dcterms:created>
  <dcterms:modified xsi:type="dcterms:W3CDTF">2026-03-10T13:33:09Z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Author Pat Parslow</vt:lpwstr>
  </property>
</Properties>
</file>