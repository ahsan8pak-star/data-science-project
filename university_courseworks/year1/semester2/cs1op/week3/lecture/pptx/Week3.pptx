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0" r:id="rId22"/>
    <p:sldId id="281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62" autoAdjust="0"/>
    <p:restoredTop sz="66107"/>
  </p:normalViewPr>
  <p:slideViewPr>
    <p:cSldViewPr snapToGrid="0">
      <p:cViewPr varScale="1">
        <p:scale>
          <a:sx n="72" d="100"/>
          <a:sy n="72" d="100"/>
        </p:scale>
        <p:origin x="1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21F83-A78E-704A-A72D-C466940AD2B2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E4074-7DA8-F44C-82AA-00C9F620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55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364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560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011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18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Wingdings" pitchFamily="2" charset="2"/>
              <a:buChar char="ü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025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824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110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089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405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5C25-6827-53C5-77BA-485060269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65F1B-63C9-F163-88E6-94D3FCAA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262FC-D297-2E96-04A2-A90E95C4F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3B38D-3472-E4B2-5004-84FE097EF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14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65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77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Wingdings" pitchFamily="2" charset="2"/>
              <a:buChar char="ü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613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92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500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235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600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7625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09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393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570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822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0490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F8FE-02D4-AD4F-B261-7B4D3A8F1FD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009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F614D9-4624-E7A0-1531-1474E97EA7B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8" y="54302"/>
            <a:ext cx="1272209" cy="4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CS1OP Week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71304"/>
            <a:ext cx="9144000" cy="1655762"/>
          </a:xfrm>
        </p:spPr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/>
              <a:t>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400" dirty="0"/>
              <a:t>Author</a:t>
            </a:r>
            <a:r>
              <a:rPr lang="en-US" sz="1400" dirty="0"/>
              <a:t>:</a:t>
            </a:r>
            <a:r>
              <a:rPr sz="1400" dirty="0"/>
              <a:t> </a:t>
            </a:r>
            <a:r>
              <a:rPr lang="en-US" sz="1400" dirty="0"/>
              <a:t>Zahra </a:t>
            </a:r>
            <a:r>
              <a:rPr lang="en-US" sz="1400" dirty="0" err="1"/>
              <a:t>Pooranian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21D7-936C-5648-D86A-2844DD48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Access Modifiers in Java and Their Role in Inheritance and Composition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spcBef>
                <a:spcPts val="3000"/>
              </a:spcBef>
            </a:pPr>
            <a:r>
              <a:rPr b="1" dirty="0"/>
              <a:t>Objectives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Understand the four access modifiers in Java: </a:t>
            </a:r>
            <a:r>
              <a:rPr dirty="0">
                <a:latin typeface="Courier"/>
              </a:rPr>
              <a:t>public</a:t>
            </a:r>
            <a:r>
              <a:rPr dirty="0"/>
              <a:t>, </a:t>
            </a:r>
            <a:r>
              <a:rPr dirty="0">
                <a:latin typeface="Courier"/>
              </a:rPr>
              <a:t>protected</a:t>
            </a:r>
            <a:r>
              <a:rPr dirty="0"/>
              <a:t>, </a:t>
            </a:r>
            <a:r>
              <a:rPr dirty="0">
                <a:latin typeface="Courier"/>
              </a:rPr>
              <a:t>default</a:t>
            </a:r>
            <a:r>
              <a:rPr dirty="0"/>
              <a:t> (package-private), and </a:t>
            </a:r>
            <a:r>
              <a:rPr dirty="0">
                <a:latin typeface="Courier"/>
              </a:rPr>
              <a:t>private</a:t>
            </a:r>
            <a:endParaRPr lang="en-US" dirty="0">
              <a:latin typeface="Courier"/>
            </a:endParaRPr>
          </a:p>
          <a:p>
            <a:pPr marL="3657600" lvl="8" indent="0" algn="just">
              <a:buNone/>
            </a:pPr>
            <a:endParaRPr dirty="0">
              <a:latin typeface="Courier"/>
            </a:endParaRPr>
          </a:p>
          <a:p>
            <a:pPr lvl="1" algn="just">
              <a:buFont typeface="Wingdings" pitchFamily="2" charset="2"/>
              <a:buChar char="ü"/>
            </a:pPr>
            <a:r>
              <a:rPr dirty="0"/>
              <a:t>Learn how access modifiers control visibility and accessibility of classes, methods, and fields</a:t>
            </a:r>
            <a:endParaRPr lang="en-GB" dirty="0"/>
          </a:p>
          <a:p>
            <a:pPr lvl="8" algn="just">
              <a:buFont typeface="Wingdings" pitchFamily="2" charset="2"/>
              <a:buChar char="ü"/>
            </a:pPr>
            <a:endParaRPr lang="en-GB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Understanding Visibility, Inheritance, and Composition</a:t>
            </a:r>
          </a:p>
          <a:p>
            <a:pPr marL="3657600" lvl="8" indent="0" algn="just">
              <a:buNone/>
            </a:pP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Explore how access modifiers affect inheritance and composition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Apply these concepts to a real-world example: a </a:t>
            </a:r>
            <a:r>
              <a:rPr b="1" dirty="0"/>
              <a:t>Quiz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1997-9693-7F2C-8B86-BE9C75B2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Access Modifiers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What are Access Modifiers?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Definition</a:t>
            </a:r>
            <a:r>
              <a:rPr dirty="0"/>
              <a:t>: Access modifiers in Java specify the </a:t>
            </a:r>
            <a:r>
              <a:rPr b="1" dirty="0">
                <a:solidFill>
                  <a:srgbClr val="FF0000"/>
                </a:solidFill>
              </a:rPr>
              <a:t>visibility</a:t>
            </a:r>
            <a:r>
              <a:rPr dirty="0"/>
              <a:t> and </a:t>
            </a:r>
            <a:r>
              <a:rPr b="1" dirty="0">
                <a:solidFill>
                  <a:srgbClr val="FF0000"/>
                </a:solidFill>
              </a:rPr>
              <a:t>accessibility</a:t>
            </a:r>
            <a:r>
              <a:rPr dirty="0"/>
              <a:t> of classes, methods, fields, and constructors.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Purpose</a:t>
            </a:r>
            <a:r>
              <a:rPr dirty="0"/>
              <a:t>: They control how different parts of a program interact with each other, enforcing encapsulation and modularity.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27C22B9-DD61-74D0-C1DD-6FE6C48E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4400" dirty="0"/>
              <a:t>Access Modifiers in Java </a:t>
            </a:r>
            <a:r>
              <a:rPr lang="en-US" sz="4400" dirty="0"/>
              <a:t>(</a:t>
            </a:r>
            <a:r>
              <a:rPr lang="en-US" sz="4400" dirty="0" err="1"/>
              <a:t>Cnt</a:t>
            </a:r>
            <a:r>
              <a:rPr lang="en-US" sz="4400" dirty="0"/>
              <a:t>.)</a:t>
            </a:r>
            <a:endParaRPr sz="4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64363"/>
              </p:ext>
            </p:extLst>
          </p:nvPr>
        </p:nvGraphicFramePr>
        <p:xfrm>
          <a:off x="2423494" y="2908117"/>
          <a:ext cx="7345011" cy="319385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1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6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69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/>
                        <a:t>Modifier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/>
                        <a:t>Visibility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47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ublic</a:t>
                      </a:r>
                      <a:endParaRPr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ouri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Accessible from 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anywhere</a:t>
                      </a: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in the program</a:t>
                      </a:r>
                      <a:r>
                        <a:rPr lang="en-GB"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(even in other packages)</a:t>
                      </a:r>
                      <a:endParaRPr sz="20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61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rotected</a:t>
                      </a:r>
                      <a:endParaRPr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ouri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Accessible within the 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same package</a:t>
                      </a: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and by 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subclasses</a:t>
                      </a: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(even in other packages)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78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efault</a:t>
                      </a:r>
                      <a:endParaRPr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ouri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Accessible only within the 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same package</a:t>
                      </a: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(no keyword required)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30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rivate</a:t>
                      </a:r>
                      <a:endParaRPr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ouri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Accessible only within the </a:t>
                      </a:r>
                      <a:r>
                        <a:rPr sz="20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same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B446399-98B3-C334-5905-BD9BB2CEA8D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947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0"/>
              </a:spcBef>
            </a:pPr>
            <a:r>
              <a:rPr lang="en-US" sz="2800" dirty="0"/>
              <a:t>The Four Access Modifiers</a:t>
            </a:r>
          </a:p>
          <a:p>
            <a:pPr marL="0" indent="0" algn="just">
              <a:spcBef>
                <a:spcPts val="3000"/>
              </a:spcBef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A135-1F95-05ED-AD2F-21381A99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Public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10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b="1" dirty="0"/>
              <a:t>Definition</a:t>
            </a:r>
            <a:r>
              <a:rPr dirty="0"/>
              <a:t>: The </a:t>
            </a:r>
            <a:r>
              <a:rPr dirty="0">
                <a:latin typeface="Courier"/>
              </a:rPr>
              <a:t>public</a:t>
            </a:r>
            <a:r>
              <a:rPr dirty="0"/>
              <a:t> modifier makes a class, method, or field accessible from </a:t>
            </a:r>
            <a:r>
              <a:rPr dirty="0">
                <a:solidFill>
                  <a:srgbClr val="FF0000"/>
                </a:solidFill>
              </a:rPr>
              <a:t>anywhere</a:t>
            </a:r>
            <a:r>
              <a:rPr dirty="0"/>
              <a:t> in the program.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b="1" dirty="0"/>
              <a:t>Use Case</a:t>
            </a:r>
            <a:r>
              <a:rPr dirty="0"/>
              <a:t>: Use </a:t>
            </a:r>
            <a:r>
              <a:rPr dirty="0">
                <a:latin typeface="Courier"/>
              </a:rPr>
              <a:t>public</a:t>
            </a:r>
            <a:r>
              <a:rPr dirty="0"/>
              <a:t> for methods or fields that need to be universally accessible, such as APIs or utility methods.</a:t>
            </a:r>
            <a:endParaRPr lang="en-US" dirty="0"/>
          </a:p>
          <a:p>
            <a:pPr lvl="8"/>
            <a:endParaRPr dirty="0"/>
          </a:p>
          <a:p>
            <a:pPr marL="0" lvl="0" indent="0">
              <a:buNone/>
            </a:pPr>
            <a:endParaRPr lang="en-US" dirty="0"/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Example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name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display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"This is a public method."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77C2-697D-981F-66CF-681BF787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Private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869"/>
            <a:ext cx="10515600" cy="1967731"/>
          </a:xfrm>
        </p:spPr>
        <p:txBody>
          <a:bodyPr>
            <a:normAutofit lnSpcReduction="10000"/>
          </a:bodyPr>
          <a:lstStyle/>
          <a:p>
            <a:pPr lvl="0" algn="just"/>
            <a:r>
              <a:rPr b="1" dirty="0"/>
              <a:t>Definition</a:t>
            </a:r>
            <a:r>
              <a:rPr dirty="0"/>
              <a:t>: The </a:t>
            </a:r>
            <a:r>
              <a:rPr dirty="0">
                <a:latin typeface="Courier"/>
              </a:rPr>
              <a:t>private</a:t>
            </a:r>
            <a:r>
              <a:rPr dirty="0"/>
              <a:t> modifier restricts access to the </a:t>
            </a:r>
            <a:r>
              <a:rPr dirty="0">
                <a:solidFill>
                  <a:srgbClr val="FF0000"/>
                </a:solidFill>
              </a:rPr>
              <a:t>same class </a:t>
            </a:r>
            <a:r>
              <a:rPr dirty="0"/>
              <a:t>only.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b="1" dirty="0"/>
              <a:t>Use Case</a:t>
            </a:r>
            <a:r>
              <a:rPr dirty="0"/>
              <a:t>: Use </a:t>
            </a:r>
            <a:r>
              <a:rPr dirty="0">
                <a:latin typeface="Courier"/>
              </a:rPr>
              <a:t>private</a:t>
            </a:r>
            <a:r>
              <a:rPr dirty="0"/>
              <a:t> to hide sensitive data or implementation details, enforcing encapsulation.</a:t>
            </a:r>
            <a:endParaRPr lang="en-US" dirty="0"/>
          </a:p>
          <a:p>
            <a:pPr lvl="8"/>
            <a:endParaRPr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D3C7CC-25C3-D65D-25EF-A93A901BD199}"/>
              </a:ext>
            </a:extLst>
          </p:cNvPr>
          <p:cNvSpPr txBox="1">
            <a:spLocks/>
          </p:cNvSpPr>
          <p:nvPr/>
        </p:nvSpPr>
        <p:spPr>
          <a:xfrm>
            <a:off x="74644" y="3713584"/>
            <a:ext cx="6477000" cy="3026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US" sz="2400" dirty="0">
                <a:latin typeface="Courier"/>
              </a:rPr>
              <a:t> Example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US" sz="2400" dirty="0">
                <a:latin typeface="Courier"/>
              </a:rPr>
              <a:t> secret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displaySecret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    </a:t>
            </a:r>
            <a:r>
              <a:rPr lang="en-US" sz="24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US" sz="2400" dirty="0">
                <a:solidFill>
                  <a:srgbClr val="4070A0"/>
                </a:solidFill>
                <a:latin typeface="Courier"/>
              </a:rPr>
              <a:t>"This is a private method."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);}</a:t>
            </a:r>
            <a:br>
              <a:rPr lang="en-US" sz="2400" dirty="0"/>
            </a:br>
            <a:r>
              <a:rPr lang="en-US" sz="24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8D90B5-D803-9CFB-9A3E-99C74AF8BF2C}"/>
              </a:ext>
            </a:extLst>
          </p:cNvPr>
          <p:cNvSpPr txBox="1">
            <a:spLocks/>
          </p:cNvSpPr>
          <p:nvPr/>
        </p:nvSpPr>
        <p:spPr>
          <a:xfrm>
            <a:off x="6327710" y="3447661"/>
            <a:ext cx="5690118" cy="3205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US" sz="2400" dirty="0">
                <a:latin typeface="Courier"/>
              </a:rPr>
              <a:t> Test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</a:p>
          <a:p>
            <a:pPr indent="0">
              <a:buNone/>
            </a:pPr>
            <a:r>
              <a:rPr lang="en-US" sz="2400" dirty="0"/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static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Void </a:t>
            </a:r>
            <a:r>
              <a:rPr lang="en-US" sz="2400" dirty="0">
                <a:latin typeface="Courier"/>
              </a:rPr>
              <a:t>main(String[]</a:t>
            </a:r>
            <a:r>
              <a:rPr lang="en-US" sz="2400" dirty="0" err="1">
                <a:latin typeface="Courier"/>
              </a:rPr>
              <a:t>args</a:t>
            </a:r>
            <a:r>
              <a:rPr lang="en-US" sz="2400" dirty="0">
                <a:latin typeface="Courier"/>
              </a:rPr>
              <a:t>)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/>
              <a:t>       </a:t>
            </a:r>
            <a:r>
              <a:rPr lang="en-US" sz="2400" dirty="0">
                <a:latin typeface="Courier"/>
              </a:rPr>
              <a:t>Example</a:t>
            </a:r>
            <a:r>
              <a:rPr lang="en-US" sz="2400" dirty="0"/>
              <a:t> ex =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US" sz="2400" dirty="0"/>
              <a:t> </a:t>
            </a:r>
            <a:r>
              <a:rPr lang="en-US" sz="2400" dirty="0">
                <a:latin typeface="Courier"/>
              </a:rPr>
              <a:t>Example</a:t>
            </a:r>
            <a:r>
              <a:rPr lang="en-US" sz="2400" dirty="0"/>
              <a:t>();</a:t>
            </a:r>
          </a:p>
          <a:p>
            <a:pPr indent="0">
              <a:buNone/>
            </a:pPr>
            <a:br>
              <a:rPr lang="en-US" sz="2400" dirty="0"/>
            </a:br>
            <a:r>
              <a:rPr lang="en-US" sz="2400" dirty="0"/>
              <a:t>        </a:t>
            </a:r>
            <a:r>
              <a:rPr lang="en-US" sz="2400" dirty="0" err="1">
                <a:latin typeface="Courier"/>
              </a:rPr>
              <a:t>ex.secret</a:t>
            </a:r>
            <a:r>
              <a:rPr lang="en-US" sz="2400" dirty="0">
                <a:latin typeface="Courier"/>
              </a:rPr>
              <a:t> = “Top Secret”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; </a:t>
            </a:r>
          </a:p>
          <a:p>
            <a:pPr indent="0">
              <a:buNone/>
            </a:pPr>
            <a:r>
              <a:rPr lang="en-US" sz="2400" dirty="0">
                <a:solidFill>
                  <a:srgbClr val="666666"/>
                </a:solidFill>
                <a:latin typeface="Courier"/>
              </a:rPr>
              <a:t>   </a:t>
            </a:r>
            <a:r>
              <a:rPr lang="en-US" sz="2400" dirty="0" err="1">
                <a:latin typeface="Courier"/>
              </a:rPr>
              <a:t>ex.displaySecret</a:t>
            </a:r>
            <a:r>
              <a:rPr lang="en-US" sz="2400" dirty="0">
                <a:latin typeface="Courier"/>
              </a:rPr>
              <a:t>();  </a:t>
            </a:r>
            <a:br>
              <a:rPr lang="en-US" sz="2400" dirty="0"/>
            </a:br>
            <a:r>
              <a:rPr lang="en-US" sz="24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67D58-EA63-4177-9DEC-5B41419F64DF}"/>
              </a:ext>
            </a:extLst>
          </p:cNvPr>
          <p:cNvSpPr txBox="1"/>
          <p:nvPr/>
        </p:nvSpPr>
        <p:spPr>
          <a:xfrm>
            <a:off x="11687368" y="5401070"/>
            <a:ext cx="44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115B7-146D-0C73-27DA-63120E62E833}"/>
              </a:ext>
            </a:extLst>
          </p:cNvPr>
          <p:cNvSpPr txBox="1"/>
          <p:nvPr/>
        </p:nvSpPr>
        <p:spPr>
          <a:xfrm>
            <a:off x="10912151" y="5862735"/>
            <a:ext cx="44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9D9B-9197-55A9-73BC-CDF26E91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Protected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627"/>
            <a:ext cx="10515600" cy="2424553"/>
          </a:xfrm>
        </p:spPr>
        <p:txBody>
          <a:bodyPr>
            <a:normAutofit lnSpcReduction="10000"/>
          </a:bodyPr>
          <a:lstStyle/>
          <a:p>
            <a:pPr algn="just"/>
            <a:r>
              <a:rPr b="1" dirty="0"/>
              <a:t>Definition</a:t>
            </a:r>
            <a:r>
              <a:rPr dirty="0"/>
              <a:t>: The </a:t>
            </a:r>
            <a:r>
              <a:rPr dirty="0">
                <a:latin typeface="Courier"/>
              </a:rPr>
              <a:t>protected</a:t>
            </a:r>
            <a:r>
              <a:rPr dirty="0"/>
              <a:t> modifier allows access within the </a:t>
            </a:r>
            <a:r>
              <a:rPr dirty="0">
                <a:solidFill>
                  <a:srgbClr val="FF0000"/>
                </a:solidFill>
              </a:rPr>
              <a:t>same</a:t>
            </a:r>
            <a:r>
              <a:rPr b="1" dirty="0"/>
              <a:t> </a:t>
            </a:r>
            <a:r>
              <a:rPr dirty="0">
                <a:solidFill>
                  <a:srgbClr val="FF0000"/>
                </a:solidFill>
              </a:rPr>
              <a:t>package</a:t>
            </a:r>
            <a:r>
              <a:rPr dirty="0"/>
              <a:t> and by </a:t>
            </a:r>
            <a:r>
              <a:rPr dirty="0">
                <a:solidFill>
                  <a:srgbClr val="FF0000"/>
                </a:solidFill>
              </a:rPr>
              <a:t>subclasses</a:t>
            </a:r>
            <a:r>
              <a:rPr dirty="0"/>
              <a:t> (even in different packages).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b="1" dirty="0"/>
              <a:t>Use Case</a:t>
            </a:r>
            <a:r>
              <a:rPr dirty="0"/>
              <a:t>: Use </a:t>
            </a:r>
            <a:r>
              <a:rPr dirty="0">
                <a:latin typeface="Courier"/>
              </a:rPr>
              <a:t>protected</a:t>
            </a:r>
            <a:r>
              <a:rPr dirty="0"/>
              <a:t> for fields or methods that subclasses need to access but should not be exposed to the rest of the program.</a:t>
            </a:r>
            <a:endParaRPr lang="en-US" dirty="0"/>
          </a:p>
          <a:p>
            <a:pPr lvl="8"/>
            <a:endParaRPr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C71FA4-3FBC-357B-B60C-7149115D3754}"/>
              </a:ext>
            </a:extLst>
          </p:cNvPr>
          <p:cNvSpPr txBox="1">
            <a:spLocks/>
          </p:cNvSpPr>
          <p:nvPr/>
        </p:nvSpPr>
        <p:spPr>
          <a:xfrm>
            <a:off x="0" y="3760853"/>
            <a:ext cx="6809791" cy="2424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US" sz="2400" dirty="0">
                <a:latin typeface="Courier"/>
              </a:rPr>
              <a:t> Parent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protected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 err="1">
                <a:latin typeface="Courier"/>
              </a:rPr>
              <a:t>familySecret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protected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shareSecret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    </a:t>
            </a:r>
            <a:r>
              <a:rPr lang="en-US" sz="24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US" sz="2400" dirty="0">
                <a:solidFill>
                  <a:srgbClr val="4070A0"/>
                </a:solidFill>
                <a:latin typeface="Courier"/>
              </a:rPr>
              <a:t>"This is a protected method."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}}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0857A3-9DD5-8FD8-D7A3-4647028B55AD}"/>
              </a:ext>
            </a:extLst>
          </p:cNvPr>
          <p:cNvSpPr txBox="1">
            <a:spLocks/>
          </p:cNvSpPr>
          <p:nvPr/>
        </p:nvSpPr>
        <p:spPr>
          <a:xfrm>
            <a:off x="6854887" y="4184630"/>
            <a:ext cx="5142724" cy="24245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US" sz="2400" dirty="0">
                <a:latin typeface="Courier"/>
              </a:rPr>
              <a:t> Child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extends</a:t>
            </a:r>
            <a:r>
              <a:rPr lang="en-US" sz="2400" dirty="0">
                <a:latin typeface="Courier"/>
              </a:rPr>
              <a:t> Parent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 </a:t>
            </a:r>
            <a:r>
              <a:rPr lang="en-US" sz="24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US" sz="2400" dirty="0">
                <a:latin typeface="Courier"/>
              </a:rPr>
              <a:t> reveal(){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    </a:t>
            </a:r>
            <a:r>
              <a:rPr lang="en-US" sz="24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US" sz="2400" dirty="0" err="1">
                <a:solidFill>
                  <a:srgbClr val="4070A0"/>
                </a:solidFill>
                <a:latin typeface="Courier"/>
              </a:rPr>
              <a:t>familySecret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pPr indent="0">
              <a:buNone/>
            </a:pPr>
            <a:r>
              <a:rPr lang="en-US" sz="2400" dirty="0" err="1">
                <a:solidFill>
                  <a:srgbClr val="06287E"/>
                </a:solidFill>
                <a:latin typeface="Courier"/>
              </a:rPr>
              <a:t>shareSecret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50A6B-03BA-CA3D-9964-814844C3EB95}"/>
              </a:ext>
            </a:extLst>
          </p:cNvPr>
          <p:cNvSpPr txBox="1"/>
          <p:nvPr/>
        </p:nvSpPr>
        <p:spPr>
          <a:xfrm>
            <a:off x="10362416" y="5674039"/>
            <a:ext cx="44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704A8-6DDB-C2AF-CE77-63CABFE16A95}"/>
              </a:ext>
            </a:extLst>
          </p:cNvPr>
          <p:cNvSpPr txBox="1"/>
          <p:nvPr/>
        </p:nvSpPr>
        <p:spPr>
          <a:xfrm>
            <a:off x="9668842" y="5979569"/>
            <a:ext cx="44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18AD-0BE6-2DF1-A087-ECC8CF32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Default (Package-Private)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b="1" dirty="0"/>
              <a:t>Definition</a:t>
            </a:r>
            <a:r>
              <a:rPr dirty="0"/>
              <a:t>: The </a:t>
            </a:r>
            <a:r>
              <a:rPr dirty="0">
                <a:latin typeface="Courier"/>
              </a:rPr>
              <a:t>default</a:t>
            </a:r>
            <a:r>
              <a:rPr dirty="0"/>
              <a:t> modifier (no keyword) allows access only within the </a:t>
            </a:r>
            <a:r>
              <a:rPr dirty="0">
                <a:solidFill>
                  <a:srgbClr val="FF0000"/>
                </a:solidFill>
              </a:rPr>
              <a:t>same package</a:t>
            </a:r>
            <a:r>
              <a:rPr dirty="0"/>
              <a:t>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b="1" dirty="0"/>
              <a:t>Use Case</a:t>
            </a:r>
            <a:r>
              <a:rPr dirty="0"/>
              <a:t>: Use </a:t>
            </a:r>
            <a:r>
              <a:rPr dirty="0">
                <a:latin typeface="Courier"/>
              </a:rPr>
              <a:t>default</a:t>
            </a:r>
            <a:r>
              <a:rPr dirty="0"/>
              <a:t> for internal logic that should not be exposed outside the package.</a:t>
            </a:r>
            <a:endParaRPr lang="en-US" dirty="0"/>
          </a:p>
          <a:p>
            <a:pPr lvl="8"/>
            <a:endParaRPr dirty="0"/>
          </a:p>
          <a:p>
            <a:pPr marL="0" lvl="0" indent="0">
              <a:buNone/>
            </a:pPr>
            <a:endParaRPr dirty="0"/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Example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packageData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displayPackageData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"This is a package-private method."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44D8-7BA4-B728-EA2C-3EE10466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Discussion - Access Modifiers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000" y="195037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dirty="0"/>
              <a:t>Why are access modifiers important in Java?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dirty="0"/>
              <a:t>How do access modifiers help enforce encapsulation and modularity?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dirty="0"/>
              <a:t>What are the risks of using overly permissive access modifiers?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dirty="0"/>
              <a:t>Why would it be better to have the default being </a:t>
            </a:r>
            <a:r>
              <a:rPr dirty="0">
                <a:latin typeface="Courier"/>
              </a:rPr>
              <a:t>private</a:t>
            </a:r>
            <a:r>
              <a:rPr dirty="0"/>
              <a:t> instead of </a:t>
            </a:r>
            <a:r>
              <a:rPr dirty="0">
                <a:latin typeface="Courier"/>
              </a:rPr>
              <a:t>package-private</a:t>
            </a:r>
            <a:r>
              <a:rPr dirty="0"/>
              <a:t>?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Have a minute to think about this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2B00-DB3B-DBD9-BDE9-D538DF58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 and Inheritance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dirty="0">
                <a:latin typeface="Courier"/>
              </a:rPr>
              <a:t>P</a:t>
            </a:r>
            <a:r>
              <a:rPr b="1" dirty="0">
                <a:latin typeface="Courier"/>
              </a:rPr>
              <a:t>rivate</a:t>
            </a:r>
            <a:r>
              <a:rPr dirty="0"/>
              <a:t>: Not inherited by subclasses.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lang="en-US" b="1" dirty="0">
                <a:latin typeface="Courier"/>
              </a:rPr>
              <a:t>P</a:t>
            </a:r>
            <a:r>
              <a:rPr b="1" dirty="0">
                <a:latin typeface="Courier"/>
              </a:rPr>
              <a:t>rotected</a:t>
            </a:r>
            <a:r>
              <a:rPr dirty="0"/>
              <a:t>: Inherited by subclasses, even if they are in different packages.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lang="en-US" b="1" dirty="0">
                <a:latin typeface="Courier"/>
              </a:rPr>
              <a:t>P</a:t>
            </a:r>
            <a:r>
              <a:rPr b="1" dirty="0">
                <a:latin typeface="Courier"/>
              </a:rPr>
              <a:t>ublic</a:t>
            </a:r>
            <a:r>
              <a:rPr dirty="0"/>
              <a:t>: Fully inherited and accessible by subclasses.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lang="en-US" b="1" dirty="0">
                <a:latin typeface="Courier"/>
              </a:rPr>
              <a:t>D</a:t>
            </a:r>
            <a:r>
              <a:rPr b="1" dirty="0">
                <a:latin typeface="Courier"/>
              </a:rPr>
              <a:t>efault</a:t>
            </a:r>
            <a:r>
              <a:rPr dirty="0"/>
              <a:t>: Inherited only if the subclass is in the same package.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5056-235C-3DC0-65FF-0B2D807C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1F7C-8CAA-F871-7766-1784C35A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 and Composition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52A89-6E3F-74F8-5434-48E3B94E7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637" y="4380615"/>
            <a:ext cx="5257800" cy="21920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US" sz="2400" dirty="0">
                <a:latin typeface="Courier"/>
              </a:rPr>
              <a:t> Engine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902000"/>
                </a:solidFill>
                <a:latin typeface="Courier"/>
              </a:rPr>
              <a:t>void </a:t>
            </a:r>
            <a:r>
              <a:rPr lang="en-US" sz="2400" dirty="0">
                <a:solidFill>
                  <a:srgbClr val="06287E"/>
                </a:solidFill>
                <a:latin typeface="Courier"/>
              </a:rPr>
              <a:t>start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(){</a:t>
            </a:r>
            <a:r>
              <a:rPr lang="en-US" sz="24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US" sz="24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US" sz="2400" dirty="0">
                <a:solidFill>
                  <a:srgbClr val="4070A0"/>
                </a:solidFill>
                <a:latin typeface="Courier"/>
              </a:rPr>
              <a:t>”Engine started”);}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070A0"/>
                </a:solidFill>
                <a:latin typeface="Courier"/>
              </a:rPr>
              <a:t> }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endParaRPr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AFE5D-17FA-A6E2-069D-F53018F48C3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21920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Composition</a:t>
            </a:r>
            <a:r>
              <a:rPr lang="en-US" dirty="0"/>
              <a:t>: Using objects of one class inside another class.</a:t>
            </a:r>
          </a:p>
          <a:p>
            <a:pPr lvl="8" algn="just">
              <a:buFont typeface="Wingdings" pitchFamily="2" charset="2"/>
              <a:buChar char="ü"/>
            </a:pPr>
            <a:endParaRPr lang="en-US" dirty="0"/>
          </a:p>
          <a:p>
            <a:pPr algn="just"/>
            <a:r>
              <a:rPr lang="en-US" b="1" dirty="0"/>
              <a:t>Access Modifiers in Composition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>
                <a:latin typeface="Courier"/>
              </a:rPr>
              <a:t>Private</a:t>
            </a:r>
            <a:r>
              <a:rPr lang="en-US" dirty="0"/>
              <a:t>: Restrict access to internal components.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>
                <a:latin typeface="Courier"/>
              </a:rPr>
              <a:t>Public</a:t>
            </a:r>
            <a:r>
              <a:rPr lang="en-US" dirty="0"/>
              <a:t>: Expose methods for interacting with composed objects.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>
                <a:latin typeface="Courier"/>
              </a:rPr>
              <a:t>Protected</a:t>
            </a:r>
            <a:r>
              <a:rPr lang="en-US" dirty="0"/>
              <a:t>: Allow subclasses to access composed objects.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4BD599-35B8-9353-FCC4-1941222667E9}"/>
              </a:ext>
            </a:extLst>
          </p:cNvPr>
          <p:cNvSpPr txBox="1">
            <a:spLocks/>
          </p:cNvSpPr>
          <p:nvPr/>
        </p:nvSpPr>
        <p:spPr>
          <a:xfrm>
            <a:off x="6167771" y="4182103"/>
            <a:ext cx="5960434" cy="2589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US" sz="2400" dirty="0">
                <a:latin typeface="Courier"/>
              </a:rPr>
              <a:t> Car 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666666"/>
                </a:solidFill>
                <a:latin typeface="Courier"/>
              </a:rPr>
              <a:t>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private </a:t>
            </a:r>
            <a:r>
              <a:rPr lang="en-US" sz="2400" dirty="0">
                <a:latin typeface="Courier"/>
              </a:rPr>
              <a:t>Engine engine =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US" sz="2400" dirty="0">
                <a:latin typeface="Courier"/>
              </a:rPr>
              <a:t> Engine();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r>
              <a:rPr lang="en-US" sz="24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US" sz="2400" dirty="0">
                <a:latin typeface="Courier"/>
              </a:rPr>
              <a:t> </a:t>
            </a:r>
            <a:r>
              <a:rPr lang="en-US" sz="2400" dirty="0">
                <a:solidFill>
                  <a:srgbClr val="902000"/>
                </a:solidFill>
                <a:latin typeface="Courier"/>
              </a:rPr>
              <a:t>void </a:t>
            </a:r>
            <a:r>
              <a:rPr lang="en-US" sz="2400" dirty="0" err="1">
                <a:solidFill>
                  <a:srgbClr val="06287E"/>
                </a:solidFill>
                <a:latin typeface="Courier"/>
              </a:rPr>
              <a:t>startCar</a:t>
            </a:r>
            <a:r>
              <a:rPr lang="en-US" sz="2400" dirty="0">
                <a:solidFill>
                  <a:srgbClr val="666666"/>
                </a:solidFill>
                <a:latin typeface="Courier"/>
              </a:rPr>
              <a:t>(){</a:t>
            </a:r>
            <a:endParaRPr lang="en-US" sz="2400" dirty="0">
              <a:solidFill>
                <a:srgbClr val="4070A0"/>
              </a:solidFill>
              <a:latin typeface="Courier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4070A0"/>
                </a:solidFill>
                <a:latin typeface="Courier"/>
              </a:rPr>
              <a:t>     </a:t>
            </a:r>
            <a:r>
              <a:rPr lang="en-US" sz="2400" dirty="0" err="1">
                <a:solidFill>
                  <a:srgbClr val="4070A0"/>
                </a:solidFill>
                <a:latin typeface="Courier"/>
              </a:rPr>
              <a:t>engine.start</a:t>
            </a:r>
            <a:r>
              <a:rPr lang="en-US" sz="2400" dirty="0">
                <a:solidFill>
                  <a:srgbClr val="4070A0"/>
                </a:solidFill>
                <a:latin typeface="Courier"/>
              </a:rPr>
              <a:t>();}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4070A0"/>
                </a:solidFill>
                <a:latin typeface="Courier"/>
              </a:rPr>
              <a:t> }</a:t>
            </a:r>
            <a:br>
              <a:rPr lang="en-US" sz="2400" dirty="0"/>
            </a:br>
            <a:r>
              <a:rPr lang="en-US" sz="2400" dirty="0">
                <a:latin typeface="Courier"/>
              </a:rPr>
              <a:t> 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869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889C-5A26-D53F-F3FE-DD5FE4D8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Example: Quiz Management System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b="1" dirty="0"/>
              <a:t>Components</a:t>
            </a:r>
          </a:p>
          <a:p>
            <a:pPr marL="914400" lvl="1" indent="-457200">
              <a:buAutoNum type="arabicPeriod"/>
            </a:pPr>
            <a:r>
              <a:rPr b="1" dirty="0"/>
              <a:t>Quiz</a:t>
            </a:r>
            <a:r>
              <a:rPr dirty="0"/>
              <a:t>: Represents a quiz with a title and a collection of questions.</a:t>
            </a:r>
          </a:p>
          <a:p>
            <a:pPr marL="914400" lvl="1" indent="-457200">
              <a:buAutoNum type="arabicPeriod"/>
            </a:pPr>
            <a:r>
              <a:rPr b="1" dirty="0"/>
              <a:t>Question</a:t>
            </a:r>
            <a:r>
              <a:rPr dirty="0"/>
              <a:t>: Represents a single question with a prompt and possible answers.</a:t>
            </a:r>
          </a:p>
          <a:p>
            <a:pPr marL="914400" lvl="1" indent="-457200">
              <a:buAutoNum type="arabicPeriod"/>
            </a:pPr>
            <a:r>
              <a:rPr b="1" dirty="0"/>
              <a:t>User</a:t>
            </a:r>
            <a:r>
              <a:rPr dirty="0"/>
              <a:t>: Represents a user of the system, such as an educator or a student.</a:t>
            </a:r>
          </a:p>
          <a:p>
            <a:pPr marL="914400" lvl="1" indent="-457200">
              <a:buAutoNum type="arabicPeriod"/>
            </a:pPr>
            <a:r>
              <a:rPr b="1" dirty="0" err="1"/>
              <a:t>QuizManager</a:t>
            </a:r>
            <a:r>
              <a:rPr dirty="0"/>
              <a:t>: Manages the creation, assignment, and evaluation of quizzes.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89" y="301625"/>
            <a:ext cx="10641253" cy="5721488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Example Code: </a:t>
            </a:r>
            <a:r>
              <a:rPr b="1" dirty="0">
                <a:latin typeface="Courier"/>
              </a:rPr>
              <a:t>Question</a:t>
            </a:r>
            <a:r>
              <a:rPr b="1" dirty="0"/>
              <a:t> Class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Question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prompt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The question text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</a:t>
            </a:r>
            <a:r>
              <a:rPr dirty="0">
                <a:latin typeface="Courier"/>
              </a:rPr>
              <a:t> options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Possible answers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int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correctAnswerIndex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Index of the correct answer - multiple choice alert!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Question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prompt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</a:t>
            </a:r>
            <a:r>
              <a:rPr dirty="0">
                <a:latin typeface="Courier"/>
              </a:rPr>
              <a:t> options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int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correctAnswerIndex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prompt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prompt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options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options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correctAnswerIndex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correctAnswerIndex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getPrompt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prompt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getOptions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options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902000"/>
                </a:solidFill>
                <a:latin typeface="Courier"/>
              </a:rPr>
              <a:t>boolean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isCorrect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902000"/>
                </a:solidFill>
                <a:latin typeface="Courier"/>
              </a:rPr>
              <a:t>int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answerIndex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answerIndex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correctAnswerIndex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91"/>
            <a:ext cx="11049000" cy="5569896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Example Code: </a:t>
            </a:r>
            <a:r>
              <a:rPr b="1" dirty="0">
                <a:latin typeface="Courier"/>
              </a:rPr>
              <a:t>Quiz</a:t>
            </a:r>
            <a:r>
              <a:rPr b="1" dirty="0"/>
              <a:t> Class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util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ArrayList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util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List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Quiz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title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Quiz title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List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Question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questions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List of questions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title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title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title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questions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ArrayList</a:t>
            </a:r>
            <a:r>
              <a:rPr dirty="0">
                <a:solidFill>
                  <a:srgbClr val="666666"/>
                </a:solidFill>
                <a:latin typeface="Courier"/>
              </a:rPr>
              <a:t>&lt;&gt;();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title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addQuestion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Question question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questions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question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protected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List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Question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getQuestions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questions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Protected to allow subclasses to access questions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10"/>
            <a:ext cx="10711070" cy="5934815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Example Code: </a:t>
            </a:r>
            <a:r>
              <a:rPr b="1" dirty="0" err="1">
                <a:latin typeface="Courier"/>
              </a:rPr>
              <a:t>QuizManager</a:t>
            </a:r>
            <a:r>
              <a:rPr b="1" dirty="0"/>
              <a:t> Class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util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HashMap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util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Map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QuizManager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Map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User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Quiz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assignedQuizzes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QuizManager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assignedQuizzes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HashMap</a:t>
            </a:r>
            <a:r>
              <a:rPr dirty="0">
                <a:solidFill>
                  <a:srgbClr val="666666"/>
                </a:solidFill>
                <a:latin typeface="Courier"/>
              </a:rPr>
              <a:t>&lt;&gt;();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assignQuiz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User </a:t>
            </a:r>
            <a:r>
              <a:rPr dirty="0" err="1">
                <a:latin typeface="Courier"/>
              </a:rPr>
              <a:t>user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Quiz quiz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user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getRole</a:t>
            </a:r>
            <a:r>
              <a:rPr dirty="0">
                <a:solidFill>
                  <a:srgbClr val="666666"/>
                </a:solidFill>
                <a:latin typeface="Courier"/>
              </a:rPr>
              <a:t>().</a:t>
            </a:r>
            <a:r>
              <a:rPr dirty="0">
                <a:solidFill>
                  <a:srgbClr val="06287E"/>
                </a:solidFill>
                <a:latin typeface="Courier"/>
              </a:rPr>
              <a:t>equals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"student"</a:t>
            </a:r>
            <a:r>
              <a:rPr dirty="0">
                <a:solidFill>
                  <a:srgbClr val="666666"/>
                </a:solidFill>
                <a:latin typeface="Courier"/>
              </a:rPr>
              <a:t>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latin typeface="Courier"/>
              </a:rPr>
              <a:t>assignedQuizzes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put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user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quiz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"Quiz '"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"' assigned to "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user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getName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"Only students can be assigned quizzes."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42873"/>
            <a:ext cx="10810461" cy="5282065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startQuiz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User user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Quiz </a:t>
            </a:r>
            <a:r>
              <a:rPr dirty="0" err="1">
                <a:latin typeface="Courier"/>
              </a:rPr>
              <a:t>quiz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assignedQuizzes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user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quiz </a:t>
            </a:r>
            <a:r>
              <a:rPr dirty="0">
                <a:solidFill>
                  <a:srgbClr val="666666"/>
                </a:solidFill>
                <a:latin typeface="Courier"/>
              </a:rPr>
              <a:t>!=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"Starting quiz: "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for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Question </a:t>
            </a:r>
            <a:r>
              <a:rPr dirty="0" err="1">
                <a:latin typeface="Courier"/>
              </a:rPr>
              <a:t>question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getQuestions</a:t>
            </a:r>
            <a:r>
              <a:rPr dirty="0">
                <a:solidFill>
                  <a:srgbClr val="666666"/>
                </a:solidFill>
                <a:latin typeface="Courier"/>
              </a:rPr>
              <a:t>())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question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getPrompt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user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getName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 has no assigned quiz."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65CA-5361-19DF-50EC-27DE682B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Discussion: Quiz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712" y="162130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dirty="0"/>
              <a:t>How do access modifiers help in designing the Quiz Management System?</a:t>
            </a:r>
          </a:p>
          <a:p>
            <a:pPr lvl="0" algn="just"/>
            <a:r>
              <a:rPr dirty="0"/>
              <a:t>What are the benefits of using different access modifiers for classes and methods in the system?</a:t>
            </a:r>
          </a:p>
          <a:p>
            <a:pPr lvl="0" algn="just"/>
            <a:r>
              <a:rPr dirty="0"/>
              <a:t>How does the </a:t>
            </a:r>
            <a:r>
              <a:rPr dirty="0">
                <a:latin typeface="Courier"/>
              </a:rPr>
              <a:t>protected</a:t>
            </a:r>
            <a:r>
              <a:rPr dirty="0"/>
              <a:t> modifier in the </a:t>
            </a:r>
            <a:r>
              <a:rPr dirty="0">
                <a:latin typeface="Courier"/>
              </a:rPr>
              <a:t>Quiz</a:t>
            </a:r>
            <a:r>
              <a:rPr dirty="0"/>
              <a:t> class support inheritance and composition?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Have a minute to think about this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8D32-CAD1-9C87-2648-9BA62A74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Composition vs. 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b="1" dirty="0"/>
              <a:t>Composition</a:t>
            </a:r>
            <a:r>
              <a:rPr dirty="0"/>
              <a:t>: Has-a relationship, where one class </a:t>
            </a:r>
            <a:r>
              <a:rPr b="1" dirty="0">
                <a:solidFill>
                  <a:srgbClr val="FF0000"/>
                </a:solidFill>
              </a:rPr>
              <a:t>contains</a:t>
            </a:r>
            <a:r>
              <a:rPr dirty="0"/>
              <a:t> an object of another class.</a:t>
            </a:r>
          </a:p>
          <a:p>
            <a:pPr lvl="0" algn="just"/>
            <a:r>
              <a:rPr b="1" dirty="0"/>
              <a:t>Inheritance</a:t>
            </a:r>
            <a:r>
              <a:rPr dirty="0"/>
              <a:t>: Is-a relationship, where one class extends another class.</a:t>
            </a:r>
            <a:endParaRPr lang="en-GB" dirty="0"/>
          </a:p>
          <a:p>
            <a:pPr lvl="0" algn="just"/>
            <a:r>
              <a:rPr lang="en-US" dirty="0"/>
              <a:t>Generally,</a:t>
            </a:r>
            <a:r>
              <a:rPr dirty="0"/>
              <a:t> </a:t>
            </a:r>
            <a:r>
              <a:rPr b="1" dirty="0"/>
              <a:t>Prefer</a:t>
            </a:r>
            <a:r>
              <a:rPr dirty="0"/>
              <a:t> Composition Over Inheritance</a:t>
            </a:r>
          </a:p>
          <a:p>
            <a:pPr lvl="0" algn="just"/>
            <a:r>
              <a:rPr b="1" dirty="0"/>
              <a:t>Composition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More flexible and modular.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Avoids the limitations of single inheritance.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Reduces the impact of changes in the superclass.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E142-B41F-C951-527C-D0A00B93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Another model -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Aggregation</a:t>
            </a:r>
            <a:r>
              <a:rPr dirty="0"/>
              <a:t>: A special form of association where objects have a </a:t>
            </a:r>
            <a:r>
              <a:rPr b="1" dirty="0"/>
              <a:t>“whole-part”</a:t>
            </a:r>
            <a:r>
              <a:rPr dirty="0"/>
              <a:t> relationship.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</a:t>
            </a:r>
            <a:r>
              <a:rPr dirty="0">
                <a:latin typeface="Courier"/>
              </a:rPr>
              <a:t>Car</a:t>
            </a:r>
            <a:r>
              <a:rPr dirty="0"/>
              <a:t> has an </a:t>
            </a:r>
            <a:r>
              <a:rPr dirty="0">
                <a:latin typeface="Courier"/>
              </a:rPr>
              <a:t>Engine</a:t>
            </a:r>
            <a:r>
              <a:rPr dirty="0"/>
              <a:t>, but the </a:t>
            </a:r>
            <a:r>
              <a:rPr dirty="0">
                <a:latin typeface="Courier"/>
              </a:rPr>
              <a:t>Engine</a:t>
            </a:r>
            <a:r>
              <a:rPr dirty="0"/>
              <a:t> can exist independently of the </a:t>
            </a:r>
            <a:r>
              <a:rPr dirty="0">
                <a:latin typeface="Courier"/>
              </a:rPr>
              <a:t>Car</a:t>
            </a:r>
            <a:r>
              <a:rPr dirty="0"/>
              <a:t>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Key Point</a:t>
            </a:r>
            <a:r>
              <a:rPr dirty="0"/>
              <a:t>: Aggregation implies a relationship where the </a:t>
            </a:r>
            <a:r>
              <a:rPr b="1" dirty="0"/>
              <a:t>“part”</a:t>
            </a:r>
            <a:r>
              <a:rPr dirty="0"/>
              <a:t> can exist without the </a:t>
            </a:r>
            <a:r>
              <a:rPr b="1" dirty="0"/>
              <a:t>“whole”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27F4-2575-81AE-A7D1-D844B14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Inheritance</a:t>
            </a:r>
          </a:p>
        </p:txBody>
      </p:sp>
      <p:pic>
        <p:nvPicPr>
          <p:cNvPr id="5" name="Content Placeholder 4" descr="A diagram of a cat and dog">
            <a:extLst>
              <a:ext uri="{FF2B5EF4-FFF2-40B4-BE49-F238E27FC236}">
                <a16:creationId xmlns:a16="http://schemas.microsoft.com/office/drawing/2014/main" id="{22A8B850-F673-6717-853F-BAE2D05B0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128" y="1690688"/>
            <a:ext cx="4047134" cy="35812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8C50EB-C218-589A-4E5E-E9D192FA0065}"/>
              </a:ext>
            </a:extLst>
          </p:cNvPr>
          <p:cNvSpPr txBox="1"/>
          <p:nvPr/>
        </p:nvSpPr>
        <p:spPr>
          <a:xfrm>
            <a:off x="4945727" y="5456530"/>
            <a:ext cx="2813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Dog Is-An Animal</a:t>
            </a:r>
            <a:b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Cat Is-An Animal</a:t>
            </a:r>
          </a:p>
        </p:txBody>
      </p:sp>
    </p:spTree>
    <p:extLst>
      <p:ext uri="{BB962C8B-B14F-4D97-AF65-F5344CB8AC3E}">
        <p14:creationId xmlns:p14="http://schemas.microsoft.com/office/powerpoint/2010/main" val="3115223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BD70-ED1D-8C46-3235-34D8B081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</a:t>
            </a:r>
          </a:p>
        </p:txBody>
      </p:sp>
      <p:pic>
        <p:nvPicPr>
          <p:cNvPr id="5" name="Content Placeholder 4" descr="A diagram showing composition">
            <a:extLst>
              <a:ext uri="{FF2B5EF4-FFF2-40B4-BE49-F238E27FC236}">
                <a16:creationId xmlns:a16="http://schemas.microsoft.com/office/drawing/2014/main" id="{F3041FDD-D000-E5BB-197C-17A52A36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61" y="1511720"/>
            <a:ext cx="2041981" cy="38345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42DCF9-EB3C-1247-D6D1-D19773C1FDC1}"/>
              </a:ext>
            </a:extLst>
          </p:cNvPr>
          <p:cNvSpPr txBox="1"/>
          <p:nvPr/>
        </p:nvSpPr>
        <p:spPr>
          <a:xfrm>
            <a:off x="1154387" y="5080276"/>
            <a:ext cx="8012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Car Has-An Engine</a:t>
            </a:r>
          </a:p>
          <a:p>
            <a:endParaRPr lang="en-GB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Yes, technically an engine can exist outside of the car, but…</a:t>
            </a:r>
          </a:p>
        </p:txBody>
      </p:sp>
    </p:spTree>
    <p:extLst>
      <p:ext uri="{BB962C8B-B14F-4D97-AF65-F5344CB8AC3E}">
        <p14:creationId xmlns:p14="http://schemas.microsoft.com/office/powerpoint/2010/main" val="1729480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BE7D-17FA-75C9-315A-9DE4D87C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</a:t>
            </a:r>
          </a:p>
        </p:txBody>
      </p:sp>
      <p:pic>
        <p:nvPicPr>
          <p:cNvPr id="5" name="Content Placeholder 4" descr="A diagram of a Classroom class and Student class, using  aggregation">
            <a:extLst>
              <a:ext uri="{FF2B5EF4-FFF2-40B4-BE49-F238E27FC236}">
                <a16:creationId xmlns:a16="http://schemas.microsoft.com/office/drawing/2014/main" id="{9026C6D5-7799-8508-5E3F-F3DCD8624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439" y="1221591"/>
            <a:ext cx="2657683" cy="393513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A4EAC1-D507-FA38-B314-9726DB2D7793}"/>
              </a:ext>
            </a:extLst>
          </p:cNvPr>
          <p:cNvSpPr txBox="1"/>
          <p:nvPr/>
        </p:nvSpPr>
        <p:spPr>
          <a:xfrm>
            <a:off x="1112874" y="5406305"/>
            <a:ext cx="10240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Classoom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can have many Students,  but they can definitely exist outside of the Classroom</a:t>
            </a:r>
          </a:p>
        </p:txBody>
      </p:sp>
    </p:spTree>
    <p:extLst>
      <p:ext uri="{BB962C8B-B14F-4D97-AF65-F5344CB8AC3E}">
        <p14:creationId xmlns:p14="http://schemas.microsoft.com/office/powerpoint/2010/main" val="2586308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4808-2AB8-8729-3AF7-DA018BE4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Flexible Design and runtime adaptability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Inheritance</a:t>
            </a:r>
            <a:r>
              <a:rPr dirty="0"/>
              <a:t>: Static relationship, determined at compile time.</a:t>
            </a:r>
          </a:p>
          <a:p>
            <a:pPr lvl="8" algn="just"/>
            <a:endParaRPr lang="en-GB" b="1" dirty="0"/>
          </a:p>
          <a:p>
            <a:pPr lvl="0" algn="just"/>
            <a:r>
              <a:rPr b="1" dirty="0"/>
              <a:t>Composition</a:t>
            </a:r>
            <a:r>
              <a:rPr dirty="0"/>
              <a:t>: Dynamic relationship, can change at runtime.</a:t>
            </a:r>
          </a:p>
          <a:p>
            <a:pPr lvl="8" algn="just"/>
            <a:endParaRPr lang="en-GB" b="1" dirty="0"/>
          </a:p>
          <a:p>
            <a:pPr lvl="0" algn="just"/>
            <a:r>
              <a:rPr b="1" dirty="0"/>
              <a:t>Aggregation</a:t>
            </a:r>
            <a:r>
              <a:rPr dirty="0"/>
              <a:t>: Allows for flexible design and runtime adaptability; more loosely coupled than composition.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A880-D731-445B-9712-10595651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Runtime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Inheritance</a:t>
            </a:r>
            <a:r>
              <a:rPr dirty="0"/>
              <a:t>: Can lead to deep class hierarchies and complex relationships.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Composition</a:t>
            </a:r>
            <a:r>
              <a:rPr dirty="0"/>
              <a:t>: More straightforward and easier to manage.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Aggregation</a:t>
            </a:r>
            <a:r>
              <a:rPr dirty="0"/>
              <a:t>: Provides flexibility without the complexity of inheritance, even more dynamic than composition.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204B-D5B8-0A3D-A155-5A46EE54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b="1" dirty="0"/>
              <a:t>Access Modifiers</a:t>
            </a:r>
            <a:r>
              <a:rPr dirty="0"/>
              <a:t>: Control visibility and accessibility in Java.</a:t>
            </a:r>
          </a:p>
          <a:p>
            <a:pPr lvl="0" algn="just"/>
            <a:r>
              <a:rPr b="1" dirty="0"/>
              <a:t>Inheritance</a:t>
            </a:r>
            <a:r>
              <a:rPr dirty="0"/>
              <a:t>: child Is-A parent, access modifiers determine what is inherited.</a:t>
            </a:r>
          </a:p>
          <a:p>
            <a:pPr lvl="0" algn="just"/>
            <a:r>
              <a:rPr b="1" dirty="0"/>
              <a:t>Composition</a:t>
            </a:r>
            <a:r>
              <a:rPr dirty="0"/>
              <a:t>: parent Has-A child, access modifiers control access to composed objects.</a:t>
            </a:r>
          </a:p>
          <a:p>
            <a:pPr lvl="0" algn="just"/>
            <a:r>
              <a:rPr b="1" dirty="0"/>
              <a:t>Aggregation</a:t>
            </a:r>
            <a:r>
              <a:rPr dirty="0"/>
              <a:t>: parent Has-A child, but child can exist independently.</a:t>
            </a:r>
          </a:p>
          <a:p>
            <a:pPr lvl="0" algn="just"/>
            <a:r>
              <a:rPr b="1" dirty="0"/>
              <a:t>Quiz Management System</a:t>
            </a:r>
            <a:r>
              <a:rPr dirty="0"/>
              <a:t>: Real-world example of access modifiers in action.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4BE1-7F01-4C84-BF73-58D8AAA7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Lab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This week’s lab activity will focus on</a:t>
            </a:r>
          </a:p>
          <a:p>
            <a:pPr marL="914400" lvl="1" indent="-457200" algn="just">
              <a:buAutoNum type="arabicPeriod"/>
            </a:pPr>
            <a:r>
              <a:rPr dirty="0"/>
              <a:t>Starting to implement and test the Quiz Management System.</a:t>
            </a:r>
          </a:p>
          <a:p>
            <a:pPr marL="914400" lvl="1" indent="-457200" algn="just">
              <a:buAutoNum type="arabicPeriod"/>
            </a:pPr>
            <a:r>
              <a:rPr dirty="0"/>
              <a:t>Experimenting with access modifiers to understand their impact on inheritance and composition.</a:t>
            </a:r>
          </a:p>
          <a:p>
            <a:pPr marL="914400" lvl="1" indent="-457200" algn="just">
              <a:buAutoNum type="arabicPeriod"/>
            </a:pPr>
            <a:r>
              <a:rPr dirty="0"/>
              <a:t>Creative challenges to extend the system’s functionality.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19736</TotalTime>
  <Words>1836</Words>
  <Application>Microsoft Macintosh PowerPoint</Application>
  <PresentationFormat>Widescreen</PresentationFormat>
  <Paragraphs>184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Courier</vt:lpstr>
      <vt:lpstr>Wingdings</vt:lpstr>
      <vt:lpstr>Office Theme</vt:lpstr>
      <vt:lpstr>CS1OP Week 3</vt:lpstr>
      <vt:lpstr>Access Modifiers in Java and Their Role in Inheritance and Composition </vt:lpstr>
      <vt:lpstr>Access Modifiers in Java</vt:lpstr>
      <vt:lpstr>Access Modifiers in Java (Cnt.)</vt:lpstr>
      <vt:lpstr>Public Modifier</vt:lpstr>
      <vt:lpstr>Private Modifier</vt:lpstr>
      <vt:lpstr>Protected Modifier</vt:lpstr>
      <vt:lpstr>Default (Package-Private) Modifier</vt:lpstr>
      <vt:lpstr>Discussion - Access Modifiers</vt:lpstr>
      <vt:lpstr>Access Modifiers and Inheritance </vt:lpstr>
      <vt:lpstr>Access Modifiers and Composition </vt:lpstr>
      <vt:lpstr>Real-World Example: Quiz Management System </vt:lpstr>
      <vt:lpstr>PowerPoint Presentation</vt:lpstr>
      <vt:lpstr>PowerPoint Presentation</vt:lpstr>
      <vt:lpstr>PowerPoint Presentation</vt:lpstr>
      <vt:lpstr>PowerPoint Presentation</vt:lpstr>
      <vt:lpstr>Discussion: Quiz Management System</vt:lpstr>
      <vt:lpstr>Composition vs. Inheritance</vt:lpstr>
      <vt:lpstr>Another model - Aggregation</vt:lpstr>
      <vt:lpstr>Inheritance</vt:lpstr>
      <vt:lpstr>Composition</vt:lpstr>
      <vt:lpstr>Aggregation</vt:lpstr>
      <vt:lpstr>Flexible Design and runtime adaptability</vt:lpstr>
      <vt:lpstr>Runtime efficiency</vt:lpstr>
      <vt:lpstr>Summary</vt:lpstr>
      <vt:lpstr>Lab Activity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CS1OP Week 1</dc:title>
  <dc:creator>2024-12-31</dc:creator>
  <cp:keywords/>
  <cp:lastModifiedBy>Zahra Pooranian</cp:lastModifiedBy>
  <cp:revision>641</cp:revision>
  <dcterms:created xsi:type="dcterms:W3CDTF">2024-12-31T12:02:27Z</dcterms:created>
  <dcterms:modified xsi:type="dcterms:W3CDTF">2026-02-21T17:26:41Z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Author Pat Parslow</vt:lpwstr>
  </property>
</Properties>
</file>