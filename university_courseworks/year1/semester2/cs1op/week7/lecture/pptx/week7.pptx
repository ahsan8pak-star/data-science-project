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8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3DE5-3539-DABF-F21F-BC58F58E0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76487-606D-BEF3-309B-D9AD9A17D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4C818-E916-EEB5-92D6-C630D285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B7365-76FE-722B-3747-82D69C343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BBB81-431E-5372-BC22-E88E661B3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31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CC6D2-1452-FFE3-F686-D4474294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D82F2-0A99-C758-DAD3-23456E83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D3536-6F9D-AD1E-C7BE-BC1A13E9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425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219B-A48B-EBC2-7BED-7983B9FDF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7F91D-1610-FFFD-CA34-71DE7E2B4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12294-61DD-CE5F-9662-4DFA1622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3FA14-B386-1B50-24C5-F285F512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E1256-6592-CE02-F4FF-9F68F81C9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89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DBE11-75D3-BB83-6581-BC89F8CA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57A38-8E31-52B1-D248-49CFA5333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4CA8E-AC9E-028A-B7FE-642C14A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F291D-1A7A-F866-020C-3A18A74C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15174-C233-7E5E-8811-00FD27347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FEC1F-A0F8-FD65-6F35-9A420353E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99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176FF-C881-9814-16DA-24A93DE20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B6636-C85B-A538-8278-89CC7258A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67DDA-DFC2-3D12-7626-7C439867E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A75F6-12F4-2304-9EE5-7F1367DCB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C986A4-DCC2-F048-03D9-094EFEE7F5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5DF56-4096-AD30-9A5B-454BF6E55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460076-ECB6-7037-3C21-9470FEBD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3A6700-D9EA-AADA-BC81-8950A2947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853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A072-ED7B-C4A1-AD3B-DF8AFB7BF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A1D42A-CC3E-8D19-FC81-58D37B74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F21E7-D4DA-D75F-09A8-91FCFF822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35EA6-FDD0-BCEF-2D3C-DF8664101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57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5010CA-BEC5-BCCD-5D0A-D084C8635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94880-1B1C-B110-2B8B-EB517B0C1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AC0EE-93BA-D761-F40D-9EFD1FFD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956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4EBCC-FD01-3523-D01F-D21EA14C5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F4624-7A6A-F9ED-6441-C509CFCFC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A65EA-535F-1884-B7B7-99CDF5C5D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516BA-B2F9-E1AA-5E96-9D65F1F9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A3197-E6E8-4062-819F-A9CEE2C5B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C604D-B860-6D30-B232-FEF702B8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12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17339-793A-0B0D-2884-EF26A21B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9E40EB-E3CE-A2F8-ABCC-CB05E578D6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EB3E2-3ED6-3054-0844-B4791A3D0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728F5-3640-D687-1F2A-29CA1CE1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6CE5A-2089-63A6-C6A3-39AE94CB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55546-C3D5-64AE-6C19-6E832E3D8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409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97F2-421C-A5BB-8429-840BFD6DF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03952-889B-4028-6CA8-95DB74F33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7CCDC-2CD0-AB8B-8780-5B1E6636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E417C-6F57-4C1A-CF1D-FB76C200B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8A891-52F3-8517-4F42-AC079B04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456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92B387-151A-69F2-E2B3-267F087D2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F1254-D26B-42EA-7647-BC400431D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EC3F1-8BFB-45E7-3CA0-0F5A032E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9AF28-C5CC-1375-E00A-7D82CE1E5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E1FFF-57AA-8BE7-E89F-FD43D9C7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4443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7AD31-4150-7044-62D7-696A9B377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511E1-C06D-5A40-194C-6B685CAAA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4FA09-2997-C212-2149-9AE12768E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0C328-394C-4CA4-9C90-9BD8EF1E4A8F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215D1-7E4B-60BF-EA45-036D83169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4DEBC-21DB-7C0D-C04E-3A8216A71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C6E04-804D-4EA2-ACCF-137AA4E48EA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273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219B-A48B-EBC2-7BED-7983B9FDF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Week </a:t>
            </a:r>
            <a:r>
              <a:rPr lang="en-GB" dirty="0"/>
              <a:t>7</a:t>
            </a:r>
            <a:r>
              <a:rPr dirty="0"/>
              <a:t>: Testing and Test-Driven Development (TDD) with JUnit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Understand the principles of </a:t>
            </a:r>
            <a:r>
              <a:rPr b="1"/>
              <a:t>Test-Driven Development (TDD)</a:t>
            </a:r>
            <a:r>
              <a:t>.</a:t>
            </a:r>
          </a:p>
          <a:p>
            <a:pPr lvl="0"/>
            <a:r>
              <a:t>Learn how to use </a:t>
            </a:r>
            <a:r>
              <a:rPr b="1"/>
              <a:t>JUnit</a:t>
            </a:r>
            <a:r>
              <a:t> for testing in Java.</a:t>
            </a:r>
          </a:p>
          <a:p>
            <a:pPr lvl="0"/>
            <a:r>
              <a:t>Explore testing strategies for design patterns in the Quiz Manager System:</a:t>
            </a:r>
          </a:p>
          <a:p>
            <a:pPr lvl="1"/>
            <a:r>
              <a:rPr b="1"/>
              <a:t>Singleton</a:t>
            </a:r>
          </a:p>
          <a:p>
            <a:pPr lvl="1"/>
            <a:r>
              <a:rPr b="1"/>
              <a:t>Factory</a:t>
            </a:r>
          </a:p>
          <a:p>
            <a:pPr lvl="1"/>
            <a:r>
              <a:rPr b="1"/>
              <a:t>Visitor</a:t>
            </a:r>
          </a:p>
          <a:p>
            <a:pPr lvl="1"/>
            <a:r>
              <a:rPr b="1"/>
              <a:t>Observer</a:t>
            </a:r>
          </a:p>
          <a:p>
            <a:pPr lvl="0"/>
            <a:r>
              <a:t>Implement TDD practices to write tests before implementing functionality.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 to Test-Driven Development (TDD)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0561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b="1" dirty="0"/>
              <a:t>What is TDD?</a:t>
            </a:r>
          </a:p>
          <a:p>
            <a:pPr lvl="0"/>
            <a:r>
              <a:rPr dirty="0"/>
              <a:t>TDD is a software development approach where tests are written </a:t>
            </a:r>
            <a:r>
              <a:rPr b="1" dirty="0"/>
              <a:t>before</a:t>
            </a:r>
            <a:r>
              <a:rPr dirty="0"/>
              <a:t> the actual code.</a:t>
            </a:r>
          </a:p>
          <a:p>
            <a:pPr lvl="0"/>
            <a:r>
              <a:rPr dirty="0"/>
              <a:t>The process follows a </a:t>
            </a:r>
            <a:r>
              <a:rPr b="1" dirty="0"/>
              <a:t>Red-Green-Refactor</a:t>
            </a:r>
            <a:r>
              <a:rPr dirty="0"/>
              <a:t> cycle:</a:t>
            </a:r>
          </a:p>
          <a:p>
            <a:pPr marL="914400" lvl="1" indent="-457200">
              <a:buAutoNum type="arabicPeriod"/>
            </a:pPr>
            <a:r>
              <a:rPr b="1" dirty="0"/>
              <a:t>Red</a:t>
            </a:r>
            <a:r>
              <a:rPr dirty="0"/>
              <a:t>: Write a failing test for the desired functionality.</a:t>
            </a:r>
          </a:p>
          <a:p>
            <a:pPr marL="914400" lvl="1" indent="-457200">
              <a:buAutoNum type="arabicPeriod"/>
            </a:pPr>
            <a:r>
              <a:rPr b="1" dirty="0"/>
              <a:t>Green</a:t>
            </a:r>
            <a:r>
              <a:rPr dirty="0"/>
              <a:t>: Write the minimum code required to pass the test.</a:t>
            </a:r>
          </a:p>
          <a:p>
            <a:pPr marL="914400" lvl="1" indent="-457200">
              <a:buAutoNum type="arabicPeriod"/>
            </a:pPr>
            <a:r>
              <a:rPr b="1" dirty="0"/>
              <a:t>Refactor</a:t>
            </a:r>
            <a:r>
              <a:rPr dirty="0"/>
              <a:t>: Improve the code while ensuring the test still passes.</a:t>
            </a:r>
          </a:p>
          <a:p>
            <a:pPr marL="0" lvl="0" indent="0">
              <a:buNone/>
            </a:pPr>
            <a:r>
              <a:rPr b="1" dirty="0"/>
              <a:t>Benefits of TDD</a:t>
            </a:r>
            <a:r>
              <a:rPr dirty="0"/>
              <a:t>:</a:t>
            </a:r>
          </a:p>
          <a:p>
            <a:pPr marL="457200" lvl="0" indent="-457200">
              <a:buAutoNum type="arabicPeriod"/>
            </a:pPr>
            <a:r>
              <a:rPr b="1" dirty="0"/>
              <a:t>Improved Code Quality</a:t>
            </a:r>
            <a:r>
              <a:rPr dirty="0"/>
              <a:t>: Forces developers to think about edge cases and requirements upfront.</a:t>
            </a:r>
          </a:p>
          <a:p>
            <a:pPr marL="457200" lvl="0" indent="-457200">
              <a:buAutoNum type="arabicPeriod"/>
            </a:pPr>
            <a:r>
              <a:rPr b="1" dirty="0"/>
              <a:t>Regression Prevention</a:t>
            </a:r>
            <a:r>
              <a:rPr dirty="0"/>
              <a:t>: Tests act as a safety net for future changes.</a:t>
            </a:r>
          </a:p>
          <a:p>
            <a:pPr marL="457200" lvl="0" indent="-457200">
              <a:buAutoNum type="arabicPeriod"/>
            </a:pPr>
            <a:r>
              <a:rPr b="1" dirty="0"/>
              <a:t>Documentation</a:t>
            </a:r>
            <a:r>
              <a:rPr dirty="0"/>
              <a:t>: Tests serve as a form of documentation for the system’s behavior.</a:t>
            </a:r>
          </a:p>
          <a:p>
            <a:pPr marL="0" lvl="0" indent="0">
              <a:buNone/>
            </a:pPr>
            <a:r>
              <a:rPr b="1" dirty="0"/>
              <a:t>JUnit</a:t>
            </a:r>
            <a:r>
              <a:rPr dirty="0"/>
              <a:t>:</a:t>
            </a:r>
          </a:p>
          <a:p>
            <a:pPr lvl="0"/>
            <a:r>
              <a:rPr dirty="0"/>
              <a:t>JUnit is a popular testing framework in Java that supports TDD practices.</a:t>
            </a:r>
          </a:p>
          <a:p>
            <a:pPr lvl="0"/>
            <a:r>
              <a:rPr dirty="0"/>
              <a:t>It provides annotations like </a:t>
            </a:r>
            <a:r>
              <a:rPr dirty="0">
                <a:latin typeface="Courier"/>
              </a:rPr>
              <a:t>@Test</a:t>
            </a:r>
            <a:r>
              <a:rPr dirty="0"/>
              <a:t>, </a:t>
            </a:r>
            <a:r>
              <a:rPr dirty="0">
                <a:latin typeface="Courier"/>
              </a:rPr>
              <a:t>@BeforeEach</a:t>
            </a:r>
            <a:r>
              <a:rPr dirty="0"/>
              <a:t>, and </a:t>
            </a:r>
            <a:r>
              <a:rPr dirty="0">
                <a:latin typeface="Courier"/>
              </a:rPr>
              <a:t>@AfterEach</a:t>
            </a:r>
            <a:r>
              <a:rPr dirty="0"/>
              <a:t> to structure tests.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Testing Design Patterns in the Quiz Manager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1. Testing the Singleton Pattern</a:t>
            </a:r>
          </a:p>
          <a:p>
            <a:pPr marL="0" lvl="0" indent="0">
              <a:buNone/>
            </a:pPr>
            <a:r>
              <a:rPr b="1" dirty="0"/>
              <a:t>Context</a:t>
            </a:r>
            <a:r>
              <a:rPr dirty="0"/>
              <a:t>:</a:t>
            </a:r>
          </a:p>
          <a:p>
            <a:pPr lvl="0"/>
            <a:r>
              <a:rPr dirty="0"/>
              <a:t>The </a:t>
            </a:r>
            <a:r>
              <a:rPr dirty="0" err="1">
                <a:latin typeface="Courier"/>
              </a:rPr>
              <a:t>DataLayer</a:t>
            </a:r>
            <a:r>
              <a:rPr dirty="0"/>
              <a:t> class in the Quiz Manager System uses the Singleton pattern to ensure only one instance exists.</a:t>
            </a:r>
          </a:p>
          <a:p>
            <a:pPr marL="0" lvl="0" indent="0">
              <a:buNone/>
            </a:pPr>
            <a:r>
              <a:rPr b="1" dirty="0"/>
              <a:t>Challenges</a:t>
            </a:r>
            <a:r>
              <a:rPr dirty="0"/>
              <a:t>:</a:t>
            </a:r>
          </a:p>
          <a:p>
            <a:pPr lvl="0"/>
            <a:r>
              <a:rPr dirty="0"/>
              <a:t>Singletons are hard to test because they maintain global state.</a:t>
            </a:r>
          </a:p>
          <a:p>
            <a:pPr marL="0" lvl="0" indent="0">
              <a:buNone/>
            </a:pPr>
            <a:r>
              <a:rPr b="1" dirty="0"/>
              <a:t>Test Case</a:t>
            </a:r>
            <a:r>
              <a:rPr dirty="0"/>
              <a:t>:</a:t>
            </a:r>
          </a:p>
          <a:p>
            <a:pPr lvl="0"/>
            <a:r>
              <a:rPr dirty="0"/>
              <a:t>Verify that multiple calls to </a:t>
            </a:r>
            <a:r>
              <a:rPr dirty="0" err="1">
                <a:latin typeface="Courier"/>
              </a:rPr>
              <a:t>DataLayer.getInstance</a:t>
            </a:r>
            <a:r>
              <a:rPr dirty="0">
                <a:latin typeface="Courier"/>
              </a:rPr>
              <a:t>()</a:t>
            </a:r>
            <a:r>
              <a:rPr dirty="0"/>
              <a:t> return the same instance.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6425"/>
            <a:ext cx="10515600" cy="5935624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/>
              <a:t>JUnit Example</a:t>
            </a:r>
            <a:r>
              <a:rPr dirty="0"/>
              <a:t>:</a:t>
            </a:r>
          </a:p>
          <a:p>
            <a:pPr lvl="0" indent="0">
              <a:buNone/>
            </a:pPr>
            <a:r>
              <a:rPr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org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junit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jupiter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api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Test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static</a:t>
            </a:r>
            <a:r>
              <a:rPr b="1" dirty="0">
                <a:solidFill>
                  <a:srgbClr val="008000"/>
                </a:solidFill>
                <a:latin typeface="Courier"/>
              </a:rPr>
              <a:t> 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org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junit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jupiter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api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Assertions</a:t>
            </a:r>
            <a:r>
              <a:rPr dirty="0">
                <a:solidFill>
                  <a:srgbClr val="666666"/>
                </a:solidFill>
                <a:latin typeface="Courier"/>
              </a:rPr>
              <a:t>.*;</a:t>
            </a:r>
            <a:br>
              <a:rPr dirty="0"/>
            </a:b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DataLayerTest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7D9029"/>
                </a:solidFill>
                <a:latin typeface="Courier"/>
              </a:rPr>
              <a:t>@Test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void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testSingletonInstance</a:t>
            </a:r>
            <a:r>
              <a:rPr dirty="0">
                <a:solidFill>
                  <a:srgbClr val="666666"/>
                </a:solidFill>
                <a:latin typeface="Courier"/>
              </a:rPr>
              <a:t>()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latin typeface="Courier"/>
              </a:rPr>
              <a:t>DataLayer</a:t>
            </a:r>
            <a:r>
              <a:rPr dirty="0">
                <a:latin typeface="Courier"/>
              </a:rPr>
              <a:t> instance1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DataLayer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getInstance</a:t>
            </a:r>
            <a:r>
              <a:rPr dirty="0">
                <a:solidFill>
                  <a:srgbClr val="666666"/>
                </a:solidFill>
                <a:latin typeface="Courier"/>
              </a:rPr>
              <a:t>();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latin typeface="Courier"/>
              </a:rPr>
              <a:t>DataLayer</a:t>
            </a:r>
            <a:r>
              <a:rPr dirty="0">
                <a:latin typeface="Courier"/>
              </a:rPr>
              <a:t> instance2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DataLayer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getInstance</a:t>
            </a:r>
            <a:r>
              <a:rPr dirty="0">
                <a:solidFill>
                  <a:srgbClr val="666666"/>
                </a:solidFill>
                <a:latin typeface="Courier"/>
              </a:rPr>
              <a:t>();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solidFill>
                  <a:srgbClr val="06287E"/>
                </a:solidFill>
                <a:latin typeface="Courier"/>
              </a:rPr>
              <a:t>assertSame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instance1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instance2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"Both instances should be the same"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2. Testing the Factory Pattern</a:t>
            </a:r>
          </a:p>
          <a:p>
            <a:pPr marL="0" lvl="0" indent="0">
              <a:buNone/>
            </a:pPr>
            <a:r>
              <a:rPr b="1"/>
              <a:t>Context</a:t>
            </a:r>
            <a:r>
              <a:t>:</a:t>
            </a:r>
          </a:p>
          <a:p>
            <a:pPr lvl="0"/>
            <a:r>
              <a:t>The </a:t>
            </a:r>
            <a:r>
              <a:rPr>
                <a:latin typeface="Courier"/>
              </a:rPr>
              <a:t>QuizFactory</a:t>
            </a:r>
            <a:r>
              <a:t> class dynamically creates different types of quizzes (e.g., </a:t>
            </a:r>
            <a:r>
              <a:rPr>
                <a:latin typeface="Courier"/>
              </a:rPr>
              <a:t>TimedQuiz</a:t>
            </a:r>
            <a:r>
              <a:t>, </a:t>
            </a:r>
            <a:r>
              <a:rPr>
                <a:latin typeface="Courier"/>
              </a:rPr>
              <a:t>StandardQuiz</a:t>
            </a:r>
            <a:r>
              <a:t>).</a:t>
            </a:r>
          </a:p>
          <a:p>
            <a:pPr marL="0" lvl="0" indent="0">
              <a:buNone/>
            </a:pPr>
            <a:r>
              <a:rPr b="1"/>
              <a:t>Test Case</a:t>
            </a:r>
            <a:r>
              <a:t>:</a:t>
            </a:r>
          </a:p>
          <a:p>
            <a:pPr lvl="0"/>
            <a:r>
              <a:t>Verify that the factory creates the correct type of quiz based on input.</a:t>
            </a:r>
          </a:p>
          <a:p>
            <a:pPr marL="0" lvl="0" indent="0">
              <a:buNone/>
            </a:pPr>
            <a:r>
              <a:rPr b="1"/>
              <a:t>JUnit Example</a:t>
            </a:r>
            <a:r>
              <a:t>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244"/>
            <a:ext cx="10515600" cy="6426277"/>
          </a:xfrm>
        </p:spPr>
        <p:txBody>
          <a:bodyPr>
            <a:normAutofit fontScale="70000" lnSpcReduction="20000"/>
          </a:bodyPr>
          <a:lstStyle/>
          <a:p>
            <a:pPr lvl="0" indent="0">
              <a:buNone/>
            </a:pPr>
            <a:r>
              <a:rPr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org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junit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jupiter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api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Test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static</a:t>
            </a:r>
            <a:r>
              <a:rPr b="1" dirty="0">
                <a:solidFill>
                  <a:srgbClr val="008000"/>
                </a:solidFill>
                <a:latin typeface="Courier"/>
              </a:rPr>
              <a:t> 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org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junit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jupiter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api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Assertions</a:t>
            </a:r>
            <a:r>
              <a:rPr dirty="0">
                <a:solidFill>
                  <a:srgbClr val="666666"/>
                </a:solidFill>
                <a:latin typeface="Courier"/>
              </a:rPr>
              <a:t>.*;</a:t>
            </a:r>
            <a:br>
              <a:rPr dirty="0"/>
            </a:b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QuizFactoryTest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7D9029"/>
                </a:solidFill>
                <a:latin typeface="Courier"/>
              </a:rPr>
              <a:t>@Test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void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testCreateTimedQuiz</a:t>
            </a:r>
            <a:r>
              <a:rPr dirty="0">
                <a:solidFill>
                  <a:srgbClr val="666666"/>
                </a:solidFill>
                <a:latin typeface="Courier"/>
              </a:rPr>
              <a:t>()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Quiz </a:t>
            </a:r>
            <a:r>
              <a:rPr dirty="0" err="1">
                <a:latin typeface="Courier"/>
              </a:rPr>
              <a:t>quiz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QuizFactory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createQuiz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"timed"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solidFill>
                  <a:srgbClr val="06287E"/>
                </a:solidFill>
                <a:latin typeface="Courier"/>
              </a:rPr>
              <a:t>assertTrue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quiz </a:t>
            </a:r>
            <a:r>
              <a:rPr b="1" dirty="0" err="1">
                <a:solidFill>
                  <a:srgbClr val="007020"/>
                </a:solidFill>
                <a:latin typeface="Courier"/>
              </a:rPr>
              <a:t>instanceof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TimedQuiz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"Quiz should be of type </a:t>
            </a:r>
            <a:r>
              <a:rPr dirty="0" err="1">
                <a:solidFill>
                  <a:srgbClr val="4070A0"/>
                </a:solidFill>
                <a:latin typeface="Courier"/>
              </a:rPr>
              <a:t>TimedQuiz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7D9029"/>
                </a:solidFill>
                <a:latin typeface="Courier"/>
              </a:rPr>
              <a:t>@Test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void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testCreateStandardQuiz</a:t>
            </a:r>
            <a:r>
              <a:rPr dirty="0">
                <a:solidFill>
                  <a:srgbClr val="666666"/>
                </a:solidFill>
                <a:latin typeface="Courier"/>
              </a:rPr>
              <a:t>()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Quiz </a:t>
            </a:r>
            <a:r>
              <a:rPr dirty="0" err="1">
                <a:latin typeface="Courier"/>
              </a:rPr>
              <a:t>quiz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QuizFactory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createQuiz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"standard"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solidFill>
                  <a:srgbClr val="06287E"/>
                </a:solidFill>
                <a:latin typeface="Courier"/>
              </a:rPr>
              <a:t>assertTrue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quiz </a:t>
            </a:r>
            <a:r>
              <a:rPr b="1" dirty="0" err="1">
                <a:solidFill>
                  <a:srgbClr val="007020"/>
                </a:solidFill>
                <a:latin typeface="Courier"/>
              </a:rPr>
              <a:t>instanceof</a:t>
            </a:r>
            <a:r>
              <a:rPr dirty="0">
                <a:latin typeface="Courier"/>
              </a:rPr>
              <a:t> Quiz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"Quiz should be of type </a:t>
            </a:r>
            <a:r>
              <a:rPr dirty="0" err="1">
                <a:solidFill>
                  <a:srgbClr val="4070A0"/>
                </a:solidFill>
                <a:latin typeface="Courier"/>
              </a:rPr>
              <a:t>StandardQuiz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7D9029"/>
                </a:solidFill>
                <a:latin typeface="Courier"/>
              </a:rPr>
              <a:t>@Test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void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testInvalidQuizType</a:t>
            </a:r>
            <a:r>
              <a:rPr dirty="0">
                <a:solidFill>
                  <a:srgbClr val="666666"/>
                </a:solidFill>
                <a:latin typeface="Courier"/>
              </a:rPr>
              <a:t>()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>
                <a:solidFill>
                  <a:srgbClr val="008000"/>
                </a:solidFill>
                <a:latin typeface="Courier"/>
              </a:rPr>
              <a:t>Exception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exception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assertThrows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solidFill>
                  <a:srgbClr val="008000"/>
                </a:solidFill>
                <a:latin typeface="Courier"/>
              </a:rPr>
              <a:t>IllegalArgumentException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class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()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-&gt;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dirty="0" err="1">
                <a:latin typeface="Courier"/>
              </a:rPr>
              <a:t>QuizFactory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createQuiz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"unknown"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>
                <a:solidFill>
                  <a:srgbClr val="666666"/>
                </a:solidFill>
                <a:latin typeface="Courier"/>
              </a:rPr>
              <a:t>});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solidFill>
                  <a:srgbClr val="06287E"/>
                </a:solidFill>
                <a:latin typeface="Courier"/>
              </a:rPr>
              <a:t>assertEquals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"Unknown quiz type: unknown"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exception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getMessage</a:t>
            </a:r>
            <a:r>
              <a:rPr dirty="0">
                <a:solidFill>
                  <a:srgbClr val="666666"/>
                </a:solidFill>
                <a:latin typeface="Courier"/>
              </a:rPr>
              <a:t>());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3. Testing the Visitor Pattern</a:t>
            </a:r>
          </a:p>
          <a:p>
            <a:pPr marL="0" lvl="0" indent="0">
              <a:buNone/>
            </a:pPr>
            <a:r>
              <a:rPr b="1"/>
              <a:t>Context</a:t>
            </a:r>
            <a:r>
              <a:t>:</a:t>
            </a:r>
          </a:p>
          <a:p>
            <a:pPr lvl="0"/>
            <a:r>
              <a:t>Suppose the Quiz Manager System uses the Visitor pattern to calculate quiz scores or generate reports.</a:t>
            </a:r>
          </a:p>
          <a:p>
            <a:pPr marL="0" lvl="0" indent="0">
              <a:buNone/>
            </a:pPr>
            <a:r>
              <a:rPr b="1"/>
              <a:t>Test Case</a:t>
            </a:r>
            <a:r>
              <a:t>:</a:t>
            </a:r>
          </a:p>
          <a:p>
            <a:pPr lvl="0"/>
            <a:r>
              <a:t>Verify that the visitor correctly processes different types of quizzes.</a:t>
            </a:r>
          </a:p>
          <a:p>
            <a:pPr marL="0" lvl="0" indent="0">
              <a:buNone/>
            </a:pPr>
            <a:r>
              <a:rPr b="1"/>
              <a:t>JUnit Example</a:t>
            </a:r>
            <a:r>
              <a:t>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414"/>
            <a:ext cx="10515600" cy="6203253"/>
          </a:xfrm>
        </p:spPr>
        <p:txBody>
          <a:bodyPr>
            <a:normAutofit fontScale="92500" lnSpcReduction="10000"/>
          </a:bodyPr>
          <a:lstStyle/>
          <a:p>
            <a:pPr lvl="0" indent="0">
              <a:buNone/>
            </a:pPr>
            <a:r>
              <a:rPr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org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junit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jupiter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api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Test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static</a:t>
            </a:r>
            <a:r>
              <a:rPr b="1" dirty="0">
                <a:solidFill>
                  <a:srgbClr val="008000"/>
                </a:solidFill>
                <a:latin typeface="Courier"/>
              </a:rPr>
              <a:t> 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org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junit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jupiter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api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Assertions</a:t>
            </a:r>
            <a:r>
              <a:rPr dirty="0">
                <a:solidFill>
                  <a:srgbClr val="666666"/>
                </a:solidFill>
                <a:latin typeface="Courier"/>
              </a:rPr>
              <a:t>.*;</a:t>
            </a:r>
            <a:br>
              <a:rPr dirty="0"/>
            </a:b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VisitorTest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7D9029"/>
                </a:solidFill>
                <a:latin typeface="Courier"/>
              </a:rPr>
              <a:t>@Test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void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testVisitorCalculatesScore</a:t>
            </a:r>
            <a:r>
              <a:rPr dirty="0">
                <a:solidFill>
                  <a:srgbClr val="666666"/>
                </a:solidFill>
                <a:latin typeface="Courier"/>
              </a:rPr>
              <a:t>()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Quiz </a:t>
            </a:r>
            <a:r>
              <a:rPr dirty="0" err="1">
                <a:latin typeface="Courier"/>
              </a:rPr>
              <a:t>quiz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6287E"/>
                </a:solidFill>
                <a:latin typeface="Courier"/>
              </a:rPr>
              <a:t>Quiz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"Math Quiz"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latin typeface="Courier"/>
              </a:rPr>
              <a:t>quiz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addQuestion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6287E"/>
                </a:solidFill>
                <a:latin typeface="Courier"/>
              </a:rPr>
              <a:t>Question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"2 + 2?"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solidFill>
                  <a:srgbClr val="666666"/>
                </a:solidFill>
                <a:latin typeface="Courier"/>
              </a:rPr>
              <a:t>[]{</a:t>
            </a:r>
            <a:r>
              <a:rPr dirty="0">
                <a:solidFill>
                  <a:srgbClr val="4070A0"/>
                </a:solidFill>
                <a:latin typeface="Courier"/>
              </a:rPr>
              <a:t>"3"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"4"</a:t>
            </a:r>
            <a:r>
              <a:rPr dirty="0">
                <a:solidFill>
                  <a:srgbClr val="666666"/>
                </a:solidFill>
                <a:latin typeface="Courier"/>
              </a:rPr>
              <a:t>},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A070"/>
                </a:solidFill>
                <a:latin typeface="Courier"/>
              </a:rPr>
              <a:t>1</a:t>
            </a:r>
            <a:r>
              <a:rPr dirty="0">
                <a:solidFill>
                  <a:srgbClr val="666666"/>
                </a:solidFill>
                <a:latin typeface="Courier"/>
              </a:rPr>
              <a:t>));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latin typeface="Courier"/>
              </a:rPr>
              <a:t>quiz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addQuestion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6287E"/>
                </a:solidFill>
                <a:latin typeface="Courier"/>
              </a:rPr>
              <a:t>Question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"5 - 3?"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solidFill>
                  <a:srgbClr val="666666"/>
                </a:solidFill>
                <a:latin typeface="Courier"/>
              </a:rPr>
              <a:t>[]{</a:t>
            </a:r>
            <a:r>
              <a:rPr dirty="0">
                <a:solidFill>
                  <a:srgbClr val="4070A0"/>
                </a:solidFill>
                <a:latin typeface="Courier"/>
              </a:rPr>
              <a:t>"1"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"2"</a:t>
            </a:r>
            <a:r>
              <a:rPr dirty="0">
                <a:solidFill>
                  <a:srgbClr val="666666"/>
                </a:solidFill>
                <a:latin typeface="Courier"/>
              </a:rPr>
              <a:t>},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A070"/>
                </a:solidFill>
                <a:latin typeface="Courier"/>
              </a:rPr>
              <a:t>1</a:t>
            </a:r>
            <a:r>
              <a:rPr dirty="0">
                <a:solidFill>
                  <a:srgbClr val="666666"/>
                </a:solidFill>
                <a:latin typeface="Courier"/>
              </a:rPr>
              <a:t>));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latin typeface="Courier"/>
              </a:rPr>
              <a:t>ScoreVisitor</a:t>
            </a:r>
            <a:r>
              <a:rPr dirty="0">
                <a:latin typeface="Courier"/>
              </a:rPr>
              <a:t> visitor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ScoreVisitor</a:t>
            </a:r>
            <a:r>
              <a:rPr dirty="0">
                <a:solidFill>
                  <a:srgbClr val="666666"/>
                </a:solidFill>
                <a:latin typeface="Courier"/>
              </a:rPr>
              <a:t>();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latin typeface="Courier"/>
              </a:rPr>
              <a:t>quiz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accept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visitor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solidFill>
                  <a:srgbClr val="06287E"/>
                </a:solidFill>
                <a:latin typeface="Courier"/>
              </a:rPr>
              <a:t>assertEquals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A070"/>
                </a:solidFill>
                <a:latin typeface="Courier"/>
              </a:rPr>
              <a:t>2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visitor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getScore</a:t>
            </a:r>
            <a:r>
              <a:rPr dirty="0">
                <a:solidFill>
                  <a:srgbClr val="666666"/>
                </a:solidFill>
                <a:latin typeface="Courier"/>
              </a:rPr>
              <a:t>(),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"Score should be 2 for all correct answers"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4. Testing the Observer Pattern</a:t>
            </a:r>
          </a:p>
          <a:p>
            <a:pPr marL="0" lvl="0" indent="0">
              <a:buNone/>
            </a:pPr>
            <a:r>
              <a:rPr b="1"/>
              <a:t>Context</a:t>
            </a:r>
            <a:r>
              <a:t>:</a:t>
            </a:r>
          </a:p>
          <a:p>
            <a:pPr lvl="0"/>
            <a:r>
              <a:t>The </a:t>
            </a:r>
            <a:r>
              <a:rPr>
                <a:latin typeface="Courier"/>
              </a:rPr>
              <a:t>QuizManager</a:t>
            </a:r>
            <a:r>
              <a:t> class uses the Observer pattern to notify components (e.g., </a:t>
            </a:r>
            <a:r>
              <a:rPr>
                <a:latin typeface="Courier"/>
              </a:rPr>
              <a:t>Logger</a:t>
            </a:r>
            <a:r>
              <a:t>, </a:t>
            </a:r>
            <a:r>
              <a:rPr>
                <a:latin typeface="Courier"/>
              </a:rPr>
              <a:t>NotificationService</a:t>
            </a:r>
            <a:r>
              <a:t>) when a quiz is completed.</a:t>
            </a:r>
          </a:p>
          <a:p>
            <a:pPr marL="0" lvl="0" indent="0">
              <a:buNone/>
            </a:pPr>
            <a:r>
              <a:rPr b="1"/>
              <a:t>Test Case</a:t>
            </a:r>
            <a:r>
              <a:t>:</a:t>
            </a:r>
          </a:p>
          <a:p>
            <a:pPr lvl="0"/>
            <a:r>
              <a:t>Verify that all registered observers are notified when a quiz is completed.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8532"/>
            <a:ext cx="10515600" cy="6143780"/>
          </a:xfrm>
        </p:spPr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b="1" dirty="0"/>
              <a:t>JUnit Example</a:t>
            </a:r>
            <a:r>
              <a:rPr dirty="0"/>
              <a:t>:</a:t>
            </a:r>
          </a:p>
          <a:p>
            <a:pPr lvl="0" indent="0">
              <a:buNone/>
            </a:pPr>
            <a:r>
              <a:rPr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org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junit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jupiter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api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Test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static</a:t>
            </a:r>
            <a:r>
              <a:rPr b="1" dirty="0">
                <a:solidFill>
                  <a:srgbClr val="008000"/>
                </a:solidFill>
                <a:latin typeface="Courier"/>
              </a:rPr>
              <a:t> 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org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mockito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Mockito</a:t>
            </a:r>
            <a:r>
              <a:rPr dirty="0">
                <a:solidFill>
                  <a:srgbClr val="666666"/>
                </a:solidFill>
                <a:latin typeface="Courier"/>
              </a:rPr>
              <a:t>.*;</a:t>
            </a:r>
            <a:br>
              <a:rPr dirty="0"/>
            </a:b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ObserverTest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7D9029"/>
                </a:solidFill>
                <a:latin typeface="Courier"/>
              </a:rPr>
              <a:t>@Test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void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testObserversNotified</a:t>
            </a:r>
            <a:r>
              <a:rPr dirty="0">
                <a:solidFill>
                  <a:srgbClr val="666666"/>
                </a:solidFill>
                <a:latin typeface="Courier"/>
              </a:rPr>
              <a:t>()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latin typeface="Courier"/>
              </a:rPr>
              <a:t>QuizManager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quizManager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QuizManager</a:t>
            </a:r>
            <a:r>
              <a:rPr dirty="0">
                <a:solidFill>
                  <a:srgbClr val="666666"/>
                </a:solidFill>
                <a:latin typeface="Courier"/>
              </a:rPr>
              <a:t>();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>
                <a:solidFill>
                  <a:srgbClr val="008000"/>
                </a:solidFill>
                <a:latin typeface="Courier"/>
              </a:rPr>
              <a:t>Observer</a:t>
            </a:r>
            <a:r>
              <a:rPr dirty="0">
                <a:latin typeface="Courier"/>
              </a:rPr>
              <a:t> logger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6287E"/>
                </a:solidFill>
                <a:latin typeface="Courier"/>
              </a:rPr>
              <a:t>mock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solidFill>
                  <a:srgbClr val="008000"/>
                </a:solidFill>
                <a:latin typeface="Courier"/>
              </a:rPr>
              <a:t>Observer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class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>
                <a:solidFill>
                  <a:srgbClr val="008000"/>
                </a:solidFill>
                <a:latin typeface="Courier"/>
              </a:rPr>
              <a:t>Observer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notificationService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6287E"/>
                </a:solidFill>
                <a:latin typeface="Courier"/>
              </a:rPr>
              <a:t>mock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solidFill>
                  <a:srgbClr val="008000"/>
                </a:solidFill>
                <a:latin typeface="Courier"/>
              </a:rPr>
              <a:t>Observer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class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latin typeface="Courier"/>
              </a:rPr>
              <a:t>quizManager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addObserver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logger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latin typeface="Courier"/>
              </a:rPr>
              <a:t>quizManager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addObserver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latin typeface="Courier"/>
              </a:rPr>
              <a:t>notificationService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    Quiz </a:t>
            </a:r>
            <a:r>
              <a:rPr dirty="0" err="1">
                <a:latin typeface="Courier"/>
              </a:rPr>
              <a:t>quiz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6287E"/>
                </a:solidFill>
                <a:latin typeface="Courier"/>
              </a:rPr>
              <a:t>Quiz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"Science Quiz"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latin typeface="Courier"/>
              </a:rPr>
              <a:t>quizManager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completeQuiz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quiz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>
                <a:solidFill>
                  <a:srgbClr val="06287E"/>
                </a:solidFill>
                <a:latin typeface="Courier"/>
              </a:rPr>
              <a:t>verify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logger</a:t>
            </a:r>
            <a:r>
              <a:rPr dirty="0">
                <a:solidFill>
                  <a:srgbClr val="666666"/>
                </a:solidFill>
                <a:latin typeface="Courier"/>
              </a:rPr>
              <a:t>).</a:t>
            </a:r>
            <a:r>
              <a:rPr dirty="0">
                <a:solidFill>
                  <a:srgbClr val="06287E"/>
                </a:solidFill>
                <a:latin typeface="Courier"/>
              </a:rPr>
              <a:t>update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"Quiz completed: Science Quiz"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>
                <a:solidFill>
                  <a:srgbClr val="06287E"/>
                </a:solidFill>
                <a:latin typeface="Courier"/>
              </a:rPr>
              <a:t>verify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latin typeface="Courier"/>
              </a:rPr>
              <a:t>notificationService</a:t>
            </a:r>
            <a:r>
              <a:rPr dirty="0">
                <a:solidFill>
                  <a:srgbClr val="666666"/>
                </a:solidFill>
                <a:latin typeface="Courier"/>
              </a:rPr>
              <a:t>).</a:t>
            </a:r>
            <a:r>
              <a:rPr dirty="0">
                <a:solidFill>
                  <a:srgbClr val="06287E"/>
                </a:solidFill>
                <a:latin typeface="Courier"/>
              </a:rPr>
              <a:t>update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"Quiz completed: Science Quiz"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Lab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9839"/>
            <a:ext cx="10515600" cy="5143036"/>
          </a:xfrm>
        </p:spPr>
        <p:txBody>
          <a:bodyPr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Part 1: Setup</a:t>
            </a:r>
          </a:p>
          <a:p>
            <a:pPr marL="457200" lvl="0" indent="-457200">
              <a:buAutoNum type="arabicPeriod"/>
            </a:pPr>
            <a:r>
              <a:rPr b="1" dirty="0"/>
              <a:t>Install JUnit</a:t>
            </a:r>
            <a:r>
              <a:rPr dirty="0"/>
              <a:t>:</a:t>
            </a:r>
          </a:p>
          <a:p>
            <a:pPr lvl="1"/>
            <a:r>
              <a:rPr dirty="0"/>
              <a:t>Use Maven or Gradle to include JUnit 5 in your project [[5]].</a:t>
            </a:r>
          </a:p>
          <a:p>
            <a:pPr lvl="1"/>
            <a:r>
              <a:rPr dirty="0"/>
              <a:t>Example Maven dependency:</a:t>
            </a:r>
          </a:p>
          <a:p>
            <a:pPr lvl="2" indent="0">
              <a:buNone/>
            </a:pPr>
            <a:r>
              <a:rPr dirty="0">
                <a:latin typeface="Courier"/>
              </a:rPr>
              <a:t>&lt;</a:t>
            </a:r>
            <a:r>
              <a:rPr b="1" dirty="0">
                <a:solidFill>
                  <a:srgbClr val="007020"/>
                </a:solidFill>
                <a:latin typeface="Courier"/>
              </a:rPr>
              <a:t>dependency</a:t>
            </a:r>
            <a:r>
              <a:rPr dirty="0">
                <a:latin typeface="Courier"/>
              </a:rPr>
              <a:t>&gt;</a:t>
            </a:r>
            <a:br>
              <a:rPr dirty="0"/>
            </a:br>
            <a:r>
              <a:rPr dirty="0">
                <a:latin typeface="Courier"/>
              </a:rPr>
              <a:t>    &lt;</a:t>
            </a:r>
            <a:r>
              <a:rPr b="1" dirty="0" err="1">
                <a:solidFill>
                  <a:srgbClr val="007020"/>
                </a:solidFill>
                <a:latin typeface="Courier"/>
              </a:rPr>
              <a:t>groupId</a:t>
            </a:r>
            <a:r>
              <a:rPr dirty="0">
                <a:latin typeface="Courier"/>
              </a:rPr>
              <a:t>&gt;</a:t>
            </a:r>
            <a:r>
              <a:rPr dirty="0" err="1">
                <a:latin typeface="Courier"/>
              </a:rPr>
              <a:t>org.junit.jupiter</a:t>
            </a:r>
            <a:r>
              <a:rPr dirty="0">
                <a:latin typeface="Courier"/>
              </a:rPr>
              <a:t>&lt;/</a:t>
            </a:r>
            <a:r>
              <a:rPr b="1" dirty="0" err="1">
                <a:solidFill>
                  <a:srgbClr val="007020"/>
                </a:solidFill>
                <a:latin typeface="Courier"/>
              </a:rPr>
              <a:t>groupId</a:t>
            </a:r>
            <a:r>
              <a:rPr dirty="0">
                <a:latin typeface="Courier"/>
              </a:rPr>
              <a:t>&gt;</a:t>
            </a:r>
            <a:br>
              <a:rPr dirty="0"/>
            </a:br>
            <a:r>
              <a:rPr dirty="0">
                <a:latin typeface="Courier"/>
              </a:rPr>
              <a:t>    &lt;</a:t>
            </a:r>
            <a:r>
              <a:rPr b="1" dirty="0" err="1">
                <a:solidFill>
                  <a:srgbClr val="007020"/>
                </a:solidFill>
                <a:latin typeface="Courier"/>
              </a:rPr>
              <a:t>artifactId</a:t>
            </a:r>
            <a:r>
              <a:rPr dirty="0">
                <a:latin typeface="Courier"/>
              </a:rPr>
              <a:t>&gt;</a:t>
            </a:r>
            <a:r>
              <a:rPr dirty="0" err="1">
                <a:latin typeface="Courier"/>
              </a:rPr>
              <a:t>junit-jupiter</a:t>
            </a:r>
            <a:r>
              <a:rPr dirty="0">
                <a:latin typeface="Courier"/>
              </a:rPr>
              <a:t>&lt;/</a:t>
            </a:r>
            <a:r>
              <a:rPr b="1" dirty="0" err="1">
                <a:solidFill>
                  <a:srgbClr val="007020"/>
                </a:solidFill>
                <a:latin typeface="Courier"/>
              </a:rPr>
              <a:t>artifactId</a:t>
            </a:r>
            <a:r>
              <a:rPr dirty="0">
                <a:latin typeface="Courier"/>
              </a:rPr>
              <a:t>&gt;</a:t>
            </a:r>
            <a:br>
              <a:rPr dirty="0"/>
            </a:br>
            <a:r>
              <a:rPr dirty="0">
                <a:latin typeface="Courier"/>
              </a:rPr>
              <a:t>    &lt;</a:t>
            </a:r>
            <a:r>
              <a:rPr b="1" dirty="0">
                <a:solidFill>
                  <a:srgbClr val="007020"/>
                </a:solidFill>
                <a:latin typeface="Courier"/>
              </a:rPr>
              <a:t>version</a:t>
            </a:r>
            <a:r>
              <a:rPr dirty="0">
                <a:latin typeface="Courier"/>
              </a:rPr>
              <a:t>&gt;5.9.3&lt;/</a:t>
            </a:r>
            <a:r>
              <a:rPr b="1" dirty="0">
                <a:solidFill>
                  <a:srgbClr val="007020"/>
                </a:solidFill>
                <a:latin typeface="Courier"/>
              </a:rPr>
              <a:t>version</a:t>
            </a:r>
            <a:r>
              <a:rPr dirty="0">
                <a:latin typeface="Courier"/>
              </a:rPr>
              <a:t>&gt;</a:t>
            </a:r>
            <a:br>
              <a:rPr dirty="0"/>
            </a:br>
            <a:r>
              <a:rPr dirty="0">
                <a:latin typeface="Courier"/>
              </a:rPr>
              <a:t>    &lt;</a:t>
            </a:r>
            <a:r>
              <a:rPr b="1" dirty="0">
                <a:solidFill>
                  <a:srgbClr val="007020"/>
                </a:solidFill>
                <a:latin typeface="Courier"/>
              </a:rPr>
              <a:t>scope</a:t>
            </a:r>
            <a:r>
              <a:rPr dirty="0">
                <a:latin typeface="Courier"/>
              </a:rPr>
              <a:t>&gt;test&lt;/</a:t>
            </a:r>
            <a:r>
              <a:rPr b="1" dirty="0">
                <a:solidFill>
                  <a:srgbClr val="007020"/>
                </a:solidFill>
                <a:latin typeface="Courier"/>
              </a:rPr>
              <a:t>scope</a:t>
            </a:r>
            <a:r>
              <a:rPr dirty="0">
                <a:latin typeface="Courier"/>
              </a:rPr>
              <a:t>&gt;</a:t>
            </a:r>
            <a:br>
              <a:rPr dirty="0"/>
            </a:br>
            <a:r>
              <a:rPr dirty="0">
                <a:latin typeface="Courier"/>
              </a:rPr>
              <a:t>&lt;/</a:t>
            </a:r>
            <a:r>
              <a:rPr b="1" dirty="0">
                <a:solidFill>
                  <a:srgbClr val="007020"/>
                </a:solidFill>
                <a:latin typeface="Courier"/>
              </a:rPr>
              <a:t>dependency</a:t>
            </a:r>
            <a:r>
              <a:rPr dirty="0">
                <a:latin typeface="Courier"/>
              </a:rPr>
              <a:t>&gt;</a:t>
            </a:r>
          </a:p>
          <a:p>
            <a:pPr marL="0" lvl="0" indent="0">
              <a:buNone/>
            </a:pPr>
            <a:r>
              <a:rPr dirty="0"/>
              <a:t>OR use JUnit from the command line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    </a:t>
            </a:r>
            <a:r>
              <a:rPr dirty="0" err="1">
                <a:latin typeface="Courier"/>
              </a:rPr>
              <a:t>javac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7D9029"/>
                </a:solidFill>
                <a:latin typeface="Courier"/>
              </a:rPr>
              <a:t>-cp</a:t>
            </a:r>
            <a:r>
              <a:rPr dirty="0">
                <a:latin typeface="Courier"/>
              </a:rPr>
              <a:t> .:junit-platform-console-standalone-1.8.2.jar DataLayerTest.java</a:t>
            </a:r>
            <a:br>
              <a:rPr dirty="0"/>
            </a:br>
            <a:r>
              <a:rPr dirty="0">
                <a:latin typeface="Courier"/>
              </a:rPr>
              <a:t>    java </a:t>
            </a:r>
            <a:r>
              <a:rPr dirty="0">
                <a:solidFill>
                  <a:srgbClr val="7D9029"/>
                </a:solidFill>
                <a:latin typeface="Courier"/>
              </a:rPr>
              <a:t>-jar</a:t>
            </a:r>
            <a:r>
              <a:rPr dirty="0">
                <a:latin typeface="Courier"/>
              </a:rPr>
              <a:t> junit-platform-console-standalone-1.8.2.jar </a:t>
            </a:r>
            <a:r>
              <a:rPr dirty="0">
                <a:solidFill>
                  <a:srgbClr val="7D9029"/>
                </a:solidFill>
                <a:latin typeface="Courier"/>
              </a:rPr>
              <a:t>--class-path</a:t>
            </a:r>
            <a:r>
              <a:rPr dirty="0">
                <a:latin typeface="Courier"/>
              </a:rPr>
              <a:t> . </a:t>
            </a:r>
            <a:r>
              <a:rPr dirty="0">
                <a:solidFill>
                  <a:srgbClr val="7D9029"/>
                </a:solidFill>
                <a:latin typeface="Courier"/>
              </a:rPr>
              <a:t>--scan-class-path</a:t>
            </a:r>
          </a:p>
          <a:p>
            <a:pPr marL="457200" lvl="0" indent="-457200">
              <a:buAutoNum type="arabicPeriod" startAt="2"/>
            </a:pPr>
            <a:r>
              <a:rPr b="1" dirty="0"/>
              <a:t>Create Test Classes</a:t>
            </a:r>
            <a:r>
              <a:rPr dirty="0"/>
              <a:t>:</a:t>
            </a:r>
          </a:p>
          <a:p>
            <a:pPr lvl="1"/>
            <a:r>
              <a:rPr dirty="0"/>
              <a:t>Create separate test classes for each design pattern (e.g., </a:t>
            </a:r>
            <a:r>
              <a:rPr dirty="0" err="1">
                <a:latin typeface="Courier"/>
              </a:rPr>
              <a:t>DataLayerTest</a:t>
            </a:r>
            <a:r>
              <a:rPr dirty="0"/>
              <a:t>, </a:t>
            </a:r>
            <a:r>
              <a:rPr dirty="0" err="1">
                <a:latin typeface="Courier"/>
              </a:rPr>
              <a:t>QuizFactoryTest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5965"/>
            <a:ext cx="10515600" cy="5972795"/>
          </a:xfrm>
        </p:spPr>
        <p:txBody>
          <a:bodyPr>
            <a:normAutofit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Part 2: Write Tests First (TDD)</a:t>
            </a:r>
          </a:p>
          <a:p>
            <a:pPr marL="457200" lvl="0" indent="-457200">
              <a:buAutoNum type="arabicPeriod"/>
            </a:pPr>
            <a:r>
              <a:rPr b="1" dirty="0"/>
              <a:t>Singleton</a:t>
            </a:r>
            <a:r>
              <a:rPr dirty="0"/>
              <a:t>:</a:t>
            </a:r>
          </a:p>
          <a:p>
            <a:pPr lvl="1"/>
            <a:r>
              <a:rPr dirty="0"/>
              <a:t>Write a test to verify that </a:t>
            </a:r>
            <a:r>
              <a:rPr dirty="0" err="1">
                <a:latin typeface="Courier"/>
              </a:rPr>
              <a:t>DataLayer.getInstance</a:t>
            </a:r>
            <a:r>
              <a:rPr dirty="0">
                <a:latin typeface="Courier"/>
              </a:rPr>
              <a:t>()</a:t>
            </a:r>
            <a:r>
              <a:rPr dirty="0"/>
              <a:t> always returns the same instance.</a:t>
            </a:r>
          </a:p>
          <a:p>
            <a:pPr lvl="1"/>
            <a:r>
              <a:rPr dirty="0"/>
              <a:t>Implement the </a:t>
            </a:r>
            <a:r>
              <a:rPr dirty="0" err="1">
                <a:latin typeface="Courier"/>
              </a:rPr>
              <a:t>DataLayer</a:t>
            </a:r>
            <a:r>
              <a:rPr dirty="0"/>
              <a:t> class to pass the test.</a:t>
            </a:r>
          </a:p>
          <a:p>
            <a:pPr marL="457200" lvl="0" indent="-457200">
              <a:buAutoNum type="arabicPeriod"/>
            </a:pPr>
            <a:r>
              <a:rPr b="1" dirty="0"/>
              <a:t>Factory</a:t>
            </a:r>
            <a:r>
              <a:rPr dirty="0"/>
              <a:t>:</a:t>
            </a:r>
          </a:p>
          <a:p>
            <a:pPr lvl="1"/>
            <a:r>
              <a:rPr dirty="0"/>
              <a:t>Write tests to verify that </a:t>
            </a:r>
            <a:r>
              <a:rPr dirty="0" err="1">
                <a:latin typeface="Courier"/>
              </a:rPr>
              <a:t>QuizFactory</a:t>
            </a:r>
            <a:r>
              <a:rPr dirty="0"/>
              <a:t> creates the correct quiz types.</a:t>
            </a:r>
          </a:p>
          <a:p>
            <a:pPr lvl="1"/>
            <a:r>
              <a:rPr dirty="0"/>
              <a:t>Implement the </a:t>
            </a:r>
            <a:r>
              <a:rPr dirty="0" err="1">
                <a:latin typeface="Courier"/>
              </a:rPr>
              <a:t>QuizFactory</a:t>
            </a:r>
            <a:r>
              <a:rPr dirty="0"/>
              <a:t> class to pass the tests.</a:t>
            </a:r>
          </a:p>
          <a:p>
            <a:pPr marL="457200" lvl="0" indent="-457200">
              <a:buAutoNum type="arabicPeriod"/>
            </a:pPr>
            <a:r>
              <a:rPr b="1" dirty="0"/>
              <a:t>Visitor</a:t>
            </a:r>
            <a:r>
              <a:rPr dirty="0"/>
              <a:t>:</a:t>
            </a:r>
          </a:p>
          <a:p>
            <a:pPr lvl="1"/>
            <a:r>
              <a:rPr dirty="0"/>
              <a:t>Write a test to verify that the visitor processes quizzes correctly.</a:t>
            </a:r>
          </a:p>
          <a:p>
            <a:pPr lvl="1"/>
            <a:r>
              <a:rPr dirty="0"/>
              <a:t>Implement the visitor logic to pass the test.</a:t>
            </a:r>
          </a:p>
          <a:p>
            <a:pPr marL="457200" lvl="0" indent="-457200">
              <a:buAutoNum type="arabicPeriod"/>
            </a:pPr>
            <a:r>
              <a:rPr b="1" dirty="0"/>
              <a:t>Observer</a:t>
            </a:r>
            <a:r>
              <a:rPr dirty="0"/>
              <a:t>:</a:t>
            </a:r>
          </a:p>
          <a:p>
            <a:pPr lvl="1"/>
            <a:r>
              <a:rPr dirty="0"/>
              <a:t>Write a test to verify that all observers are notified when a quiz is completed.</a:t>
            </a:r>
          </a:p>
          <a:p>
            <a:pPr lvl="1"/>
            <a:r>
              <a:rPr dirty="0"/>
              <a:t>Implement the observer logic in </a:t>
            </a:r>
            <a:r>
              <a:rPr dirty="0" err="1">
                <a:latin typeface="Courier"/>
              </a:rPr>
              <a:t>QuizManager</a:t>
            </a:r>
            <a:r>
              <a:rPr dirty="0"/>
              <a:t> to pass the test.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Part 3: Run and Refactor</a:t>
            </a:r>
          </a:p>
          <a:p>
            <a:pPr marL="457200" lvl="0" indent="-457200">
              <a:buAutoNum type="arabicPeriod"/>
            </a:pPr>
            <a:r>
              <a:t>Run all tests using your command line, IDE or a build tool like Maven.</a:t>
            </a:r>
          </a:p>
          <a:p>
            <a:pPr marL="457200" lvl="0" indent="-457200">
              <a:buAutoNum type="arabicPeriod"/>
            </a:pPr>
            <a:r>
              <a:t>Refactor the code to improve readability and maintainability while ensuring all tests still pass.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Discussion and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7996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b="1" dirty="0"/>
              <a:t>Prompt</a:t>
            </a:r>
            <a:r>
              <a:rPr dirty="0"/>
              <a:t>:</a:t>
            </a:r>
          </a:p>
          <a:p>
            <a:pPr lvl="0"/>
            <a:r>
              <a:rPr dirty="0"/>
              <a:t>How did TDD influence your approach to writing code?</a:t>
            </a:r>
          </a:p>
          <a:p>
            <a:pPr lvl="0"/>
            <a:r>
              <a:rPr dirty="0"/>
              <a:t>What challenges did you face when testing design patterns like Singleton or Observer?</a:t>
            </a:r>
          </a:p>
          <a:p>
            <a:pPr lvl="0"/>
            <a:r>
              <a:rPr dirty="0"/>
              <a:t>How do tests improve the maintainability of the Quiz Manager System?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Have a minute to think about this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Discuss with your </a:t>
            </a:r>
            <a:r>
              <a:rPr b="1" dirty="0" err="1"/>
              <a:t>neighbour</a:t>
            </a:r>
            <a:r>
              <a:rPr b="1" dirty="0"/>
              <a:t> for 5 minutes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Then I will ask for ideas from the class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1280</Words>
  <Application>Microsoft Office PowerPoint</Application>
  <PresentationFormat>Widescreen</PresentationFormat>
  <Paragraphs>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Courier</vt:lpstr>
      <vt:lpstr>Office Theme</vt:lpstr>
      <vt:lpstr>Week 7: Testing and Test-Driven Development (TDD) with JUnit</vt:lpstr>
      <vt:lpstr>Objectives</vt:lpstr>
      <vt:lpstr>Introduction to Test-Driven Development (TDD)</vt:lpstr>
      <vt:lpstr>Testing Design Patterns in the Quiz Manager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Lab Instructions</vt:lpstr>
      <vt:lpstr>PowerPoint Presentation</vt:lpstr>
      <vt:lpstr>PowerPoint Presentation</vt:lpstr>
      <vt:lpstr>Discussion and Reflection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Pat Parslow</cp:lastModifiedBy>
  <cp:revision>2</cp:revision>
  <dcterms:created xsi:type="dcterms:W3CDTF">2024-12-31T16:51:16Z</dcterms:created>
  <dcterms:modified xsi:type="dcterms:W3CDTF">2026-03-24T10:55:53Z</dcterms:modified>
</cp:coreProperties>
</file>