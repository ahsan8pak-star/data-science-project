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71" r:id="rId2"/>
    <p:sldId id="273" r:id="rId3"/>
    <p:sldId id="274" r:id="rId4"/>
    <p:sldId id="263" r:id="rId5"/>
    <p:sldId id="264" r:id="rId6"/>
    <p:sldId id="342" r:id="rId7"/>
    <p:sldId id="265" r:id="rId8"/>
    <p:sldId id="266" r:id="rId9"/>
    <p:sldId id="267" r:id="rId10"/>
    <p:sldId id="268" r:id="rId11"/>
    <p:sldId id="269" r:id="rId12"/>
    <p:sldId id="345" r:id="rId13"/>
    <p:sldId id="341" r:id="rId14"/>
    <p:sldId id="343" r:id="rId15"/>
    <p:sldId id="344" r:id="rId16"/>
    <p:sldId id="323" r:id="rId17"/>
    <p:sldId id="346" r:id="rId18"/>
    <p:sldId id="348" r:id="rId19"/>
    <p:sldId id="347" r:id="rId20"/>
    <p:sldId id="349" r:id="rId21"/>
    <p:sldId id="352" r:id="rId22"/>
    <p:sldId id="276" r:id="rId23"/>
    <p:sldId id="350" r:id="rId24"/>
    <p:sldId id="278" r:id="rId25"/>
    <p:sldId id="351" r:id="rId26"/>
    <p:sldId id="353" r:id="rId27"/>
    <p:sldId id="354" r:id="rId28"/>
    <p:sldId id="365" r:id="rId29"/>
    <p:sldId id="324" r:id="rId30"/>
    <p:sldId id="355" r:id="rId31"/>
    <p:sldId id="356" r:id="rId32"/>
    <p:sldId id="357" r:id="rId33"/>
    <p:sldId id="358" r:id="rId34"/>
    <p:sldId id="359" r:id="rId35"/>
    <p:sldId id="285" r:id="rId36"/>
    <p:sldId id="317" r:id="rId37"/>
    <p:sldId id="360" r:id="rId38"/>
    <p:sldId id="361" r:id="rId39"/>
    <p:sldId id="362" r:id="rId40"/>
    <p:sldId id="363" r:id="rId41"/>
    <p:sldId id="302" r:id="rId42"/>
    <p:sldId id="36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ECECFF"/>
    <a:srgbClr val="4A4A4A"/>
    <a:srgbClr val="8F8B90"/>
    <a:srgbClr val="A8A8B4"/>
    <a:srgbClr val="CBBDF1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8" autoAdjust="0"/>
    <p:restoredTop sz="89805" autoAdjust="0"/>
  </p:normalViewPr>
  <p:slideViewPr>
    <p:cSldViewPr snapToGrid="0">
      <p:cViewPr varScale="1">
        <p:scale>
          <a:sx n="111" d="100"/>
          <a:sy n="111" d="100"/>
        </p:scale>
        <p:origin x="126" y="1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7A7F04-187F-464E-B459-861B67A00B5E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5BE37-8314-44C1-821F-0A097399A9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9475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5BE37-8314-44C1-821F-0A097399A9D5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717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FC61-2718-0CD8-DFF1-7E6AC27E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3350D-8F48-F5C8-89BE-99BEE382C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32D63-82EC-98C5-9F57-BDE21B25D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8B0A5-03FB-ED9A-6989-A68B441061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5BE37-8314-44C1-821F-0A097399A9D5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686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A9267-02FD-1895-147F-3F43C724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556A0-F50B-0E90-A54F-EFC5C72EE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C0236-29AB-5FAD-9EE9-08C0C2302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9381B8-0925-68D9-7B54-5946A68D3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5BE37-8314-44C1-821F-0A097399A9D5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118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5BE37-8314-44C1-821F-0A097399A9D5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4505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063BD-9DEA-85AA-ABC9-6929C78E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1DA168-C2D5-CD45-E9A7-AD65D67C7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55C92-1B9E-572C-DDA8-570152D851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A8A5-4D39-59D2-8D09-F5A6F6EFF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35BE37-8314-44C1-821F-0A097399A9D5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425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3DE5-3539-DABF-F21F-BC58F58E09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76487-606D-BEF3-309B-D9AD9A17D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4C818-E916-EEB5-92D6-C630D2859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B7365-76FE-722B-3747-82D69C343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BB81-431E-5372-BC22-E88E661B3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317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8C5C-F6B0-F3B3-0A34-823422D0D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CC6D2-1452-FFE3-F686-D4474294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D82F2-0A99-C758-DAD3-23456E83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D3536-6F9D-AD1E-C7BE-BC1A13E95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25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F219B-A48B-EBC2-7BED-7983B9FDF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77F91D-1610-FFFD-CA34-71DE7E2B4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12294-61DD-CE5F-9662-4DFA1622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3FA14-B386-1B50-24C5-F285F5123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E1256-6592-CE02-F4FF-9F68F81C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891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DBE11-75D3-BB83-6581-BC89F8CAC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57A38-8E31-52B1-D248-49CFA5333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34CA8E-AC9E-028A-B7FE-642C14A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2F291D-1A7A-F866-020C-3A18A74C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215174-C233-7E5E-8811-00FD27347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FEC1F-A0F8-FD65-6F35-9A420353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996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176FF-C881-9814-16DA-24A93DE20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B6636-C85B-A538-8278-89CC7258A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7DDA-DFC2-3D12-7626-7C439867E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75F6-12F4-2304-9EE5-7F1367DCB9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986A4-DCC2-F048-03D9-094EFEE7F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5DF56-4096-AD30-9A5B-454BF6E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60076-ECB6-7037-3C21-9470FEBD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A6700-D9EA-AADA-BC81-8950A294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85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A072-ED7B-C4A1-AD3B-DF8AFB7BF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1D42A-CC3E-8D19-FC81-58D37B74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F21E7-D4DA-D75F-09A8-91FCFF82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335EA6-FDD0-BCEF-2D3C-DF866410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157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010CA-BEC5-BCCD-5D0A-D084C8635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94880-1B1C-B110-2B8B-EB517B0C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AC0EE-93BA-D761-F40D-9EFD1FFDB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566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4EBCC-FD01-3523-D01F-D21EA14C5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F4624-7A6A-F9ED-6441-C509CFCFC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A65EA-535F-1884-B7B7-99CDF5C5DB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516BA-B2F9-E1AA-5E96-9D65F1F9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A3197-E6E8-4062-819F-A9CEE2C5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C604D-B860-6D30-B232-FEF702B8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12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7339-793A-0B0D-2884-EF26A21B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40EB-E3CE-A2F8-ABCC-CB05E578D6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EB3E2-3ED6-3054-0844-B4791A3D0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D728F5-3640-D687-1F2A-29CA1CE12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6CE5A-2089-63A6-C6A3-39AE94CB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55546-C3D5-64AE-6C19-6E832E3D8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09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597F2-421C-A5BB-8429-840BFD6DF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03952-889B-4028-6CA8-95DB74F33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7CCDC-2CD0-AB8B-8780-5B1E6636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E417C-6F57-4C1A-CF1D-FB76C200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8A891-52F3-8517-4F42-AC079B04A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2456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92B387-151A-69F2-E2B3-267F087D2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F1254-D26B-42EA-7647-BC400431DC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EC3F1-8BFB-45E7-3CA0-0F5A032E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9AF28-C5CC-1375-E00A-7D82CE1E5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E1FFF-57AA-8BE7-E89F-FD43D9C7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C6E04-804D-4EA2-ACCF-137AA4E48EA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4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D7AD31-4150-7044-62D7-696A9B377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511E1-C06D-5A40-194C-6B685CAAA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4FA09-2997-C212-2149-9AE12768E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0C328-394C-4CA4-9C90-9BD8EF1E4A8F}" type="datetimeFigureOut">
              <a:rPr lang="en-GB" smtClean="0"/>
              <a:t>19/05/2026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215D1-7E4B-60BF-EA45-036D83169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4DEBC-21DB-7C0D-C04E-3A8216A71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C6E04-804D-4EA2-ACCF-137AA4E48EA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273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awt/package-tree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hyperlink" Target="https://docs.oracle.com/javase/8/docs/api/java/awt/package-tree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m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javafx/api/javafx/scene/layout/package-summary.html" TargetMode="Externa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tmp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03249"/>
            <a:ext cx="10363200" cy="1362075"/>
          </a:xfrm>
        </p:spPr>
        <p:txBody>
          <a:bodyPr>
            <a:normAutofit fontScale="90000"/>
          </a:bodyPr>
          <a:lstStyle/>
          <a:p>
            <a:r>
              <a:rPr lang="en-GB" noProof="0" dirty="0"/>
              <a:t>Week 11:  </a:t>
            </a:r>
            <a:br>
              <a:rPr lang="en-GB" noProof="0" dirty="0"/>
            </a:br>
            <a:r>
              <a:rPr lang="en-GB" noProof="0" dirty="0"/>
              <a:t>Advanced Graphical User Interfaces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275938-F492-69B7-A945-58368BBFD7C4}"/>
              </a:ext>
            </a:extLst>
          </p:cNvPr>
          <p:cNvSpPr txBox="1"/>
          <p:nvPr/>
        </p:nvSpPr>
        <p:spPr>
          <a:xfrm>
            <a:off x="914400" y="4169038"/>
            <a:ext cx="1090879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0E2841">
                    <a:lumMod val="75000"/>
                    <a:lumOff val="25000"/>
                  </a:srgbClr>
                </a:solidFill>
                <a:latin typeface="Aptos" panose="02110004020202020204"/>
              </a:rPr>
              <a:t>Advanced Techniques with JavaFX and Swing</a:t>
            </a:r>
          </a:p>
          <a:p>
            <a:endParaRPr lang="en-GB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8777"/>
            <a:ext cx="10710672" cy="3651631"/>
          </a:xfrm>
        </p:spPr>
        <p:txBody>
          <a:bodyPr>
            <a:normAutofit fontScale="92500" lnSpcReduction="20000"/>
          </a:bodyPr>
          <a:lstStyle/>
          <a:p>
            <a:r>
              <a:rPr lang="en-GB" sz="3200" noProof="0" dirty="0"/>
              <a:t>Review GUI basics and event-driven programming.</a:t>
            </a:r>
            <a:br>
              <a:rPr lang="en-GB" sz="3200" noProof="0" dirty="0"/>
            </a:br>
            <a:endParaRPr lang="en-GB" sz="3200" noProof="0" dirty="0"/>
          </a:p>
          <a:p>
            <a:r>
              <a:rPr lang="en-GB" sz="3200" noProof="0" dirty="0"/>
              <a:t>Explore advanced GUI concepts like layout managers, multi-screen navigation, and custom components.</a:t>
            </a:r>
            <a:br>
              <a:rPr lang="en-GB" sz="3200" noProof="0" dirty="0"/>
            </a:br>
            <a:endParaRPr lang="en-GB" sz="3200" noProof="0" dirty="0"/>
          </a:p>
          <a:p>
            <a:r>
              <a:rPr lang="en-GB" sz="3200" noProof="0" dirty="0"/>
              <a:t>Learn how to style GUIs with CSS (JavaFX) and enhance usability.</a:t>
            </a:r>
            <a:br>
              <a:rPr lang="en-GB" sz="3200" noProof="0" dirty="0"/>
            </a:br>
            <a:endParaRPr lang="en-GB" sz="3200" noProof="0" dirty="0"/>
          </a:p>
          <a:p>
            <a:r>
              <a:rPr lang="en-GB" sz="3200" noProof="0" dirty="0"/>
              <a:t>Build a multi-screen GUI for the Quiz Manager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12214"/>
            <a:ext cx="9860279" cy="715963"/>
          </a:xfrm>
        </p:spPr>
        <p:txBody>
          <a:bodyPr>
            <a:normAutofit/>
          </a:bodyPr>
          <a:lstStyle/>
          <a:p>
            <a:r>
              <a:rPr lang="en-GB" sz="4400" noProof="0" dirty="0"/>
              <a:t>GUI Basics: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16564" y="1752600"/>
            <a:ext cx="10168128" cy="4215431"/>
          </a:xfrm>
        </p:spPr>
        <p:txBody>
          <a:bodyPr>
            <a:normAutofit/>
          </a:bodyPr>
          <a:lstStyle/>
          <a:p>
            <a:r>
              <a:rPr lang="en-GB" sz="3600" dirty="0"/>
              <a:t>Graphical User Interfaces (GUIs)</a:t>
            </a:r>
            <a:endParaRPr lang="en-GB" sz="3600" noProof="0" dirty="0"/>
          </a:p>
          <a:p>
            <a:pPr lvl="1"/>
            <a:r>
              <a:rPr lang="en-GB" sz="3200" noProof="0" dirty="0"/>
              <a:t>Simple use of JavaFX </a:t>
            </a:r>
          </a:p>
          <a:p>
            <a:r>
              <a:rPr lang="en-GB" sz="3600" dirty="0"/>
              <a:t>Web Interfaces</a:t>
            </a:r>
            <a:endParaRPr lang="en-GB" sz="3600" noProof="0" dirty="0"/>
          </a:p>
          <a:p>
            <a:pPr lvl="1"/>
            <a:r>
              <a:rPr lang="en-GB" sz="3200" noProof="0" dirty="0"/>
              <a:t>Simple use of HTML, CSS, and JavaScript.</a:t>
            </a:r>
          </a:p>
          <a:p>
            <a:r>
              <a:rPr lang="en-GB" sz="3600" noProof="0" dirty="0"/>
              <a:t>Event-driven programming</a:t>
            </a:r>
            <a:endParaRPr lang="en-GB" sz="3600" dirty="0"/>
          </a:p>
          <a:p>
            <a:pPr lvl="1"/>
            <a:r>
              <a:rPr lang="en-GB" sz="3200" noProof="0" dirty="0"/>
              <a:t>Handling user actions with event listeners.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278" y="487478"/>
            <a:ext cx="10515600" cy="6255349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4400" b="1" dirty="0"/>
              <a:t>Graphical User Interface (GUI)</a:t>
            </a:r>
            <a:r>
              <a:rPr lang="en-GB" sz="4400" b="1" dirty="0"/>
              <a:t> 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Description</a:t>
            </a:r>
            <a:r>
              <a:rPr dirty="0"/>
              <a:t>:</a:t>
            </a:r>
          </a:p>
          <a:p>
            <a:pPr lvl="0"/>
            <a:r>
              <a:rPr dirty="0"/>
              <a:t>A visual interface that uses windows, buttons, and other graphical elements to interact with the user.</a:t>
            </a:r>
          </a:p>
          <a:p>
            <a:pPr marL="0" lvl="0" indent="0">
              <a:buNone/>
            </a:pPr>
            <a:r>
              <a:rPr b="1" dirty="0"/>
              <a:t>Advantages</a:t>
            </a:r>
            <a:r>
              <a:rPr dirty="0"/>
              <a:t>:</a:t>
            </a:r>
          </a:p>
          <a:p>
            <a:pPr lvl="0"/>
            <a:r>
              <a:rPr dirty="0"/>
              <a:t>Intuitive and user-friendly.</a:t>
            </a:r>
          </a:p>
          <a:p>
            <a:pPr lvl="0"/>
            <a:r>
              <a:rPr dirty="0"/>
              <a:t>Supports rich visual elements like images and animations.</a:t>
            </a:r>
          </a:p>
          <a:p>
            <a:pPr lvl="0"/>
            <a:r>
              <a:rPr dirty="0"/>
              <a:t>Suitable for a wide range of users.</a:t>
            </a:r>
          </a:p>
          <a:p>
            <a:pPr marL="0" lvl="0" indent="0">
              <a:buNone/>
            </a:pPr>
            <a:r>
              <a:rPr b="1" dirty="0"/>
              <a:t>Challenges</a:t>
            </a:r>
            <a:r>
              <a:rPr dirty="0"/>
              <a:t>:</a:t>
            </a:r>
          </a:p>
          <a:p>
            <a:pPr lvl="0"/>
            <a:r>
              <a:rPr dirty="0"/>
              <a:t>More complex to implement compared to CLI.</a:t>
            </a:r>
          </a:p>
          <a:p>
            <a:pPr lvl="0"/>
            <a:r>
              <a:rPr dirty="0"/>
              <a:t>Requires additional libraries or frameworks (e.g., JavaFX, Swing)</a:t>
            </a:r>
            <a:r>
              <a:rPr lang="en-GB" dirty="0"/>
              <a:t>.</a:t>
            </a:r>
          </a:p>
          <a:p>
            <a:pPr lvl="0"/>
            <a:r>
              <a:rPr lang="en-GB" dirty="0"/>
              <a:t>Swing now exists in "maintenance mode" (no new features)</a:t>
            </a:r>
          </a:p>
          <a:p>
            <a:pPr lvl="0"/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60"/>
            <a:ext cx="10515600" cy="6192408"/>
          </a:xfrm>
        </p:spPr>
        <p:txBody>
          <a:bodyPr>
            <a:normAutofit fontScale="6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GUI Example</a:t>
            </a:r>
            <a:r>
              <a:rPr lang="en-GB" b="1" dirty="0"/>
              <a:t> using JavaFX (week5.ppt)</a:t>
            </a:r>
            <a:r>
              <a:rPr dirty="0"/>
              <a:t>:</a:t>
            </a:r>
            <a:endParaRPr lang="en-GB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GB" sz="29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900" b="1" dirty="0" err="1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javafx</a:t>
            </a:r>
            <a:r>
              <a:rPr lang="en-GB" sz="2900" b="1" dirty="0" err="1">
                <a:solidFill>
                  <a:srgbClr val="007020"/>
                </a:solidFill>
                <a:latin typeface="Courier"/>
              </a:rPr>
              <a:t>.application.Application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900" b="1" dirty="0">
                <a:solidFill>
                  <a:srgbClr val="007020"/>
                </a:solidFill>
                <a:latin typeface="Courier"/>
              </a:rPr>
            </a:br>
            <a:r>
              <a:rPr lang="en-GB" sz="29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900" b="1" dirty="0" err="1">
                <a:solidFill>
                  <a:srgbClr val="007020"/>
                </a:solidFill>
                <a:latin typeface="Courier"/>
              </a:rPr>
              <a:t>javafx.scene.Scene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900" b="1" dirty="0">
                <a:solidFill>
                  <a:srgbClr val="007020"/>
                </a:solidFill>
                <a:latin typeface="Courier"/>
              </a:rPr>
            </a:br>
            <a:r>
              <a:rPr lang="en-GB" sz="29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900" b="1" dirty="0" err="1">
                <a:solidFill>
                  <a:srgbClr val="007020"/>
                </a:solidFill>
                <a:latin typeface="Courier"/>
              </a:rPr>
              <a:t>javafx.scene.control.Button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900" b="1" dirty="0">
                <a:solidFill>
                  <a:srgbClr val="007020"/>
                </a:solidFill>
                <a:latin typeface="Courier"/>
              </a:rPr>
            </a:br>
            <a:r>
              <a:rPr lang="en-GB" sz="29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900" b="1" dirty="0" err="1">
                <a:solidFill>
                  <a:srgbClr val="007020"/>
                </a:solidFill>
                <a:latin typeface="Courier"/>
              </a:rPr>
              <a:t>javafx.scene.control.Label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900" b="1" dirty="0">
                <a:solidFill>
                  <a:srgbClr val="007020"/>
                </a:solidFill>
                <a:latin typeface="Courier"/>
              </a:rPr>
            </a:br>
            <a:r>
              <a:rPr lang="en-GB" sz="29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900" b="1" dirty="0" err="1">
                <a:solidFill>
                  <a:srgbClr val="007020"/>
                </a:solidFill>
                <a:latin typeface="Courier"/>
              </a:rPr>
              <a:t>javafx.scene.layout.VBox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900" b="1" dirty="0">
                <a:solidFill>
                  <a:srgbClr val="007020"/>
                </a:solidFill>
                <a:latin typeface="Courier"/>
              </a:rPr>
            </a:br>
            <a:r>
              <a:rPr lang="en-GB" sz="29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900" b="1" dirty="0" err="1">
                <a:solidFill>
                  <a:srgbClr val="007020"/>
                </a:solidFill>
                <a:latin typeface="Courier"/>
              </a:rPr>
              <a:t>javafx.stage.Stage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sz="29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900" dirty="0">
                <a:latin typeface="Courier"/>
              </a:rPr>
              <a:t> 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 err="1">
                <a:latin typeface="Courier"/>
              </a:rPr>
              <a:t>GraphicalInterface</a:t>
            </a:r>
            <a:r>
              <a:rPr lang="en-GB" sz="2900" dirty="0">
                <a:latin typeface="Courier"/>
              </a:rPr>
              <a:t> 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extends</a:t>
            </a:r>
            <a:r>
              <a:rPr lang="en-GB" sz="2900" dirty="0">
                <a:latin typeface="Courier"/>
              </a:rPr>
              <a:t> Application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</a:t>
            </a:r>
            <a:r>
              <a:rPr lang="en-GB" sz="2900" dirty="0">
                <a:solidFill>
                  <a:srgbClr val="7D9029"/>
                </a:solidFill>
                <a:latin typeface="Courier"/>
              </a:rPr>
              <a:t>@Override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06287E"/>
                </a:solidFill>
                <a:latin typeface="Courier"/>
              </a:rPr>
              <a:t>start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latin typeface="Courier"/>
              </a:rPr>
              <a:t>Stage </a:t>
            </a:r>
            <a:r>
              <a:rPr lang="en-GB" sz="2900" dirty="0" err="1">
                <a:latin typeface="Courier"/>
              </a:rPr>
              <a:t>primaryStage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>
                <a:solidFill>
                  <a:srgbClr val="008000"/>
                </a:solidFill>
                <a:latin typeface="Courier"/>
              </a:rPr>
              <a:t>Label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 err="1">
                <a:latin typeface="Courier"/>
              </a:rPr>
              <a:t>label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900" dirty="0">
                <a:latin typeface="Courier"/>
              </a:rPr>
              <a:t> </a:t>
            </a:r>
            <a:r>
              <a:rPr lang="en-GB" sz="2900" b="1" dirty="0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new</a:t>
            </a:r>
            <a:r>
              <a:rPr lang="en-GB" sz="29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900" dirty="0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Label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solidFill>
                  <a:srgbClr val="4070A0"/>
                </a:solidFill>
                <a:latin typeface="Courier"/>
              </a:rPr>
              <a:t>"Welcome to the Quiz Manager!"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>
                <a:solidFill>
                  <a:srgbClr val="008000"/>
                </a:solidFill>
                <a:latin typeface="Courier"/>
              </a:rPr>
              <a:t>Button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 err="1">
                <a:latin typeface="Courier"/>
              </a:rPr>
              <a:t>startButton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900" dirty="0">
                <a:latin typeface="Courier"/>
              </a:rPr>
              <a:t> </a:t>
            </a:r>
            <a:r>
              <a:rPr lang="en-GB" sz="2900" b="1" dirty="0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new</a:t>
            </a:r>
            <a:r>
              <a:rPr lang="en-GB" sz="29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900" dirty="0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Button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solidFill>
                  <a:srgbClr val="4070A0"/>
                </a:solidFill>
                <a:latin typeface="Courier"/>
              </a:rPr>
              <a:t>"Start Quiz"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 err="1">
                <a:latin typeface="Courier"/>
              </a:rPr>
              <a:t>startButton</a:t>
            </a:r>
            <a:r>
              <a:rPr lang="en-GB" sz="2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900"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setOnAction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highlight>
                  <a:srgbClr val="FFFF00"/>
                </a:highlight>
                <a:latin typeface="Courier"/>
              </a:rPr>
              <a:t>e </a:t>
            </a:r>
            <a:r>
              <a:rPr lang="en-GB" sz="2900" dirty="0">
                <a:solidFill>
                  <a:srgbClr val="666666"/>
                </a:solidFill>
                <a:highlight>
                  <a:srgbClr val="FFFF00"/>
                </a:highlight>
                <a:latin typeface="Courier"/>
              </a:rPr>
              <a:t>-&gt;</a:t>
            </a:r>
            <a:r>
              <a:rPr lang="en-GB" sz="29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9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sz="2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9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sz="2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9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solidFill>
                  <a:srgbClr val="4070A0"/>
                </a:solidFill>
                <a:latin typeface="Courier"/>
              </a:rPr>
              <a:t>"Quiz Started"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));</a:t>
            </a:r>
            <a:br>
              <a:rPr lang="en-GB" sz="2900" dirty="0"/>
            </a:b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 err="1">
                <a:latin typeface="Courier"/>
              </a:rPr>
              <a:t>VBox</a:t>
            </a:r>
            <a:r>
              <a:rPr lang="en-GB" sz="2900" dirty="0">
                <a:latin typeface="Courier"/>
              </a:rPr>
              <a:t> layout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900" dirty="0">
                <a:latin typeface="Courier"/>
              </a:rPr>
              <a:t> </a:t>
            </a:r>
            <a:r>
              <a:rPr lang="en-GB" sz="2900" b="1" dirty="0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new</a:t>
            </a:r>
            <a:r>
              <a:rPr lang="en-GB" sz="29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900"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VBox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solidFill>
                  <a:srgbClr val="40A070"/>
                </a:solidFill>
                <a:latin typeface="Courier"/>
              </a:rPr>
              <a:t>10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900" dirty="0">
                <a:latin typeface="Courier"/>
              </a:rPr>
              <a:t> label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 err="1">
                <a:latin typeface="Courier"/>
              </a:rPr>
              <a:t>startButton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    Scene </a:t>
            </a:r>
            <a:r>
              <a:rPr lang="en-GB" sz="2900" dirty="0" err="1">
                <a:latin typeface="Courier"/>
              </a:rPr>
              <a:t>scene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900" dirty="0">
                <a:latin typeface="Courier"/>
              </a:rPr>
              <a:t> </a:t>
            </a:r>
            <a:r>
              <a:rPr lang="en-GB" sz="2900" b="1" dirty="0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new</a:t>
            </a:r>
            <a:r>
              <a:rPr lang="en-GB" sz="29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900" dirty="0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Scene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latin typeface="Courier"/>
              </a:rPr>
              <a:t>layout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40A070"/>
                </a:solidFill>
                <a:latin typeface="Courier"/>
              </a:rPr>
              <a:t>300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40A070"/>
                </a:solidFill>
                <a:latin typeface="Courier"/>
              </a:rPr>
              <a:t>200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900" dirty="0"/>
            </a:b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 err="1">
                <a:latin typeface="Courier"/>
              </a:rPr>
              <a:t>primaryStage</a:t>
            </a:r>
            <a:r>
              <a:rPr lang="en-GB" sz="2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900" dirty="0" err="1">
                <a:solidFill>
                  <a:srgbClr val="06287E"/>
                </a:solidFill>
                <a:latin typeface="Courier"/>
              </a:rPr>
              <a:t>setScene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latin typeface="Courier"/>
              </a:rPr>
              <a:t>scene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 err="1">
                <a:latin typeface="Courier"/>
              </a:rPr>
              <a:t>primaryStage</a:t>
            </a:r>
            <a:r>
              <a:rPr lang="en-GB" sz="2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900" dirty="0" err="1">
                <a:solidFill>
                  <a:srgbClr val="06287E"/>
                </a:solidFill>
                <a:latin typeface="Courier"/>
              </a:rPr>
              <a:t>setTitle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solidFill>
                  <a:srgbClr val="4070A0"/>
                </a:solidFill>
                <a:latin typeface="Courier"/>
              </a:rPr>
              <a:t>"Quiz Manager"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 err="1">
                <a:latin typeface="Courier"/>
              </a:rPr>
              <a:t>primaryStage</a:t>
            </a:r>
            <a:r>
              <a:rPr lang="en-GB" sz="29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900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sz="2900" dirty="0"/>
            </a:br>
            <a:br>
              <a:rPr lang="en-GB" sz="2900" dirty="0"/>
            </a:br>
            <a:r>
              <a:rPr lang="en-GB" sz="2900" dirty="0">
                <a:latin typeface="Courier"/>
              </a:rPr>
              <a:t>    </a:t>
            </a:r>
            <a:r>
              <a:rPr lang="en-GB" sz="29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902000"/>
                </a:solidFill>
                <a:latin typeface="Courier"/>
              </a:rPr>
              <a:t>static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06287E"/>
                </a:solidFill>
                <a:latin typeface="Courier"/>
              </a:rPr>
              <a:t>main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[]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 err="1">
                <a:latin typeface="Courier"/>
              </a:rPr>
              <a:t>args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sz="2900" dirty="0">
                <a:latin typeface="Courier"/>
              </a:rPr>
              <a:t>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    </a:t>
            </a:r>
            <a:r>
              <a:rPr lang="en-GB" sz="2900" dirty="0">
                <a:solidFill>
                  <a:srgbClr val="06287E"/>
                </a:solidFill>
                <a:latin typeface="Courier"/>
              </a:rPr>
              <a:t>launch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900" dirty="0" err="1">
                <a:latin typeface="Courier"/>
              </a:rPr>
              <a:t>args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900" dirty="0"/>
            </a:br>
            <a:r>
              <a:rPr lang="en-GB" sz="2900" dirty="0">
                <a:latin typeface="Courier"/>
              </a:rPr>
              <a:t>    </a:t>
            </a:r>
            <a:r>
              <a:rPr lang="en-GB" sz="2900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sz="2900" dirty="0"/>
            </a:br>
            <a:r>
              <a:rPr lang="en-GB" sz="29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0715FE-B86A-2DD8-B76B-009B75E91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DCB3F-DD3F-B4D0-AEBD-04BF8718C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60"/>
            <a:ext cx="10888456" cy="6548940"/>
          </a:xfrm>
        </p:spPr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GUI Example</a:t>
            </a:r>
            <a:r>
              <a:rPr lang="en-GB" b="1" dirty="0"/>
              <a:t> using Swing and AWT </a:t>
            </a:r>
            <a:endParaRPr lang="en-GB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GB" sz="28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javax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b="1" dirty="0" err="1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swing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.*;</a:t>
            </a:r>
            <a:br>
              <a:rPr lang="en-GB" sz="2800" dirty="0"/>
            </a:br>
            <a:r>
              <a:rPr lang="en-GB" sz="28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awt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event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ActionEvent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sz="2800" dirty="0"/>
            </a:br>
            <a:r>
              <a:rPr lang="en-GB" sz="28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awt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event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b="1" dirty="0" err="1">
                <a:solidFill>
                  <a:srgbClr val="008000"/>
                </a:solidFill>
                <a:latin typeface="Courier"/>
              </a:rPr>
              <a:t>ActionListener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;</a:t>
            </a:r>
            <a:br>
              <a:rPr lang="en-GB" sz="2800" dirty="0"/>
            </a:br>
            <a:br>
              <a:rPr lang="en-GB" sz="2800" dirty="0"/>
            </a:br>
            <a:r>
              <a:rPr lang="en-GB" sz="28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 err="1">
                <a:latin typeface="Courier"/>
              </a:rPr>
              <a:t>ButtonClickCounter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</a:t>
            </a:r>
            <a:r>
              <a:rPr lang="en-GB" sz="28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902000"/>
                </a:solidFill>
                <a:latin typeface="Courier"/>
              </a:rPr>
              <a:t>static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06287E"/>
                </a:solidFill>
                <a:latin typeface="Courier"/>
              </a:rPr>
              <a:t>main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[]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 err="1">
                <a:latin typeface="Courier"/>
              </a:rPr>
              <a:t>args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solidFill>
                  <a:srgbClr val="008000"/>
                </a:solidFill>
                <a:latin typeface="Courier"/>
              </a:rPr>
              <a:t>JFrame</a:t>
            </a:r>
            <a:r>
              <a:rPr lang="en-GB" sz="2800" dirty="0">
                <a:latin typeface="Courier"/>
              </a:rPr>
              <a:t> frame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new</a:t>
            </a:r>
            <a:r>
              <a:rPr lang="en-GB" sz="28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800" dirty="0" err="1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JFrame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solidFill>
                  <a:srgbClr val="4070A0"/>
                </a:solidFill>
                <a:latin typeface="Courier"/>
              </a:rPr>
              <a:t>"Click Counter"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sz="2800" dirty="0">
                <a:latin typeface="Courier"/>
              </a:rPr>
              <a:t> button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new</a:t>
            </a:r>
            <a:r>
              <a:rPr lang="en-GB" sz="28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800" dirty="0" err="1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JButton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solidFill>
                  <a:srgbClr val="4070A0"/>
                </a:solidFill>
                <a:latin typeface="Courier"/>
              </a:rPr>
              <a:t>"Click me!"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solidFill>
                  <a:srgbClr val="008000"/>
                </a:solidFill>
                <a:latin typeface="Courier"/>
              </a:rPr>
              <a:t>JLabel</a:t>
            </a:r>
            <a:r>
              <a:rPr lang="en-GB" sz="2800" dirty="0">
                <a:latin typeface="Courier"/>
              </a:rPr>
              <a:t> label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>
                <a:solidFill>
                  <a:srgbClr val="007020"/>
                </a:solidFill>
                <a:highlight>
                  <a:srgbClr val="FFFF00"/>
                </a:highlight>
                <a:latin typeface="Courier"/>
              </a:rPr>
              <a:t>new</a:t>
            </a:r>
            <a:r>
              <a:rPr lang="en-GB" sz="2800" dirty="0">
                <a:highlight>
                  <a:srgbClr val="FFFF00"/>
                </a:highlight>
                <a:latin typeface="Courier"/>
              </a:rPr>
              <a:t> </a:t>
            </a:r>
            <a:r>
              <a:rPr lang="en-GB" sz="2800" dirty="0" err="1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JLabel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solidFill>
                  <a:srgbClr val="4070A0"/>
                </a:solidFill>
                <a:latin typeface="Courier"/>
              </a:rPr>
              <a:t>"Count: 0"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>
                <a:solidFill>
                  <a:srgbClr val="902000"/>
                </a:solidFill>
                <a:latin typeface="Courier"/>
              </a:rPr>
              <a:t>int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[]</a:t>
            </a:r>
            <a:r>
              <a:rPr lang="en-GB" sz="2800" dirty="0">
                <a:latin typeface="Courier"/>
              </a:rPr>
              <a:t> count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{</a:t>
            </a:r>
            <a:r>
              <a:rPr lang="en-GB" sz="2800" dirty="0">
                <a:solidFill>
                  <a:srgbClr val="40A070"/>
                </a:solidFill>
                <a:latin typeface="Courier"/>
              </a:rPr>
              <a:t>0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};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latin typeface="Courier"/>
              </a:rPr>
              <a:t>button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addActionListener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highlight>
                  <a:srgbClr val="FFFF00"/>
                </a:highlight>
                <a:latin typeface="Courier"/>
              </a:rPr>
              <a:t>e </a:t>
            </a:r>
            <a:r>
              <a:rPr lang="en-GB" sz="2800" dirty="0">
                <a:solidFill>
                  <a:srgbClr val="666666"/>
                </a:solidFill>
                <a:highlight>
                  <a:srgbClr val="FFFF00"/>
                </a:highlight>
                <a:latin typeface="Courier"/>
              </a:rPr>
              <a:t>-&gt;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    count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[</a:t>
            </a:r>
            <a:r>
              <a:rPr lang="en-GB" sz="2800" dirty="0">
                <a:solidFill>
                  <a:srgbClr val="40A070"/>
                </a:solidFill>
                <a:latin typeface="Courier"/>
              </a:rPr>
              <a:t>0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]++;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    </a:t>
            </a:r>
            <a:r>
              <a:rPr lang="en-GB" sz="2800" dirty="0" err="1">
                <a:latin typeface="Courier"/>
              </a:rPr>
              <a:t>label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setText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solidFill>
                  <a:srgbClr val="4070A0"/>
                </a:solidFill>
                <a:latin typeface="Courier"/>
              </a:rPr>
              <a:t>"Count: "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sz="2800" dirty="0">
                <a:latin typeface="Courier"/>
              </a:rPr>
              <a:t> count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[</a:t>
            </a:r>
            <a:r>
              <a:rPr lang="en-GB" sz="2800" dirty="0">
                <a:solidFill>
                  <a:srgbClr val="40A070"/>
                </a:solidFill>
                <a:latin typeface="Courier"/>
              </a:rPr>
              <a:t>0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]);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});</a:t>
            </a:r>
            <a:br>
              <a:rPr lang="en-GB" sz="2800" dirty="0"/>
            </a:b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latin typeface="Courier"/>
              </a:rPr>
              <a:t>frame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 err="1">
                <a:latin typeface="Courier"/>
              </a:rPr>
              <a:t>java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awt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FlowLayout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latin typeface="Courier"/>
              </a:rPr>
              <a:t>frame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latin typeface="Courier"/>
              </a:rPr>
              <a:t>button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latin typeface="Courier"/>
              </a:rPr>
              <a:t>frame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latin typeface="Courier"/>
              </a:rPr>
              <a:t>label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latin typeface="Courier"/>
              </a:rPr>
              <a:t>frame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setSize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solidFill>
                  <a:srgbClr val="40A070"/>
                </a:solidFill>
                <a:latin typeface="Courier"/>
              </a:rPr>
              <a:t>200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40A070"/>
                </a:solidFill>
                <a:latin typeface="Courier"/>
              </a:rPr>
              <a:t>100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latin typeface="Courier"/>
              </a:rPr>
              <a:t>frame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setDefaultCloseOperation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 err="1">
                <a:solidFill>
                  <a:srgbClr val="008000"/>
                </a:solidFill>
                <a:latin typeface="Courier"/>
              </a:rPr>
              <a:t>JFrame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EXIT_ON_CLOSE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    </a:t>
            </a:r>
            <a:r>
              <a:rPr lang="en-GB" sz="2800" dirty="0" err="1">
                <a:latin typeface="Courier"/>
              </a:rPr>
              <a:t>frame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setVisible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b="1" dirty="0">
                <a:solidFill>
                  <a:srgbClr val="007020"/>
                </a:solidFill>
                <a:latin typeface="Courier"/>
              </a:rPr>
              <a:t>true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>
                <a:latin typeface="Courier"/>
              </a:rPr>
              <a:t>   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sz="2800" dirty="0"/>
            </a:br>
            <a:r>
              <a:rPr lang="en-GB" sz="28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sz="4000" i="1" dirty="0"/>
              <a:t>Warning: Swing now exists in "maintenance mode" (no new features)</a:t>
            </a:r>
            <a:endParaRPr lang="en-GB" sz="2800" i="1" dirty="0">
              <a:solidFill>
                <a:srgbClr val="666666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3912435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781" y="286757"/>
            <a:ext cx="10515600" cy="6162904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4400" b="1" dirty="0"/>
              <a:t>HTML/Web Interface</a:t>
            </a:r>
            <a:r>
              <a:rPr lang="en-GB" sz="4400" b="1" dirty="0"/>
              <a:t> 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Description</a:t>
            </a:r>
            <a:r>
              <a:rPr dirty="0"/>
              <a:t>:</a:t>
            </a:r>
          </a:p>
          <a:p>
            <a:pPr lvl="0"/>
            <a:r>
              <a:rPr dirty="0"/>
              <a:t>A web-based interface that runs in a browser, using HTML, CSS, and JavaScript.</a:t>
            </a:r>
          </a:p>
          <a:p>
            <a:pPr marL="0" lvl="0" indent="0">
              <a:buNone/>
            </a:pPr>
            <a:r>
              <a:rPr b="1" dirty="0"/>
              <a:t>Advantages</a:t>
            </a:r>
            <a:r>
              <a:rPr dirty="0"/>
              <a:t>:</a:t>
            </a:r>
          </a:p>
          <a:p>
            <a:pPr lvl="0"/>
            <a:r>
              <a:rPr dirty="0"/>
              <a:t>Accessible from any device with a browser.</a:t>
            </a:r>
          </a:p>
          <a:p>
            <a:pPr lvl="0"/>
            <a:r>
              <a:rPr dirty="0"/>
              <a:t>Can be styled and customized extensively.</a:t>
            </a:r>
          </a:p>
          <a:p>
            <a:pPr lvl="0"/>
            <a:r>
              <a:rPr dirty="0"/>
              <a:t>Supports integration with other web-based tools and services.</a:t>
            </a:r>
          </a:p>
          <a:p>
            <a:pPr marL="0" lvl="0" indent="0">
              <a:buNone/>
            </a:pPr>
            <a:r>
              <a:rPr b="1" dirty="0"/>
              <a:t>Challenges</a:t>
            </a:r>
            <a:r>
              <a:rPr dirty="0"/>
              <a:t>:</a:t>
            </a:r>
          </a:p>
          <a:p>
            <a:pPr lvl="0"/>
            <a:r>
              <a:rPr dirty="0"/>
              <a:t>Requires knowledge of web technologies (HTML, CSS, JavaScript).</a:t>
            </a:r>
          </a:p>
          <a:p>
            <a:pPr lvl="0"/>
            <a:r>
              <a:rPr dirty="0"/>
              <a:t>Needs a backend server to handle business logic and data storage.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57741"/>
            <a:ext cx="11293305" cy="5934669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b="1" dirty="0"/>
              <a:t>Example</a:t>
            </a:r>
            <a:r>
              <a:rPr dirty="0"/>
              <a:t>:</a:t>
            </a:r>
          </a:p>
          <a:p>
            <a:pPr lvl="0" indent="0">
              <a:buNone/>
            </a:pPr>
            <a:r>
              <a:rPr dirty="0">
                <a:solidFill>
                  <a:srgbClr val="902000"/>
                </a:solidFill>
                <a:latin typeface="Courier"/>
              </a:rPr>
              <a:t>&lt;!DOCTYPE </a:t>
            </a:r>
            <a:r>
              <a:rPr dirty="0">
                <a:latin typeface="Courier"/>
              </a:rPr>
              <a:t>html</a:t>
            </a:r>
            <a:r>
              <a:rPr dirty="0">
                <a:solidFill>
                  <a:srgbClr val="902000"/>
                </a:solidFill>
                <a:latin typeface="Courier"/>
              </a:rPr>
              <a:t>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&lt;html&gt;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&lt;head&gt;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&lt;title&gt;</a:t>
            </a:r>
            <a:r>
              <a:rPr dirty="0">
                <a:latin typeface="Courier"/>
              </a:rPr>
              <a:t>Quiz Manager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&lt;/title&gt;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&lt;/head&gt;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&lt;body&gt;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&lt;h1&gt;</a:t>
            </a:r>
            <a:r>
              <a:rPr dirty="0">
                <a:latin typeface="Courier"/>
              </a:rPr>
              <a:t>Welcome to the Quiz Manager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&lt;/h1&gt;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&lt;button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FF0000"/>
                </a:solidFill>
                <a:latin typeface="Courier"/>
              </a:rPr>
              <a:t>onclick</a:t>
            </a:r>
            <a:r>
              <a:rPr dirty="0">
                <a:solidFill>
                  <a:srgbClr val="007020"/>
                </a:solidFill>
                <a:latin typeface="Courier"/>
              </a:rPr>
              <a:t>=</a:t>
            </a:r>
            <a:r>
              <a:rPr dirty="0">
                <a:solidFill>
                  <a:srgbClr val="4070A0"/>
                </a:solidFill>
                <a:latin typeface="Courier"/>
              </a:rPr>
              <a:t>"</a:t>
            </a:r>
            <a:r>
              <a:rPr dirty="0" err="1">
                <a:solidFill>
                  <a:srgbClr val="4070A0"/>
                </a:solidFill>
                <a:latin typeface="Courier"/>
              </a:rPr>
              <a:t>startQuiz</a:t>
            </a:r>
            <a:r>
              <a:rPr dirty="0">
                <a:solidFill>
                  <a:srgbClr val="4070A0"/>
                </a:solidFill>
                <a:latin typeface="Courier"/>
              </a:rPr>
              <a:t>()"</a:t>
            </a:r>
            <a:r>
              <a:rPr b="1" dirty="0">
                <a:solidFill>
                  <a:srgbClr val="007020"/>
                </a:solidFill>
                <a:latin typeface="Courier"/>
              </a:rPr>
              <a:t>&gt;</a:t>
            </a:r>
            <a:r>
              <a:rPr dirty="0">
                <a:latin typeface="Courier"/>
              </a:rPr>
              <a:t>Start Quiz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&lt;/button&gt;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&lt;script&gt;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function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startQuiz</a:t>
            </a:r>
            <a:r>
              <a:rPr dirty="0">
                <a:latin typeface="Courier"/>
              </a:rPr>
              <a:t>() 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06287E"/>
                </a:solidFill>
                <a:latin typeface="Courier"/>
              </a:rPr>
              <a:t>alert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"Quiz Started!"</a:t>
            </a:r>
            <a:r>
              <a:rPr dirty="0">
                <a:latin typeface="Courier"/>
              </a:rPr>
              <a:t>)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}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&lt;/script&gt;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&lt;/body&gt;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&lt;/html&gt;</a:t>
            </a:r>
          </a:p>
          <a:p>
            <a:pPr marL="0" lvl="0" indent="0">
              <a:buNone/>
            </a:pPr>
            <a:r>
              <a:rPr dirty="0"/>
              <a:t>But we would need to be able to </a:t>
            </a:r>
            <a:r>
              <a:rPr dirty="0">
                <a:latin typeface="Courier"/>
              </a:rPr>
              <a:t>serve</a:t>
            </a:r>
            <a:r>
              <a:rPr dirty="0"/>
              <a:t> this file to a client.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3664"/>
            <a:ext cx="11118802" cy="6198138"/>
          </a:xfrm>
        </p:spPr>
        <p:txBody>
          <a:bodyPr>
            <a:normAutofit fontScale="700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/>
              <a:t>A very quick and dirty way to serve a file</a:t>
            </a:r>
          </a:p>
          <a:p>
            <a:pPr lvl="0" indent="0">
              <a:buNone/>
            </a:pPr>
            <a:r>
              <a:rPr sz="2900"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java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b="1" dirty="0">
                <a:solidFill>
                  <a:srgbClr val="008000"/>
                </a:solidFill>
                <a:latin typeface="Courier"/>
              </a:rPr>
              <a:t>io</a:t>
            </a:r>
            <a:r>
              <a:rPr dirty="0">
                <a:solidFill>
                  <a:srgbClr val="666666"/>
                </a:solidFill>
                <a:latin typeface="Courier"/>
              </a:rPr>
              <a:t>.*;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net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ServerSocket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java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net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b="1" dirty="0" err="1">
                <a:solidFill>
                  <a:srgbClr val="008000"/>
                </a:solidFill>
                <a:latin typeface="Courier"/>
              </a:rPr>
              <a:t>Socket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br>
              <a:rPr dirty="0"/>
            </a:br>
            <a:r>
              <a:rPr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SimpleWebServer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//first let's have a utility method to read a file, returning its content as a string or returning 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i="1" dirty="0">
                <a:solidFill>
                  <a:srgbClr val="60A0B0"/>
                </a:solidFill>
                <a:latin typeface="Courier"/>
              </a:rPr>
              <a:t>//HTML error message if the file is not found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902000"/>
                </a:solidFill>
                <a:latin typeface="Courier"/>
              </a:rPr>
              <a:t>static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String</a:t>
            </a:r>
            <a:r>
              <a:rPr dirty="0">
                <a:highlight>
                  <a:srgbClr val="FFFF00"/>
                </a:highlight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readFile</a:t>
            </a:r>
            <a:r>
              <a:rPr dirty="0">
                <a:solidFill>
                  <a:srgbClr val="666666"/>
                </a:solidFill>
                <a:highlight>
                  <a:srgbClr val="FFFF00"/>
                </a:highlight>
                <a:latin typeface="Courier"/>
              </a:rPr>
              <a:t>(</a:t>
            </a:r>
            <a:r>
              <a:rPr dirty="0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String</a:t>
            </a:r>
            <a:r>
              <a:rPr dirty="0">
                <a:highlight>
                  <a:srgbClr val="FFFF00"/>
                </a:highlight>
                <a:latin typeface="Courier"/>
              </a:rPr>
              <a:t> </a:t>
            </a:r>
            <a:r>
              <a:rPr dirty="0" err="1">
                <a:highlight>
                  <a:srgbClr val="FFFF00"/>
                </a:highlight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highlight>
                  <a:srgbClr val="FFFF00"/>
                </a:highlight>
                <a:latin typeface="Courier"/>
              </a:rPr>
              <a:t>)</a:t>
            </a:r>
            <a:r>
              <a:rPr dirty="0">
                <a:highlight>
                  <a:srgbClr val="FFFF00"/>
                </a:highlight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008000"/>
                </a:solidFill>
                <a:latin typeface="Courier"/>
              </a:rPr>
              <a:t>File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File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fileName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if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latin typeface="Courier"/>
              </a:rPr>
              <a:t>file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exists</a:t>
            </a:r>
            <a:r>
              <a:rPr dirty="0">
                <a:solidFill>
                  <a:srgbClr val="666666"/>
                </a:solidFill>
                <a:latin typeface="Courier"/>
              </a:rPr>
              <a:t>())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try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fileReader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FileReader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file</a:t>
            </a:r>
            <a:r>
              <a:rPr dirty="0">
                <a:solidFill>
                  <a:srgbClr val="666666"/>
                </a:solidFill>
                <a:latin typeface="Courier"/>
              </a:rPr>
              <a:t>)))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StringBuilder</a:t>
            </a:r>
            <a:r>
              <a:rPr dirty="0">
                <a:latin typeface="Courier"/>
              </a:rPr>
              <a:t> content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StringBuilder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008000"/>
                </a:solidFill>
                <a:latin typeface="Courier"/>
              </a:rPr>
              <a:t>String</a:t>
            </a:r>
            <a:r>
              <a:rPr dirty="0">
                <a:latin typeface="Courier"/>
              </a:rPr>
              <a:t> line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while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((</a:t>
            </a:r>
            <a:r>
              <a:rPr dirty="0">
                <a:latin typeface="Courier"/>
              </a:rPr>
              <a:t>line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fileReader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readLine</a:t>
            </a:r>
            <a:r>
              <a:rPr dirty="0">
                <a:solidFill>
                  <a:srgbClr val="666666"/>
                </a:solidFill>
                <a:latin typeface="Courier"/>
              </a:rPr>
              <a:t>())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!=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null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    </a:t>
            </a:r>
            <a:r>
              <a:rPr dirty="0" err="1">
                <a:latin typeface="Courier"/>
              </a:rPr>
              <a:t>content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append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latin typeface="Courier"/>
              </a:rPr>
              <a:t>line</a:t>
            </a:r>
            <a:r>
              <a:rPr dirty="0">
                <a:solidFill>
                  <a:srgbClr val="666666"/>
                </a:solidFill>
                <a:latin typeface="Courier"/>
              </a:rPr>
              <a:t>).</a:t>
            </a:r>
            <a:r>
              <a:rPr dirty="0">
                <a:solidFill>
                  <a:srgbClr val="06287E"/>
                </a:solidFill>
                <a:latin typeface="Courier"/>
              </a:rPr>
              <a:t>append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"\n"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content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toString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7020"/>
                </a:solidFill>
                <a:latin typeface="Courier"/>
              </a:rPr>
              <a:t>catch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 err="1">
                <a:solidFill>
                  <a:srgbClr val="008000"/>
                </a:solidFill>
                <a:latin typeface="Courier"/>
              </a:rPr>
              <a:t>IOException</a:t>
            </a:r>
            <a:r>
              <a:rPr dirty="0">
                <a:latin typeface="Courier"/>
              </a:rPr>
              <a:t> e</a:t>
            </a:r>
            <a:r>
              <a:rPr dirty="0">
                <a:solidFill>
                  <a:srgbClr val="666666"/>
                </a:solidFill>
                <a:latin typeface="Courier"/>
              </a:rPr>
              <a:t>)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{</a:t>
            </a:r>
            <a:br>
              <a:rPr dirty="0"/>
            </a:br>
            <a:r>
              <a:rPr dirty="0">
                <a:latin typeface="Courier"/>
              </a:rPr>
              <a:t>                </a:t>
            </a:r>
            <a:r>
              <a:rPr dirty="0" err="1">
                <a:latin typeface="Courier"/>
              </a:rPr>
              <a:t>e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printStackTrace</a:t>
            </a:r>
            <a:r>
              <a:rPr dirty="0">
                <a:solidFill>
                  <a:srgbClr val="666666"/>
                </a:solidFill>
                <a:latin typeface="Courier"/>
              </a:rPr>
              <a:t>();</a:t>
            </a:r>
            <a:br>
              <a:rPr dirty="0"/>
            </a:br>
            <a:r>
              <a:rPr dirty="0">
                <a:latin typeface="Courier"/>
              </a:rPr>
              <a:t>    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  <a:br>
              <a:rPr dirty="0"/>
            </a:br>
            <a:r>
              <a:rPr dirty="0">
                <a:latin typeface="Courier"/>
              </a:rPr>
              <a:t>        </a:t>
            </a:r>
            <a:r>
              <a:rPr b="1" dirty="0">
                <a:solidFill>
                  <a:srgbClr val="007020"/>
                </a:solidFill>
                <a:latin typeface="Courier"/>
              </a:rPr>
              <a:t>return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"&lt;html&gt;&lt;body&gt;&lt;h1&gt;404 Not Found&lt;/h1&gt;&lt;/body&gt;&lt;/html&gt;"</a:t>
            </a:r>
            <a:r>
              <a:rPr dirty="0">
                <a:solidFill>
                  <a:srgbClr val="666666"/>
                </a:solidFill>
                <a:latin typeface="Courier"/>
              </a:rPr>
              <a:t>;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5371"/>
            <a:ext cx="11035040" cy="5750930"/>
          </a:xfrm>
        </p:spPr>
        <p:txBody>
          <a:bodyPr>
            <a:normAutofit/>
          </a:bodyPr>
          <a:lstStyle/>
          <a:p>
            <a:pPr lvl="0" indent="0">
              <a:buNone/>
            </a:pPr>
            <a:r>
              <a:rPr sz="2000" dirty="0">
                <a:latin typeface="Courier"/>
              </a:rPr>
              <a:t>    </a:t>
            </a:r>
            <a:r>
              <a:rPr sz="2000" i="1" dirty="0">
                <a:solidFill>
                  <a:srgbClr val="60A0B0"/>
                </a:solidFill>
                <a:latin typeface="Courier"/>
              </a:rPr>
              <a:t>//and a simple </a:t>
            </a:r>
            <a:r>
              <a:rPr sz="2000" i="1" dirty="0" err="1">
                <a:solidFill>
                  <a:srgbClr val="60A0B0"/>
                </a:solidFill>
                <a:latin typeface="Courier"/>
              </a:rPr>
              <a:t>uti</a:t>
            </a:r>
            <a:r>
              <a:rPr lang="en-GB" sz="2000" i="1" dirty="0">
                <a:solidFill>
                  <a:srgbClr val="60A0B0"/>
                </a:solidFill>
                <a:latin typeface="Courier"/>
              </a:rPr>
              <a:t>l</a:t>
            </a:r>
            <a:r>
              <a:rPr sz="2000" i="1" dirty="0" err="1">
                <a:solidFill>
                  <a:srgbClr val="60A0B0"/>
                </a:solidFill>
                <a:latin typeface="Courier"/>
              </a:rPr>
              <a:t>tity</a:t>
            </a:r>
            <a:r>
              <a:rPr sz="2000" i="1" dirty="0">
                <a:solidFill>
                  <a:srgbClr val="60A0B0"/>
                </a:solidFill>
                <a:latin typeface="Courier"/>
              </a:rPr>
              <a:t> method to serve a file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b="1" dirty="0">
                <a:solidFill>
                  <a:srgbClr val="007020"/>
                </a:solidFill>
                <a:latin typeface="Courier"/>
              </a:rPr>
              <a:t>private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static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serveFile</a:t>
            </a:r>
            <a:r>
              <a:rPr sz="2000" dirty="0">
                <a:solidFill>
                  <a:srgbClr val="666666"/>
                </a:solidFill>
                <a:highlight>
                  <a:srgbClr val="FFFF00"/>
                </a:highlight>
                <a:latin typeface="Courier"/>
              </a:rPr>
              <a:t>(</a:t>
            </a:r>
            <a:r>
              <a:rPr sz="2000" dirty="0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String</a:t>
            </a:r>
            <a:r>
              <a:rPr sz="2000" dirty="0">
                <a:highlight>
                  <a:srgbClr val="FFFF00"/>
                </a:highlight>
                <a:latin typeface="Courier"/>
              </a:rPr>
              <a:t> </a:t>
            </a:r>
            <a:r>
              <a:rPr sz="2000" dirty="0" err="1">
                <a:highlight>
                  <a:srgbClr val="FFFF00"/>
                </a:highlight>
                <a:latin typeface="Courier"/>
              </a:rPr>
              <a:t>fileName</a:t>
            </a:r>
            <a:r>
              <a:rPr sz="2000" dirty="0">
                <a:solidFill>
                  <a:srgbClr val="666666"/>
                </a:solidFill>
                <a:highlight>
                  <a:srgbClr val="FFFF00"/>
                </a:highlight>
                <a:latin typeface="Courier"/>
              </a:rPr>
              <a:t>,</a:t>
            </a:r>
            <a:r>
              <a:rPr sz="2000" dirty="0">
                <a:highlight>
                  <a:srgbClr val="FFFF00"/>
                </a:highlight>
                <a:latin typeface="Courier"/>
              </a:rPr>
              <a:t> </a:t>
            </a:r>
            <a:r>
              <a:rPr sz="2000" dirty="0" err="1">
                <a:solidFill>
                  <a:srgbClr val="008000"/>
                </a:solidFill>
                <a:highlight>
                  <a:srgbClr val="FFFF00"/>
                </a:highlight>
                <a:latin typeface="Courier"/>
              </a:rPr>
              <a:t>PrintWriter</a:t>
            </a:r>
            <a:r>
              <a:rPr sz="2000" dirty="0">
                <a:highlight>
                  <a:srgbClr val="FFFF00"/>
                </a:highlight>
                <a:latin typeface="Courier"/>
              </a:rPr>
              <a:t> out</a:t>
            </a:r>
            <a:r>
              <a:rPr sz="2000" dirty="0">
                <a:solidFill>
                  <a:srgbClr val="666666"/>
                </a:solidFill>
                <a:highlight>
                  <a:srgbClr val="FFFF00"/>
                </a:highlight>
                <a:latin typeface="Courier"/>
              </a:rPr>
              <a:t>)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dirty="0">
                <a:solidFill>
                  <a:srgbClr val="008000"/>
                </a:solidFill>
                <a:latin typeface="Courier"/>
              </a:rPr>
              <a:t>String</a:t>
            </a:r>
            <a:r>
              <a:rPr sz="2000" dirty="0">
                <a:latin typeface="Courier"/>
              </a:rPr>
              <a:t> content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=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solidFill>
                  <a:srgbClr val="06287E"/>
                </a:solidFill>
                <a:latin typeface="Courier"/>
              </a:rPr>
              <a:t>readFile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 err="1">
                <a:latin typeface="Courier"/>
              </a:rPr>
              <a:t>fileName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dirty="0" err="1">
                <a:latin typeface="Courier"/>
              </a:rPr>
              <a:t>out</a:t>
            </a:r>
            <a:r>
              <a:rPr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0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"HTTP/1.1 200 OK"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dirty="0" err="1">
                <a:latin typeface="Courier"/>
              </a:rPr>
              <a:t>out</a:t>
            </a:r>
            <a:r>
              <a:rPr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0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"Content-Type: text/html"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dirty="0" err="1">
                <a:latin typeface="Courier"/>
              </a:rPr>
              <a:t>out</a:t>
            </a:r>
            <a:r>
              <a:rPr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0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solidFill>
                  <a:srgbClr val="4070A0"/>
                </a:solidFill>
                <a:latin typeface="Courier"/>
              </a:rPr>
              <a:t>"Content-Length: "</a:t>
            </a:r>
            <a:r>
              <a:rPr sz="2000" dirty="0">
                <a:latin typeface="Courier"/>
              </a:rPr>
              <a:t>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+</a:t>
            </a:r>
            <a:r>
              <a:rPr sz="2000" dirty="0">
                <a:latin typeface="Courier"/>
              </a:rPr>
              <a:t> </a:t>
            </a:r>
            <a:r>
              <a:rPr sz="2000" dirty="0" err="1">
                <a:latin typeface="Courier"/>
              </a:rPr>
              <a:t>content</a:t>
            </a:r>
            <a:r>
              <a:rPr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000" dirty="0" err="1">
                <a:solidFill>
                  <a:srgbClr val="06287E"/>
                </a:solidFill>
                <a:latin typeface="Courier"/>
              </a:rPr>
              <a:t>length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());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dirty="0" err="1">
                <a:latin typeface="Courier"/>
              </a:rPr>
              <a:t>out</a:t>
            </a:r>
            <a:r>
              <a:rPr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0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();</a:t>
            </a:r>
            <a:br>
              <a:rPr sz="2000" dirty="0"/>
            </a:br>
            <a:r>
              <a:rPr sz="2000" dirty="0">
                <a:latin typeface="Courier"/>
              </a:rPr>
              <a:t>        </a:t>
            </a:r>
            <a:r>
              <a:rPr sz="2000" dirty="0" err="1">
                <a:latin typeface="Courier"/>
              </a:rPr>
              <a:t>out</a:t>
            </a:r>
            <a:r>
              <a:rPr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0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sz="2000" dirty="0">
                <a:latin typeface="Courier"/>
              </a:rPr>
              <a:t>content</a:t>
            </a:r>
            <a:r>
              <a:rPr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000" dirty="0"/>
            </a:br>
            <a:r>
              <a:rPr sz="2000" dirty="0">
                <a:latin typeface="Courier"/>
              </a:rPr>
              <a:t>    </a:t>
            </a:r>
            <a:r>
              <a:rPr sz="20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8268"/>
            <a:ext cx="10515600" cy="6459732"/>
          </a:xfrm>
        </p:spPr>
        <p:txBody>
          <a:bodyPr>
            <a:normAutofit fontScale="92500" lnSpcReduction="20000"/>
          </a:bodyPr>
          <a:lstStyle/>
          <a:p>
            <a:pPr lvl="0" indent="0">
              <a:buNone/>
            </a:pPr>
            <a:r>
              <a:rPr lang="en-GB" sz="2200" b="1" dirty="0">
                <a:solidFill>
                  <a:srgbClr val="007020"/>
                </a:solidFill>
                <a:latin typeface="Courier"/>
              </a:rPr>
              <a:t>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902000"/>
                </a:solidFill>
                <a:latin typeface="Courier"/>
              </a:rPr>
              <a:t>static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902000"/>
                </a:solidFill>
                <a:latin typeface="Courier"/>
              </a:rPr>
              <a:t>void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06287E"/>
                </a:solidFill>
                <a:latin typeface="Courier"/>
              </a:rPr>
              <a:t>main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>
                <a:solidFill>
                  <a:srgbClr val="008000"/>
                </a:solidFill>
                <a:latin typeface="Courier"/>
              </a:rPr>
              <a:t>String</a:t>
            </a:r>
            <a:r>
              <a:rPr sz="2200" dirty="0">
                <a:solidFill>
                  <a:srgbClr val="666666"/>
                </a:solidFill>
                <a:latin typeface="Courier"/>
              </a:rPr>
              <a:t>[]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args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{</a:t>
            </a:r>
            <a:endParaRPr lang="en-GB" sz="2200" dirty="0">
              <a:solidFill>
                <a:srgbClr val="666666"/>
              </a:solidFill>
              <a:latin typeface="Courier"/>
            </a:endParaRPr>
          </a:p>
          <a:p>
            <a:pPr lvl="0" indent="0">
              <a:buNone/>
            </a:pPr>
            <a:r>
              <a:rPr lang="en-GB" sz="2200" b="1" dirty="0">
                <a:solidFill>
                  <a:srgbClr val="007020"/>
                </a:solidFill>
                <a:latin typeface="Courier"/>
              </a:rPr>
              <a:t>  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try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ServerSocket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serverSocket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ServerSocket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>
                <a:solidFill>
                  <a:srgbClr val="40A070"/>
                </a:solidFill>
                <a:latin typeface="Courier"/>
              </a:rPr>
              <a:t>8080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))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200" dirty="0"/>
            </a:br>
            <a:r>
              <a:rPr sz="2200" dirty="0">
                <a:latin typeface="Courier"/>
              </a:rPr>
              <a:t>    </a:t>
            </a:r>
            <a:r>
              <a:rPr lang="en-GB" sz="2200" dirty="0">
                <a:latin typeface="Courier"/>
              </a:rPr>
              <a:t>  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>
                <a:solidFill>
                  <a:srgbClr val="4070A0"/>
                </a:solidFill>
                <a:latin typeface="Courier"/>
              </a:rPr>
              <a:t>"Server started on port 8080"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200" dirty="0"/>
            </a:br>
            <a:r>
              <a:rPr sz="2200" dirty="0">
                <a:latin typeface="Courier"/>
              </a:rPr>
              <a:t>    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while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true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200" dirty="0"/>
            </a:br>
            <a:r>
              <a:rPr sz="2200" dirty="0">
                <a:latin typeface="Courier"/>
              </a:rPr>
              <a:t>      </a:t>
            </a:r>
            <a:r>
              <a:rPr lang="en-GB" sz="2200" dirty="0">
                <a:latin typeface="Courier"/>
              </a:rPr>
              <a:t> 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try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>
                <a:solidFill>
                  <a:srgbClr val="008000"/>
                </a:solidFill>
                <a:latin typeface="Courier"/>
              </a:rPr>
              <a:t>Socket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clientSocket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serverSocket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accept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();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sz="2200" dirty="0">
                <a:latin typeface="Courier"/>
              </a:rPr>
              <a:t> in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BufferedReader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InputStreamReader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 err="1">
                <a:latin typeface="Courier"/>
              </a:rPr>
              <a:t>clientSocket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getInputStream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()));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PrintWriter</a:t>
            </a:r>
            <a:r>
              <a:rPr sz="2200" dirty="0">
                <a:latin typeface="Courier"/>
              </a:rPr>
              <a:t> out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PrintWriter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 err="1">
                <a:latin typeface="Courier"/>
              </a:rPr>
              <a:t>clientSocket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getOutputStream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(),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true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))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dirty="0">
                <a:solidFill>
                  <a:srgbClr val="008000"/>
                </a:solidFill>
                <a:latin typeface="Courier"/>
              </a:rPr>
              <a:t>String</a:t>
            </a:r>
            <a:r>
              <a:rPr sz="2200" dirty="0">
                <a:latin typeface="Courier"/>
              </a:rPr>
              <a:t> line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;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i="1" dirty="0">
                <a:solidFill>
                  <a:srgbClr val="60A0B0"/>
                </a:solidFill>
                <a:latin typeface="Courier"/>
              </a:rPr>
              <a:t>//get the filename to serve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dirty="0">
                <a:solidFill>
                  <a:srgbClr val="008000"/>
                </a:solidFill>
                <a:latin typeface="Courier"/>
              </a:rPr>
              <a:t>String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fileName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latin typeface="Courier"/>
              </a:rPr>
              <a:t>in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readLine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().</a:t>
            </a:r>
            <a:r>
              <a:rPr sz="2200" dirty="0">
                <a:solidFill>
                  <a:srgbClr val="06287E"/>
                </a:solidFill>
                <a:latin typeface="Courier"/>
              </a:rPr>
              <a:t>split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>
                <a:solidFill>
                  <a:srgbClr val="4070A0"/>
                </a:solidFill>
                <a:latin typeface="Courier"/>
              </a:rPr>
              <a:t>" "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)[</a:t>
            </a:r>
            <a:r>
              <a:rPr sz="2200" dirty="0">
                <a:solidFill>
                  <a:srgbClr val="40A070"/>
                </a:solidFill>
                <a:latin typeface="Courier"/>
              </a:rPr>
              <a:t>1</a:t>
            </a:r>
            <a:r>
              <a:rPr sz="2200" dirty="0">
                <a:solidFill>
                  <a:srgbClr val="666666"/>
                </a:solidFill>
                <a:latin typeface="Courier"/>
              </a:rPr>
              <a:t>].</a:t>
            </a:r>
            <a:r>
              <a:rPr sz="2200" dirty="0">
                <a:solidFill>
                  <a:srgbClr val="06287E"/>
                </a:solidFill>
                <a:latin typeface="Courier"/>
              </a:rPr>
              <a:t>substring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>
                <a:solidFill>
                  <a:srgbClr val="40A070"/>
                </a:solidFill>
                <a:latin typeface="Courier"/>
              </a:rPr>
              <a:t>1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i="1" dirty="0">
                <a:solidFill>
                  <a:srgbClr val="60A0B0"/>
                </a:solidFill>
                <a:latin typeface="Courier"/>
              </a:rPr>
              <a:t>//read the file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dirty="0">
                <a:solidFill>
                  <a:srgbClr val="008000"/>
                </a:solidFill>
                <a:latin typeface="Courier"/>
              </a:rPr>
              <a:t>String</a:t>
            </a:r>
            <a:r>
              <a:rPr sz="2200" dirty="0">
                <a:latin typeface="Courier"/>
              </a:rPr>
              <a:t> content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=</a:t>
            </a:r>
            <a:r>
              <a:rPr sz="2200" dirty="0">
                <a:latin typeface="Courier"/>
              </a:rPr>
              <a:t> 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readFile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 err="1">
                <a:latin typeface="Courier"/>
              </a:rPr>
              <a:t>fileName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i="1" dirty="0">
                <a:solidFill>
                  <a:srgbClr val="60A0B0"/>
                </a:solidFill>
                <a:latin typeface="Courier"/>
              </a:rPr>
              <a:t>//send the HTTP response</a:t>
            </a:r>
            <a:br>
              <a:rPr sz="2200" dirty="0"/>
            </a:br>
            <a:r>
              <a:rPr sz="2200" dirty="0">
                <a:latin typeface="Courier"/>
              </a:rPr>
              <a:t>             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serveFile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 err="1">
                <a:latin typeface="Courier"/>
              </a:rPr>
              <a:t>fileName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,</a:t>
            </a:r>
            <a:r>
              <a:rPr sz="2200" dirty="0">
                <a:latin typeface="Courier"/>
              </a:rPr>
              <a:t> out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);</a:t>
            </a:r>
            <a:br>
              <a:rPr sz="2200" dirty="0"/>
            </a:br>
            <a:r>
              <a:rPr sz="2200" dirty="0">
                <a:latin typeface="Courier"/>
              </a:rPr>
              <a:t>        </a:t>
            </a:r>
            <a:r>
              <a:rPr lang="en-GB" sz="2200" dirty="0">
                <a:latin typeface="Courier"/>
              </a:rPr>
              <a:t> 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}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catch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IOException</a:t>
            </a:r>
            <a:r>
              <a:rPr sz="2200" dirty="0">
                <a:latin typeface="Courier"/>
              </a:rPr>
              <a:t> 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200" dirty="0"/>
            </a:br>
            <a:r>
              <a:rPr sz="2200" dirty="0">
                <a:latin typeface="Courier"/>
              </a:rPr>
              <a:t>                    </a:t>
            </a:r>
            <a:r>
              <a:rPr sz="2200" dirty="0" err="1">
                <a:latin typeface="Courier"/>
              </a:rPr>
              <a:t>e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printStackTrace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();</a:t>
            </a:r>
            <a:r>
              <a:rPr sz="2200" dirty="0">
                <a:latin typeface="Courier"/>
              </a:rPr>
              <a:t>                    </a:t>
            </a:r>
            <a:br>
              <a:rPr sz="2200" dirty="0"/>
            </a:br>
            <a:r>
              <a:rPr sz="2200" dirty="0">
                <a:latin typeface="Courier"/>
              </a:rPr>
              <a:t>         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2200" dirty="0"/>
            </a:br>
            <a:r>
              <a:rPr sz="2200" dirty="0">
                <a:latin typeface="Courier"/>
              </a:rPr>
              <a:t>       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2200" dirty="0"/>
            </a:br>
            <a:r>
              <a:rPr sz="2200" dirty="0">
                <a:latin typeface="Courier"/>
              </a:rPr>
              <a:t>     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}</a:t>
            </a:r>
            <a:r>
              <a:rPr sz="2200" dirty="0">
                <a:latin typeface="Courier"/>
              </a:rPr>
              <a:t> </a:t>
            </a:r>
            <a:r>
              <a:rPr sz="2200" b="1" dirty="0">
                <a:solidFill>
                  <a:srgbClr val="007020"/>
                </a:solidFill>
                <a:latin typeface="Courier"/>
              </a:rPr>
              <a:t>catch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</a:t>
            </a:r>
            <a:r>
              <a:rPr sz="2200" dirty="0" err="1">
                <a:solidFill>
                  <a:srgbClr val="008000"/>
                </a:solidFill>
                <a:latin typeface="Courier"/>
              </a:rPr>
              <a:t>IOException</a:t>
            </a:r>
            <a:r>
              <a:rPr sz="2200" dirty="0">
                <a:latin typeface="Courier"/>
              </a:rPr>
              <a:t> 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)</a:t>
            </a:r>
            <a:r>
              <a:rPr sz="2200" dirty="0">
                <a:latin typeface="Courier"/>
              </a:rPr>
              <a:t>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200" dirty="0"/>
            </a:br>
            <a:r>
              <a:rPr sz="2200" dirty="0">
                <a:latin typeface="Courier"/>
              </a:rPr>
              <a:t>      </a:t>
            </a:r>
            <a:r>
              <a:rPr sz="2200" dirty="0" err="1">
                <a:latin typeface="Courier"/>
              </a:rPr>
              <a:t>e</a:t>
            </a:r>
            <a:r>
              <a:rPr sz="22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sz="2200" dirty="0" err="1">
                <a:solidFill>
                  <a:srgbClr val="06287E"/>
                </a:solidFill>
                <a:latin typeface="Courier"/>
              </a:rPr>
              <a:t>printStackTrace</a:t>
            </a:r>
            <a:r>
              <a:rPr sz="2200" dirty="0">
                <a:solidFill>
                  <a:srgbClr val="666666"/>
                </a:solidFill>
                <a:latin typeface="Courier"/>
              </a:rPr>
              <a:t>();</a:t>
            </a:r>
            <a:br>
              <a:rPr sz="2200" dirty="0"/>
            </a:br>
            <a:r>
              <a:rPr sz="2200" dirty="0">
                <a:latin typeface="Courier"/>
              </a:rPr>
              <a:t>   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2200" dirty="0"/>
            </a:br>
            <a:r>
              <a:rPr sz="2200" dirty="0">
                <a:latin typeface="Courier"/>
              </a:rPr>
              <a:t>  </a:t>
            </a:r>
            <a:r>
              <a:rPr sz="2200" dirty="0">
                <a:solidFill>
                  <a:srgbClr val="666666"/>
                </a:solidFill>
                <a:latin typeface="Courier"/>
              </a:rPr>
              <a:t>}</a:t>
            </a:r>
            <a:br>
              <a:rPr sz="2200" dirty="0"/>
            </a:br>
            <a:r>
              <a:rPr sz="2200" dirty="0">
                <a:solidFill>
                  <a:srgbClr val="666666"/>
                </a:solidFill>
                <a:latin typeface="Courier"/>
              </a:rPr>
              <a:t>}</a:t>
            </a:r>
          </a:p>
          <a:p>
            <a:pPr marL="0" lvl="0" indent="0">
              <a:buNone/>
            </a:pPr>
            <a:r>
              <a:rPr sz="2200" dirty="0"/>
              <a:t>There are </a:t>
            </a:r>
            <a:r>
              <a:rPr sz="2200" b="1" dirty="0"/>
              <a:t>so</a:t>
            </a:r>
            <a:r>
              <a:rPr sz="2200" dirty="0"/>
              <a:t> many things to be improved in this code, but it’s a start.</a:t>
            </a:r>
            <a:endParaRPr sz="17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89149-1758-1535-2CF1-9E6E91BC3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78A28-6314-8BCA-348F-2441FD2E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858" y="269751"/>
            <a:ext cx="11222734" cy="1162051"/>
          </a:xfrm>
        </p:spPr>
        <p:txBody>
          <a:bodyPr>
            <a:noAutofit/>
          </a:bodyPr>
          <a:lstStyle/>
          <a:p>
            <a:r>
              <a:rPr lang="en-GB" sz="4400" noProof="0" dirty="0"/>
              <a:t>GUI Event Handling Process</a:t>
            </a:r>
            <a:endParaRPr lang="en-GB" sz="4000" noProof="0" dirty="0"/>
          </a:p>
        </p:txBody>
      </p:sp>
      <p:pic>
        <p:nvPicPr>
          <p:cNvPr id="3" name="Picture 1" descr="data:image/png;base64,iVBORw0KGgoAAAANSUhEUgAAAxAAAAFBCAYAAADntEmGAAAAAXNSR0IArs4c6QAAIABJREFUeJzt3X1sG/l95/HPUNSDZXvt3WUj+1J7db2tncAQGiRzPRMuFvtPVQoBYa/RQ8wUhle5QNkEJwg9GYX9h8ASAmIfsCqqCEUS9Q9la7Q0gp4fjglECEiRpjCoa+dwSbkGdt20UewktrLsPnhtPZKc+4PPsiSPrIfhSO8XIMCe4cx8Zf84nM/8fr+hYdu2LQAAAABwwOd2AQAAAAC8gwABAAAAwDECBAAAAADHCBAAAAAAHCNAAAAAAHCMAAEAAADAMQIEAAAAAMf8bhewHrmsrZlHOYmvskBRS2uDGpu9n4vnZnJanM+7XQbqhGEY2r3PL8Nwu5L1sW1p5mFW+TznbBQ0NvvU0trgdhnrtjCX1/xszu0yUCcMw9CuPQ1q8Hv8pL0Kw5NfJGdL7/1qQY8+zKplj1+5rPd+BWw8n69wEm9sNHTwt1rk82COWFzI65c/nZPP75OvYfueeLA2vgZDsx8v6sUDjdr/G01ul/NMPvj1gj6YXtSu5xo5Z6Msl83LzkmffLlZjU3eO2nnc7Z++a9zyuckf4tPNvd9IMnnl+Y/zmnv834FPunNc/bTeDJAPHw/qw/ey2pPoMXtUlCH5h4uqsGX14GXmt0uZc1+/u6Mmvc0q7HF+3fksPE+/vWsDrzU5Lk7tnMzeT2YmtPetla3S0EdWpjNKjuzqENHdrldyppN/3xeWfnUsqfR7VJQhx7/+5z2Bxr03Avbr314L+5LevxRTs28WbGC5r1+zT3OSx6LxgtzORkyCA9YUdPuRs089N4wiccfZdW4m3M2lte0y6983taC14Zt2tLs4xzhAStqbG3U44+8d852wpMBIruQl+FjeAeWZxiGbNtWLuetBJHLSp4f5I7NZUgL895q15K0OJ9nSB5WZxjKZ90uYm2yDMXDU/gbDS0ueCwYO+TJAAEAAADAHQQIAAAAAI4RIAAAAAA4RoAAAAAA4BgBAgAAAIBjBAgAAAAAjhEgAAAAADhGgAAAAADgGAECAAAAgGMECAAAAACOESAAAAAAOEaAAAAAAOAYAQIAAACAYwQIAAAAAI4RIAAAAAA4RoAAAAAA4BgBAgAAAIBjBAgAAAAAjhEgAAAAADhGgAAAAADgGAECAAAAgGMEiHpjXVYgcErXph0uBzaDdVmBgFH5OXtVND3sDJMaDhg6e+3BM64H6tf0tVMKBC7Lcrh8U47L9cy2QIAAUGP62ikFhtt1O2MrU/y5/dpVXd2sT5Y6t9kfrNimpq/qbMDQMA0HwDbkd7sAAHVk+qrO90ijt8+orWpx2+kb6nOtKKCeHFdfxna7CABwFT0QHmUNVw0vWdIVWLuu+g7YA107aygwPFm8q8rQFNSyrkY03nVGJ9pWf125/TzRxiY1HDila1bh7mtNG5uuWjY8WTnmsKHA2csaPrvc/p52vML2Z69NFtr2MvsvvGjJkKzy+mXqrdr/9LVTOtZzU9JFhZZ5r2GHqWrD5TY4Xdt2AsOThWXHIhqXNBgqLK8e8rTyOXr19vj07TnHY2MsPedWt99CL/VkbTtc2s6WvC/OX3/aER/UnsNrzrWVYYPlYy49x2PLESC8yLqs0OBJjd4uDTG5odPFCz5r2FDIileGnyQvaTC05APIuqyr+lZh/ZXaO83YyR7oriXJbF+1TRQuqlVpf0+0sZvqGZbeLLbBpBnRseHLGj5fXHY7rq7BYO0Y8vFJHXqz1J5TUqjyAfH040njPUHd6yuuL+6/vN66rEBosur9ktLAYLDqA+imekJT6isN1xo9qcFQYchS2+kbuj16UtIlJZe817ADtZ3RldtxdZUXPNC18xGND6TKw/0yfcdrXjeQLCy/cvqAJCfn6JXbo7PtxTke6zSpq9fP1LSx8Z6DtW1sMKjhQ/cr59TxiM6XzumlAF1+X9zXa7q5yvEe6NrZg+oxK++j26NSz7ElN2yuv6FbJ6reZ3AVAWI7mb6q4cGTGn2z6gPDfF2jXdLgreq0fkZnih9mwNpM6mrPTXWNfqtyIW1eUHJAGhyu3IHqeu3Vchs8dOikNCidKF3ItL2q17qk8XtTld3W9Hoc15nRk9LgD2U5PJ664jpjFv9c3H+hzT/QteGLtdvX7L+4+ejrKm9+4oy6dFG3GLuOjebwHL1ie+Qcjw1R6lGt/BR6WkuOq686eJqvakCSdbf6wQGX1FduY8d1YkAav/5DTavUkx3X7fJF/gGdeO3kyuVY31HP+CUlq0JB2+kLGtBNXb9VOea4eUF95nI7gBuYA+FF5usa7bqonmOGro/eL9/Zmr51VeO6qfFjhnqe2Kb6z6vfYQZWND0lS5J5uPbipBASpnRP7RtymMJFU0S3JuJPOd7T6v2hro9L4+MHFXjiTcEdLKzXAZ3uu6SeUFCBwUtKZi5otesbx+fo9W7POR6rerKtlnp6KyY1HAhqsGpJl5xw1pNdzbp1UZIUClx8Yl31MbsObcznCzYGPRCedECnrxS6Dc2eg0ueEFMaarHkh+4+PNUBHTYlWVPuj5m+N6VxndShT27M7krDSGp/Vr/YAxwxLxSHXEwq5Ojxrus9R3OOxyabvqqzgaAGy0OQUhpwvPGU7o0/w8V+V7zmyX+lnyv0pNUtAoRHTN+dlHRch2si/XH1Ze5rtOuiQsOTajt8XGLoBdbBPHFJGr+qWysliLZ2mVralf1At67flLradWiD6ii392PrPF6x3trhHcDGazt9ozhW/I0VJ9qv9xzNOR5bodDTVTWkqNjz7EztcCYnDh06ufrnDuoSAaLemK9rtOumes5Xje+evqrzPTelgVeXuWNaSPuVbVUz4U6a1DBPK4BT5gUlB5a0P0myLhfvrBbmD4z3fKfSxqzvqGdcGujboMmaxfZeGAe+3uOV5jsElzy5yfn3OnDRBqcKwbdoufC63nM053hsmUndnZYKDwqYkjmwZN7aKswzcXVVT6qWdO/e0knUN3WvOAa1NN9h6XXPMF/WWNeYA1F3Duj0lfvS2YM6FoiUl3aN3lem1JVnXVYgVDVWsGqy0ukrtg4PGzVjCQdG72taYkwsHDH7bN2+dqqm/UknNTD6qqZ1oPBkIp3SsYBRXjuQtNc3uW08UnW8whPGSpOe13u8ttM3lDl8WYGQURnPOxDXbadvCvOCkgMXFSptP5BiuMgOMN7z5LyZgaStvppur+LTY8ZrX1Nou8fVl7ykwVBQgUGpNO58fefoA5zjsenaTt9Q8p6h0DFDPTqp0ds31Kd2Wccu69qZGzrx1B2c0ZVMu4YDlfdQV1fVJGrzgm6PTupYyJA1el9XThdGUxyque45qYHkq5vw22GjGLZte+4bce69O6um55rlb6IDBct7+GBGh4/uUoPfePqL68Tso5ze+9Widr/Y4nYpW6r8WEoeN/lU8zNZ+fI5HXip2e1S1uTB1Jxsv19Nu7hnheU9ysyq7Teb1bLbO5/r2UVbv/iXWe1ta3W7FNSpfDav2Q/ndPjo9msj3nmnAgAAAHAdAQIAAACAY/QnA3CV2Wcr43YRAADAMXogAAAAADhGgAAAAADgGAECAAAAgGMECAAAAACOESAAAAAAOEaAAAAAAOAYAQIAAACAYwQIAAAAAI4RIAAAAAA4RoAAAAAA4BgBAgAAAIBjBAgAAAAAjhEgAAAAADhGgAAAAADgGAECAAAAgGMECAAAAACOeTJA+PyGDE9Wjq3S0Ggon7fdLmNN7LwtX4PhdhmoY4ZhyOfBc5/PZ0gGbRsr8/kN5W1vnbNlSw1+D74hsXUMQ/7G7dlGPPlb+RsN5ebzbpeBOpXL5mXnbDU2eat579rr1/zjrNtloI7l5nNq2uWtdi1JTa0+Zedo21jZ/KOcWvc0uF3GmvibDOVztvJZjwUfbJnF2az8jdvz5on3Pokk7Qs0an5mUYtzObdLQZ3JLuQ199Gi9gUa3S5lzQxD2vt8ox6/P88HEp6wMJNVdiGnvfv9bpeyZnv3+5VbyGlhhhCBWvmsrZkP5vXcC95r15K0L+DX7Ifzyi1wUxO1FudyWpzNefJ6xAnDtr3WZ1gw+yin96cXlc9JC/M7O0jk87Zka8cPf2lo8KnBLz33gt+7b1hben96UY8+zGpxcWd/INl2YViXYUiGb2e37eYWn/xNPr14oFGNzZ6876OFubzen17U4kJeC3M7vG3nbdl2oV3v9JFdjX6fdu9v0IsHm9wu5Zl9lMnq4fuLymVt5XKevKTaMPmcLRnFYYs7WHOzTz6/oec/0ahdHutZc8qzAaLE29VvjHt3ZjQ/k9d/+p09O/vDyNa2mhuz09v2/Exe9+7MaO8LfrUdbnG7HFdtt/f1Tm/b03fn9PH7WR060qrm1m100noG26lt23lJ2+j3WSvblv71J4/U3OrToSOtbpfjuu3UtpfjzT7DKtv9P8iJ0j+BsdPnKW6z331H/1+q8vsb4t9iu9np/5+cs7en7XQDaz04Z+8MNHcAAAAAjhEgAAAAADhGgAAAAADgGAECAAAAgGMECAAAAACOESAAAAAAOEaAAAAAAOAYAQIAAACAYwQIAAAAAI4RIAAAAAA4RoAAAAAA4BgBAgAAAIBjBAgAAAAAjhEgAAAAADhGgAAAAADgGAECAAAAgGMECAAAAACOESAAAAAAOEaAAAAAAOAYAQLelkmo1zQ1lHa7EAAAgJ2BAIEdJq0h01RvIuN2IUoPmTJ7E3K/EgAAAOcIEAAAAAAcI0BgW8kkemUOpQt3983iT/kuf1pDZrfiklKxUGFd9din9FBlmyXrMolemeaQ0sUhU6bZq0Rm9W2KGxZfX1tLeshUd6EQhUyzsO/lXs/YLAAAUGf8bhcAbLh4t0ajSVlWQKXQEEsENRLuUL81JpndmoomNRIOVLZJD8nsnlI0aamwuLCdqTFZ/R3FF01p9K0jilqWCltmlIhJY5alDqlw8R/qVu+R4r4zCfWGYlI0Kat4rPSQqbfSYfX3WxqTqe6pqJIj4ar9xZSKVB8TAACgvtADgW0oop5yOOhQZ0RKTaRWmWuQUWI0rmA0qkqm6NC5aFCKT6i6D6DzXOliX5ICCo/0q3ypHwiqMyil7txXOQwEo4pWBZWOfktkAwAA4GX0QACZlCZSUioVkhlburK95s/tgaXrM0r0hhRLLd3kvu6kpGA0qCc2WVFA4Z6IYt3dMuMRjVlV4QQAAKBOECCAosjYyr0Dy/deFOdUBKNKWmEFSmFiPUV09Muy+pVJ9CpkmgouHWoFAADgMoYwAYF2tUuKT6xxwnJ6QnEFFY2WhjUVeh0KDupIeTjTM5QUHpE1FlEqFlMdPHEWAACgjACBHaZ4YV8zJ6I036FbtQ9lGtLTI0VKpYyQHhqVIkFpakqZ4nAkxbtrvnMiPdRbDgQHC4UotUJAyExNrfm3AwAA2GwMYcIOE1A4GtVEKKaQGZMUVDQ5onB4RFb7kMxuU/HSSyNRJTPSipMYOvqVjE4pVNymMAQqLZndhSctdfTLSh5Rb6hqbkUworFSJeGoohMhxUKmYpKC0b9R58QXa+ZTRMYsMYIJAADUE8O2bdvtIrA+996d0dxMXi9/Zo8Mw+1qgI0xP5PX3Xdn9NwLfrW91OJ2OcCGmf75nB6+n9Xho61qbmUgALYH25Z++uNHamn16dDRVrfLwSbjzAUAAADAMQIEAAAAAMcIEAC23IkTJ/TNb35TCwsLbpcCAADWiAABYMvNzc3pypUr+v3f/32CBAAAHkOAAOCKhYUFPX78mCABAIDHECAAuGq5ILG4uOh2WQAAYAV8D8Q28nu/d0Lz8/NulwE8k4WFBS0sLOiv/uqv9Nd//df6wcSP3C4JAAAsgwCxjXzpS19SNpt1uwzgqUZHR5dd7vP5tGvXLn3lK1/Z4ooAAIBTBIht5Etf+m98kRw8YWmAaGxs1K5du/TlL39ZX/ziFyUVvkgOAADUHwIEANcsFxwAAEB9I0AA2HINDQ3as2cPwQEAAA8iQADYcj09Pfryl7/sdhkAAOAZ8BhXAFuO8AAAgHcRIAAAAAA4RoAAAAAA4BgBAgAAAIBjBAgAAAAAjhEgAAAAADhGgAAAAADgGAECAAAAgGMECAAAAACOESAAAAAAOEaAAAAAAOAYAQIAAACAYwQIAAAAAI4RIAAAAAA4RoAAAAAA4BgBAgAAAIBjfrcLAIDtI6NEb0ix1MqvCEaTGgkHntwy0atQrF1jVr86NrHCdUsPyeyOL7MiUv+1AwA2BAECADZMQOERS+Hi3zwTCtYsqGhyRMvkoM2VSag3FFP7mKX+7fUPCgCeQoAAgDoQCI/ICj/9dQAAuI05EACwZTJK9Joyh9LKJHplmqbM3oT+Ycgs/zlTeml6qLCs+mcoXdxNQr1L11Vvu3T9E/vtVSKT1lBx/VBaSg9V769XiYzWrrzvmoUaMk31lhYu/b1Kv5MKNfQm0oV/o+V+51BMKUnx7sK63mcqEgCwXvRAAMBWmxrVW0eisqzSGKCwxmSqe6r410xCvd1xRUpDddJDMrunFD3XISmtoVBMiiZlhQOVYT09YQVK2xaH+Yx0SKV5GaFeKTlSfI2kidiEeixL/SruP74Bw5I6zikaDGkilVG4uKNMYlRxRTQWDlR+j6RVPE5aQ2a3TI3JKo5JSsW61T5myRop/S7dGuq01N8R1khSDGECgDpADwQAbLlOnVvlSj2TmlBKEXWWLpI7OhVRShOpjJSeUFxBdQaL2weC6gxK8YnCnfr0WzGlImNVF9gBhXsiUmpCqfIN+5Tae9YzLyOlWKjSS1DpCQgo2BlUaiJV7PHIKDWRUjB6Th3KKDEaVzAarQopHToXDUrxCZX7IYJRnSsVtuR3AwDUB3ogAGCrtbdrc+YfpzURl6RumU88KClY8+cjB6v+Wuw5iIVMTazwlKil+1qptyIQ7lEk1q230mH1H0xpIhVUZ7TQUzKRklKpkMzY0q3aHf12AID6QIAAgDoTaG+XFNdEul8dHSr3OkSDAUlHFFS8Mkwok9JESor0FIY3SSs/KlaSdH/ZIxafHpXWkBmSGVvPI1k71BmRuifS6lShN2QkIJUmYURWGX5EPwMAeAMBAgDqTUe/ktEphbpNlToSImOleQNhjYzdkdlduZMfjCaLF+UHdSQoxSdSyoTDz9DL0aF+K6kjvSF1D3WW5yWseS/nogqGutWtoKLJ4j4C7WpXYThSfwcTGADAy5gDAQB1J623Yu0asyxZxZ/KtXxGidHCROTSukpvQ2m+Q0yxqicUZRJDa3iq0n3dWeWL8Bwpzl1QsFPBJ+Y7dKvqwUtKDw0573moCiEAAPfQAwEAdSmu7iUTGSrDfwqTmKunEpSHLXX0y0oeUW+oaq5BMKKxoFa29Nulg1ElV+19ePL4td9EXQgyd1TbCxIIj8hqH5JZ1bOiSFTJjOSsu6RD/WMRxbtLczz49msAcINh27btdhFYn3vvzmhuJq+XP7NHhuF2NcDGmJ/J6+67M3ruBb/aXmpxuxzXpYdMdceXv2AufOO13Pl2aKzZ9M/n9PD9rA4fbVVzKwMBsD3YtvTTHz9SS6tPh462ul0ONhlnLgCoOxklEumav09NSQoe0UFJ6UTVF8NJun8nJald7YQHAMAWYAgTANSb9FuKxeKK1Y5RKnwRXCahWCymVM1KhvIAALYOAQIA6k1Hvyyrf/l1gbBGrPDW1gNHvvCFL+jTn/603njjDR04cMDtcgBg0zCECQCADZDJZPS9731Pf/RHf6RoNKoHDx64XRIAbAoCBAAAG+ijjz7S97//fYIEgG2LAAEAwCaoDhJ/+qd/qunpabdLAoANwRwIAHXt//6//6ObX/8bt8sAnurRo0fLLv/oo4+USCT093//9/r85z+vs//1v29xZQCwsQgQAOra8/tf0Gc/+1m3ywCe6u2331Yul1t2XUtLi5qamvTpT396i6sCgI1HgABQ137rP/62gq/ygFLUv+9+97uan5+vWbZ79261tLToq1/9qk6dOiWp8EVyAOBlBAgAADbYcsEBALYLAgQAABuE4ABgJyBAAACwAY4cOaI/+IM/IDgA2PYIEAAAbIBvfvObbpcAAFuC74EAAAAA4BgBAgAAAIBjBAgAAAAAjhEgAAAAADhGgAAAAADgGAECAAAAgGMECAAAAACOESAAAAAAOEaAAAAAAOAYAQIAAACAYwQIAAAAAI4RIAAAAAA4RoAAAAAA4BgBAgAAAIBjBAgAAAAAjvndLgAAAHhHJtGrUCxVsywYTWokHHCponVKD8nsji+zIqIxq18dW14QUP8IEAAAYI2qLq4zCfWGQjLvjMnq9+rldlDR5Ii2PgOlNWR2a8rLAQw7EkOYAADAswuEFY0GpfiE0m7XAmBLECAAAMC6BNrbJU1p6h+GZJq9SmTSGjJNmaapoWKqyCR6ZRaXVS8vSQ+ZK69PD9WsM6tXLlnXm8isvnwt0qXfp2ahhqr3l0mot7q23oRKL88kemUOpWt/t/L6Qu9DXFIqFnry9wLqGEOYAADAumSmpiS1q31/4e8TsQn1WJb6S+sTvQrFpGjSKgwTSg/J7DalMUv9HYXw0B1fMiwqllBmJKxAekhm91Rl2+KFt6kxWf3SUHd8mTkY6RWWr1HHOUWDIU2kMgoX95NJjCquiMbCgeLwrZjaxyyNFApXojekUK+UHAkX9hHv1mg0KcsKlGuPJYIaCXeo3xqTGMIED6IHAgAAPLtMQrFYSop0Ficcp9TeUz35OK23YikFo9HKHIOOfo1FpPhoQpn0kLrjUmSsaptAWCMjYQWUUWI0XrutOnRuw4dMpRQLLddbEVCwM6jURKrYa5BRaiKlYPScOiSl34opFRlTZepHQOGeiJSaUKrcaxFRT+UXV2dEVfsDvIkeCAAAsEZxdZuVJxcFo0lZ4YCUnpAU1JGDVS/NTGlKUnt77R32g0eCUvyO3umckhRR53LzrzMpTaSkVCokM7Z0ZbtKYSIUC8mciCo5ElbhKCstX8nKk6gD4R5FYt16Kx1W/8GUJlJBdUYLvQkTcUnqlvnEQ5yCqx4N8DoCBAAAWKOtfcRppDjUaVnhEVnhwjCokBkrvzawwvK1K/QadE+k1alCj8NIVdBYbZgUvQzYrhjCBAAANk+gXe2SpqaqL6cLQ4EUPKJPlSZgL3e1Xdw2PvH0wUod/ZaS0aDi3UM1Q5tWWr4WHeeiCsa71R0PKnqulEIO6kiQ4UjYmQgQAABgExWGE6Vib1Uu4NNvKZaSIj1hBTrOKRpMKRaqusDPJNQ7lFZlvkO3ah+8tHwYuH8ntczSlZc7FgiqMygp2KlgubOhNN8hpljVY5oyiSE5f+ATIQTexBAmAACwqQLhESXVq5BplpdVhhQFFB6x1D5k1syriESTyhS3tdoLT22KV1YqmZEUqDwKtSCoaLJfHVpp+UoKk6hrp1lUD9MqhIU7WjKXoqNfVvJI4Yv0ShsHIxpzPAUioHA0qolQTCEzJve+0A5YG8O2bdvtIrA+996d0dxMXi9/Zo8Mw+1qgI0xP5PX3Xdn9NwLfrW91OJ2OcCGmf75nB6+n9Xho61qbmUgALYH25Z++uNHamn16dDRVrfLwSbjzAUAAADAMQIEAAAAAMcIEAAAAAAcYxI1AAAAVvS5z31O+/bt09GjR9XX16dPfepTbpcEl9EDAQAAgFU9fPhQ//RP/6Svfe1r+upXv6p33nnH7ZLgIgIEAAAAHCFIQGIIEwAArrj5v6/rg4/4+jB4UylIvPHGG3r55Zd1+fL/lNTsdlnYIgQIAABc8O6dd/SLX951uwxgXXK5nH72s59pdnZWBIidgwABAIAL/uT8Rb5IDp7wuc997ollu3fvVmtrq772ta8pHA4Xvkgu88iF6uAGAgQAAAAcWRocsDMRIAAAALAqggOqESAAAACwon379umP//iPCQ4oI0AAAABgRX/3d3/ndgmoM8zeAgAAAOAYAQIAAACAYwQIAAAAAI4RIAAAAAA4RoAAAAAA4BgBAgAAAIBjBAgAAAAAjhEgAAAAADhGgAAAAADgGAECAAAAgGMECAAAAACOESAAAAAAOEaAAAAAAOAYAQIAAACAYwQIAAAAAI4RIAAAO1d6SKbZq0TG4fI17dqU2ZvQOnaxRhklek2ZQ+nVl2cS6jVNPfEyAHCIAAEAgMsyiV6Z5pC4pgfgBQQIAAAAAI753S4AAID6ltaQ2a2pSESKx5WSJEU0ZvWro+ZlQzK748W/BBUMPrmPePnvf6hv/+hP9DkVeh9CsZSklLrNuKSgoskRhQNSYfhRSLGUyvutrAMAd9ADAQCAA6mpI4palizLkjUmdVfPIyiGh2A0WVhv9ag9Vdk2kxiVxgrbfv9/3dQbx/5WXzn/PWUkBcIjSkaDKoQSS5a1JDy0jxX3aSkZlWKh9c3NAID1IkAAAOBAsDOo8o3/jnOKBqX4RFpSRonRuBQZ00i5a6BDnZHKtoHwiPrL3RUv6nf+8+9K/3hH91c7YPotxVIRjVU2VCDco4hSmkiRIAC4hyFMAACsWUDBzqAUm1C6v1N3UlKw8+CqW1SGKpX81qqvT08UBjwVhjXVCj6xBAC2DgECAIBncL+QGnQwM6UpSe3tK09MSA+Z6o4HFU1a+t3Hc7qb+B/66nccHCQYVXIkLKY8AKgnDGECAGCJzNSUpHatnAkyKrykXYFAUJ3l4UzLSWsiLgWj0fLk5/fu/eNTazh4JCilJrT+0Ur3Cz0kR1bvIQEApwgQAICdq+OcosGUYrGqL3zLJBSLpaRIZ+1TlqpkEjHFUkFFz3VICijcE5Hi3VVfzlYMGFVSd4ozHu4M62/1h/ovmtJU8aCB9nZJcVVnkNJ8h6W1Da04g3q5OqT0ULfiCqozSD8GgI3BECYAwA4WUHgkKfWGFDJj5aXBaFLWkmelpmIhlV8SjCppVQ0t6uiXlTyi3pAps/CCqse4dqg/GdVUqFtmXNLnv634maN6+Pyr+srn2v9AAAAOmElEQVRbaYX7O6SOfo1F4uruNguPeo2MyervUL+V1JGa2oKKjK0yA6KjX9aYZJb2I2nZR84CwDoYtm3bbheB9bn37ozmZvJ6+TN7ZBhuVwNsjPmZvO6+O6PnXvCr7aUWt8vBjlb8HohosuopS89u+udzevh+VoePtqq5lYEA2B5sW/rpjx+ppdWnQ0db3S4Hm4wzFwAAAADHCBAAAAAAHCNAAPC8n/zkJ3rzzTfdLgPbVof6LWtDhi8BwHbAJGoAnvXP//zP+sY3vqGf/exnyufzOn/+vNslAQCw7REgAHhOOp3WN77xDf3bv/2bPvzwQxmGoX379rldFgAAOwIBAoBnvP322xoeHq4JDgaPHgMAYEsRIADUvXfeeUd/9md/pnfeeUczMzOS9ERwmJub07e//W03ygPW5NGHWc3P5rUv0Ch/IwEY24Pf79crn/2C22VgixAgANS9v/iLv9Dbb7+t+fn5FXsc5ubm9Jd/+ZdbXBkAQJJaWloIEDsIAQJA3RsZGdGPfvQj/fmf/7l+/etfa3Z29okgsX//fv3gBz9wqULAOb5IDttR6YvksDNw5gLgCa+88oquXbumr3/963rppZfU0tIi27bdLgsAgB2HAAHAUwgSAAC4iwABwJOWBonm5ma3SwIAYEdgDgQAT3vllVf0yiuvuF0GAAA7Bj0QAAAAABwjQAAAAABwjAABAAAAwDECBAAAAADHCBAAAAAAHCNAAAAAAHCMAAEAAADAMQIEAAAAAMcIEAAAAAAcI0AAAAAAcIwAAQAAAMAxAgQAAAAAxwzbtm23i3gW8zM5vf/rrBYXbGUX8m6X4yo7L9l2Xr6GnZ0HG/yG/I2G9r3YqD37G9wu55l9+N6iHn2Y1cK8J9+aGyqfy8vw+WQYblfirqYWQ00tDXrhE375m7z5Pl9cyOuDX2e1MJfXwtwOP2fbkp3nnC1JTc0+7dnfoP2/0eh2Kc/s4w+yevh+VtlFW7nszj5v53N5GYZPxg5v2k3NPvmbDD3/iUY179qe/xieDBALs3n96ufzat7dqMZdDZLnfgNsCsNQdj6nuY8X9MInGvXcC363K1qzzK8W9PhRXi17G9Xg354nHaydIWl+JqvF2awOH9nluQ/nfM7W3TuzamptVNOuBu34RIiyfNbW7McL2r23QYGD3gsRD/89q/ffW1TL3ib5mxsK6RAwpMXZnBZmsjr4UpOaWjx20nbAe1dYkj7MZNW0y6+m1mL5fBahqLGlQb6GFn343pwnA8RHmUXt/+Rut8tAHWre06jcYl4ff5DVcy96q21//EFWDU1+Ne/x3gUiNldDk6E9L7Tow1899mSA+OC9RbXub1ZDY/ECkXCMoqZWv+y89FEmq9/4zSa3y9lwnoxE2UVb/hZvfYBi6zQ0GjJ8hnKL3roTNPsop6bdtGuszL+rQXOz3hv+Mzdrq7HZu8MKsckMqbnVr9lHObcrWZPsgi1fg1EJD8ASDc2GFhe8dS3ilCdbfW4xLzu/Pf9DsDGyC3lP9kzZOdo1VmbnC8OBvMbO5WUz1hSryOXyMrx2994oXI8AK/EZhrKL3grGTnkyQAAAAABwBwECAAAAgGMECAAAAACOESAAAAAAOEaAAAAAAOAYAQIAAACAYwQIAAAAAI4RIAAAAAA4RoAAAAAA4BgBAgAAAIBjBAgAAAAAjhEgAAAAADhGgAAAAADgGAECAAAAgGMECAAAAACOESAAAAAAOEaAAAAAAOAYAQIAAACAYwQIAAAAAI4RIAAAAAA4RoCoN9ZlBQKndG3a4XJgM1iXFQgYlZ+zV0XTw84wqeGAobPXHjzjeqB+TV87pUDgsiyHyzfluFzPbAsECAA1pq+dUmC4XbcztjLFn9uvXdXVzfpkqXOb/cGKbWr6qs4GDA3TcABsQ363CwBQR6av6nyPNHr7jNqqFredvqE+14oC6slx9WVst4sAAFfRA+FR1nDV8JIlXYG166rvgD3QtbOGAsOTxbuqDE1BLetqRONdZ3SibfXXldvPE21sUsOBU7pmFe6+1rSx6aplw5OVYw4bCpy9rOGzy+3vaccrbH/22mShbS+z/8KLlgzJKq9fpt6q/U9fO6VjPTclXVRomfcadpiqNlxug9O1bScwPFlYdiyicUmDocLy6iFPK5+jV2+PT9+eczw2xtJzbnX7LfRST9a2w6XtbMn74vz1px3xQe05vOZcWxk2WD7m0nM8thwBwousywoNntTo7dIQkxs6Xbzgs4YNhax4ZfhJ8pIGQ0s+gKzLuqpvFdZfqb3TjJ3sge5aksz2VdtE4aJalfb3RBu7qZ5h6c1iG0yaER0bvqzh88Vlt+PqGgzWjiEfn9ShN0vtOSWFKh8QTz+eNN4T1L2+4vri/svrrcsKhCar3i8pDQwGqz6AbqonNKW+0nCt0ZMaDBWGLLWdvqHboyclXVJyyXsNO1DbGV25HVdXecEDXTsf0fhAqjzcL9N3vOZ1A8nC8iunD0hyco5euT06216c47FOk7p6/UxNGxvvOVjbxgaDGj50v3JOHY/ofOmcXgrQ5ffFfb2mm6sc74GunT2oHrPyPro9KvUcW3LD5vobunWi6n0GVxEgtpPpqxoePKnRN6s+MMzXNdolDd6qTutndKb4YQaszaSu9txU1+i3KhfS5gUlB6TB4codqK7XXi23wUOHTkqD0onShUzbq3qtSxq/N1XZbU2vx3GdGT0pDf5QlsPjqSuuM2bxz8X9F9r8A10bvli7fc3+i5uPvq7y5ifOqEsXdYux69hoDs/RK7ZHzvHYEKUe1cpPoae15Lj6qoOn+aoGJFl3qx8ccEl95TZ2XCcGpPHrP9S0Sj3Zcd0uX+Qf0InXTq5cjvUd9YxfUrIqFLSdvqAB3dT1W5VjjpsX1GcutwO4gTkQXmS+rtGui+o5Zuj66P3yna3pW1c1rpsaP2ao54ltqv+8+h1mYEXTU7IkmYdrL04KIWFK99S+IYcpXDRFdGsi/pTjPa3eH+r6uDQ+flCBJ94U3MHCeh3Q6b5L6gkFFRi8pGTmgla7vnF8jl7v9pzjsaon22qpp7diUsOBoAarlnTJCWc92dWsWxclSaHAxSfWVR+z69DGfL5gY9AD4UkHdPpKodvQ7Dm45AkxpaEWS37o7sNTHdBhU5I15f6Y6XtTGtdJHfrkxuyuNIyk9mf1iz3AEfNCccjFpEKOHu+63nM053hssumrOhsIarA8BCmlAccbT+ne+DNc7HfFa578V/q5Qk9a3SJAeMT03UlJx3W4JtIfV1/mvka7Lio0PKm2w8clhl5gHcwTl6Txq7q1UoJoa5eppV3ZD3Tr+k2pq12HNqiOcns/ts7jFeutHd4BbLy20zeKY8XfWHGi/XrP0ZzjsRUKPV1VQ4qKPc/O1A5ncuLQoZOrf+6gLhEg6o35uka7bqrnfNX47umrOt9zUxp4dZk7poW0X9lWNRPupEkN87QCOGVeUHJgSfuTJOty8c5qYf7AeM93Km3M+o56xqWBvg2arFls74Vx4Os9Xmm+Q3DJk5ucf68DF21wqhB8i5YLr+s9R3OOx5aZ1N1pqfCggCmZA0vmra3CPBNXV/Wkakn37i2dRH1T94pjUEvzHZZe9wzzZY11jTkQdeeATl+5L509qGOBSHlp1+h9ZUpdedZlBUJVYwWrJiudvmLr8LBRM5ZwYPS+piXGxMIRs8/W7WunatqfdFIDo69qWgcKTybSKR0LGOW1A0l7fZPbxiNVxys8Yaw06Xm9x2s7fUOZw5cVCBmV8bwDcd12+qYwLyg5cFGh0vYDKYaL7ADjPU/OmxlI2uqr6fYqPj1mvPY1hbZ7XH3JSxoMBRUYlErjztd3jj7AOR6bru30DSXvGQodM9Sjkxq9fUN9apd17LKunbmhE0/dwRldybRrOFB5D3V1VU2iNi/o9uikjoUMWaP3deV0YTTFoZrrnpMaSL66Cb8dNoph27bnvhHn3ruzanquWf4mOlCwvIcPZnT46C41+I2nv7hOzD7K6b1fLWr3iy1ul7Klyo+l5HGTTzU/k5Uvn9OBl5rdLmVNHkzNyfb71bSLe1ZY3qPMrNp+s1ktu73zuZ5dtPWLf5nV3rZWt0tBncpn85r9cE6Hj26/NuKddyoAAAAA1xEgAAAAADhGfzIAV5l9tjJuFwEAAByjBwIAAACAYwQIAAAAAI4RIAAAAAA4RoAAAAAA4BgBAgAAAIBjBAgAAAAAjhEgAAAAADhGgAAAAADgGAECAAAAgGMECAAAAACOESAAAAAAOEaAAAAAAOAYAQIAAACAYwQIAAAAAI4RIAAAAAA4RoAAAAAA4BgBAgAAAIBjngwQ/iZD+bztdhmoYz6fIV+D4XYZa9Lg9+TbEVvJtuVv9Fa7lqSGJp9sztlYhWEY8jW4XcXaNPgNGT7vvR+xdbLZvBqbPdawHfLkFcuuvQ1anMm6XQbq1PyjrJpafDI8dl5vajFk523lFvJul4I6Nf84qz37vPdhtOe5Bi3M5NwuA3Uqt5CXnbfV1OKtSxLDkBqbDS1wPYIVLD7OqnWv987ZThi2bXvutpBtS/en5jU/m1NTq195PpegQq/D4nxWsm0d+u1davB7LEFIWpyzde+ns/I3NcjwWA8KNo/hkxZnstr7vF+B/9DkdjnP5L1fzuvjD3Jq2dOoXM5zHzvYJHYur+xCXp98uVnNLd670Mplbf3iX+ZkG1Jjs5/REZAk+RoMLTxe1K7dDWp7qdlzNzSd8GSAKFmcz2v2cZ6ucRQYhlp2+dTc6q27WMuZ/TinhXl6IlDga/Cpda/Pk6G4Wi5ra+ZhjosslDW1+LRrj/eCw1JzM3ktzOREy4Yk+QxDLXsb1Njk7XP2ajwdIAAAAABsLe/fqgUAAACwZQgQAAAAABwjQAAAAABwjAABAAAAwDECBAAAAADHCBAAAAAAHCNAAAAAAHCMAAEAAADAMQIEAAAAAMcIEAAAAAAcI0AAAAAAcIwAAQAAAMCx/w/Q+iFwHQc55gAAAABJRU5ErkJggg==">
            <a:extLst>
              <a:ext uri="{FF2B5EF4-FFF2-40B4-BE49-F238E27FC236}">
                <a16:creationId xmlns:a16="http://schemas.microsoft.com/office/drawing/2014/main" id="{67138298-C81A-65E5-5B83-6C21667A5DB9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056858" y="1611683"/>
            <a:ext cx="10078283" cy="412954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76700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BB1A-95FD-1F2B-6F7A-AEFEA98D9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4391"/>
            <a:ext cx="10515600" cy="92654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sz="4400" b="1" dirty="0"/>
              <a:t>Hierarchy of GUI Components (</a:t>
            </a:r>
            <a:r>
              <a:rPr lang="en-GB" sz="4400" b="1" dirty="0" err="1"/>
              <a:t>java.awt</a:t>
            </a:r>
            <a:r>
              <a:rPr lang="en-GB" sz="4400" b="1" dirty="0"/>
              <a:t>)</a:t>
            </a:r>
            <a:endParaRPr sz="4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3EEE30-55BD-563F-BFF3-5DB522A3FC4F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55064" y="1369811"/>
            <a:ext cx="7552944" cy="499771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2E9EA6-EFAC-CDFD-1CC9-477763C268A0}"/>
              </a:ext>
            </a:extLst>
          </p:cNvPr>
          <p:cNvSpPr txBox="1"/>
          <p:nvPr/>
        </p:nvSpPr>
        <p:spPr>
          <a:xfrm>
            <a:off x="4912283" y="6488668"/>
            <a:ext cx="7272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https://docs.oracle.com/javase/8/docs/api/java/awt/package-tree.html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AE59F-8ED7-5079-716F-68A61CFE081E}"/>
              </a:ext>
            </a:extLst>
          </p:cNvPr>
          <p:cNvSpPr txBox="1"/>
          <p:nvPr/>
        </p:nvSpPr>
        <p:spPr>
          <a:xfrm>
            <a:off x="6766560" y="2850662"/>
            <a:ext cx="804672" cy="307777"/>
          </a:xfrm>
          <a:prstGeom prst="rect">
            <a:avLst/>
          </a:prstGeom>
          <a:solidFill>
            <a:srgbClr val="ECECFF"/>
          </a:solidFill>
        </p:spPr>
        <p:txBody>
          <a:bodyPr wrap="square" rtlCol="0">
            <a:spAutoFit/>
          </a:bodyPr>
          <a:lstStyle/>
          <a:p>
            <a:r>
              <a:rPr lang="en-GB" sz="1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9848-D3B2-09EC-3281-5DAD8416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64A11-3B9A-BB5A-20A4-E0BBF80F3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790"/>
            <a:ext cx="10515600" cy="92654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sz="4400" dirty="0" err="1">
                <a:latin typeface="Courier"/>
              </a:rPr>
              <a:t>java.awt</a:t>
            </a:r>
            <a:r>
              <a:rPr lang="en-GB" sz="4400" dirty="0">
                <a:latin typeface="Courier"/>
              </a:rPr>
              <a:t> </a:t>
            </a:r>
            <a:r>
              <a:rPr lang="en-GB" sz="4400" dirty="0"/>
              <a:t>vs </a:t>
            </a:r>
            <a:r>
              <a:rPr lang="en-GB" sz="4400" dirty="0" err="1">
                <a:latin typeface="Courier"/>
              </a:rPr>
              <a:t>javax.swing</a:t>
            </a:r>
            <a:r>
              <a:rPr lang="en-GB" sz="4400" dirty="0">
                <a:latin typeface="Courier"/>
              </a:rPr>
              <a:t> </a:t>
            </a:r>
            <a:r>
              <a:rPr lang="en-GB" sz="4400" dirty="0"/>
              <a:t>vs </a:t>
            </a:r>
            <a:r>
              <a:rPr lang="en-GB" sz="4400" dirty="0" err="1">
                <a:latin typeface="Courier"/>
              </a:rPr>
              <a:t>javafx</a:t>
            </a:r>
            <a:endParaRPr sz="4400" dirty="0">
              <a:latin typeface="Courie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BA8844-BF5A-6222-EDA7-EAA95E28124B}"/>
              </a:ext>
            </a:extLst>
          </p:cNvPr>
          <p:cNvSpPr txBox="1"/>
          <p:nvPr/>
        </p:nvSpPr>
        <p:spPr>
          <a:xfrm>
            <a:off x="4912283" y="6488668"/>
            <a:ext cx="7272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https://docs.oracle.com/javase/8/docs/api/java/awt/package-tree.html</a:t>
            </a:r>
            <a:endParaRPr lang="en-GB" dirty="0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2A3BC62-3494-9E3E-D918-D4F17DB40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14" y="1202330"/>
            <a:ext cx="10854066" cy="39183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84D5CC-5034-DC7C-914E-F2706270D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10" y="5452784"/>
            <a:ext cx="10854066" cy="90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370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7EEA4-B031-ADEC-079D-29A15800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7BE4D-F53A-C1C8-58B0-DBE4EAF88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5790"/>
            <a:ext cx="10515600" cy="92654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sz="4400" dirty="0" err="1">
                <a:latin typeface="Courier"/>
              </a:rPr>
              <a:t>java.awt</a:t>
            </a:r>
            <a:r>
              <a:rPr lang="en-GB" sz="4400" dirty="0">
                <a:latin typeface="Courier"/>
              </a:rPr>
              <a:t> </a:t>
            </a:r>
            <a:r>
              <a:rPr lang="en-GB" sz="4400" dirty="0"/>
              <a:t>vs </a:t>
            </a:r>
            <a:r>
              <a:rPr lang="en-GB" sz="4400" dirty="0" err="1">
                <a:latin typeface="Courier"/>
              </a:rPr>
              <a:t>javax.swing</a:t>
            </a:r>
            <a:r>
              <a:rPr lang="en-GB" sz="4400" dirty="0">
                <a:latin typeface="Courier"/>
              </a:rPr>
              <a:t> </a:t>
            </a:r>
            <a:r>
              <a:rPr lang="en-GB" sz="4400" dirty="0"/>
              <a:t>vs </a:t>
            </a:r>
            <a:r>
              <a:rPr lang="en-GB" sz="4400" dirty="0" err="1">
                <a:latin typeface="Courier"/>
              </a:rPr>
              <a:t>javafx</a:t>
            </a:r>
            <a:endParaRPr sz="4400" dirty="0">
              <a:latin typeface="Couri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B408D3-5663-0919-E996-76250AEF9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669"/>
            <a:ext cx="10515600" cy="45986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D7A431-1977-AE9F-7A8F-9CD9FC80BD6D}"/>
              </a:ext>
            </a:extLst>
          </p:cNvPr>
          <p:cNvSpPr txBox="1"/>
          <p:nvPr/>
        </p:nvSpPr>
        <p:spPr>
          <a:xfrm>
            <a:off x="1677649" y="5910680"/>
            <a:ext cx="7170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… many more classes in </a:t>
            </a:r>
            <a:r>
              <a:rPr lang="en-GB" sz="28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javafx.scene.control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9584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6127" y="284741"/>
            <a:ext cx="11222734" cy="1162051"/>
          </a:xfrm>
        </p:spPr>
        <p:txBody>
          <a:bodyPr>
            <a:noAutofit/>
          </a:bodyPr>
          <a:lstStyle/>
          <a:p>
            <a:r>
              <a:rPr lang="en-GB" sz="4400" noProof="0" dirty="0"/>
              <a:t>Layout Managers: Organizing GUI Components</a:t>
            </a:r>
            <a:endParaRPr lang="en-GB" sz="40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03AB7E-246E-C702-B047-C60F81A40F84}"/>
              </a:ext>
            </a:extLst>
          </p:cNvPr>
          <p:cNvSpPr txBox="1"/>
          <p:nvPr/>
        </p:nvSpPr>
        <p:spPr>
          <a:xfrm>
            <a:off x="1006127" y="1858780"/>
            <a:ext cx="102514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kern="12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Definition. </a:t>
            </a:r>
            <a:r>
              <a:rPr lang="en-GB" sz="2800" kern="12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Layout managers control the arrangement of components within a Container.</a:t>
            </a:r>
            <a:br>
              <a:rPr lang="en-GB" sz="2800" b="1" kern="12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</a:br>
            <a:endParaRPr lang="en-GB" sz="2800" b="1" kern="1200" noProof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endParaRPr>
          </a:p>
          <a:p>
            <a:pPr algn="l"/>
            <a:r>
              <a:rPr lang="en-GB" sz="2800" b="1" kern="12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Why Use Layout Managers?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kern="12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Ensure proper alignment and resizing.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800" kern="1200" noProof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Adapt GUIs to different screen sizes and resolutions.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3D8AB-E725-4090-1C6E-8D4F6D66A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29EF1-98B9-3F66-3A89-E2A157F92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297" y="282193"/>
            <a:ext cx="11222734" cy="1162051"/>
          </a:xfrm>
        </p:spPr>
        <p:txBody>
          <a:bodyPr>
            <a:noAutofit/>
          </a:bodyPr>
          <a:lstStyle/>
          <a:p>
            <a:br>
              <a:rPr lang="en-GB" sz="4400" noProof="0" dirty="0"/>
            </a:br>
            <a:r>
              <a:rPr lang="en-GB" sz="4400" noProof="0" dirty="0"/>
              <a:t>Common Layout Manager Classes</a:t>
            </a:r>
            <a:endParaRPr lang="en-GB" sz="4000" noProof="0" dirty="0"/>
          </a:p>
        </p:txBody>
      </p:sp>
      <p:pic>
        <p:nvPicPr>
          <p:cNvPr id="3" name="Picture 1" descr="data:image/png;base64,iVBORw0KGgoAAAANSUhEUgAAApQAAAETCAYAAACIkpbBAAAAAXNSR0IArs4c6QAAIABJREFUeJzt3X98U/W9P/BXaPklPw1VQFuHKzKDVLd59NJ79dtu9y7pvKuP6N1jLBOF4kQ6KEbP3easo3bSiYNItWgAlcLoNePuh5nddU3UjU536+Zx09UZL6OzG1VAS4aI8rPN949zTnKSpknapDn58Xo+HjweND35nHdOTpt3Pz/eH0MgEAiAiIiIiGiUxukdABERERFlNyaURERERJQUJpRERERElBQmlERERESUFCaURERERJQUJpRERERElJRCvQMgIiLKdW/87wfof+e03mEQDevCSybjkk9PHfXzmVASERGNsbf//DEmnFOImedN0DsUoiEO//0EDD0nmFASERFlurmlU3DhJefoHQZRVCc/TK4HnXMoiYiIiCgpTCiJiIiIKClMKImIiIgoKUwoiYiIiCgpTCiJiIiIKClMKImIiIgoKSwbRER54/jRszj50YDeYdAIjSswwDiH9RuJMhkTSiLKG9Jz/8Dbf/4IE88p0DsUSlBgMIDTJwdRc988vUMhohiYUBJRXln4L0bM/+x0vcOgBH384QCe33lA7zCIKA7OoSQiIsoAfm8dLBYh/F99O/wpab0bTosAi7M7/qE+BywWAU5fSk6cHCUW+V8dvKm5GDQGmFASERFljHKILgkejwSPpwMiGmFLSSI1F6VC+CNyAuvAkLxx9gIIkY+lXT+89QIsbQvg8qjXYyV6bEwqw/gcGZNoc8ibiIgoIxXBLDag09aITqkfZnNRcm01STAncqixGk2e6iTOlTyfswoONMDVVA1j8NEy1HpadIyKYmFCSURElKmM81AMwN1zEECR3CNld4W+b22Fp7ZM+aIf3voqOCTNt5sl1Jq64bTUwK053u+tg83RBaALdosrdCxC7cvPVRryt6Pe1ohg04I22ZPbR3MHSts059fGFvl82NDsEWFCFP52tLkBa7M2mRxGrOvhb0e9zYuKZjM67eq51fNqrgnKIbpaYDaG4iy22uB2h9oVxA40aRP6ZK+HGr5TgN0d+lp7Hp9TgB2tcJVuV96riOumee0OmwCH9vmR10VoQHtTNcayVgITSiIiokzl70UfAKF0bjAJDCV6cuJi6ZOTGXgb4ZCiJWplqPW0AsEECjCaW+BCHWyOeRHHi/A0IzwZUZITQeyAx1wENXG1WfaFPddtb5SH64OJWQ3qSzvQZAa8jkZIURKqqC9Z8kJCOSpmxzkuzvWQk7suONrMcHkkGNXn1LdDLN6HSo+EWjUJtzlQon0tMMPjEZUTtaPeVgVLjxJ/0tcj9BwHGuDyKLFGngcA3DVwiB3weELPsdcvkF+fSX2vekMJMZTroMTXlFSv9shwDiUREVFG6pcTMdiw1HwQexxdgLU11GuIMtQ22wDJCyk4h64XB1I6n64f3jYXIDRADCYn8lC8ABf2aiZgCmJDKKkxlqNCAKSeg6ED+npTtMAIALoTvB6AdWmop9MomCFIjeipVBO/IpiX2hB53ayVmsTXWA1RLAfcXvhSdT18u+TkXzukH3YetZHw8wgV5YC0D4cTuEJh1z4NmFASERFljC44bOqqZrUHS4RJ6akMS3QAZQFNF3oOA0ZzA0RBfn69tz9F8RxEjwQIFeXhw8/KUHzfgTjn6euFX024pFQtMEKw5zbW9UglY8k8yElnKq4H4NvrAuCCPWJVf2hoO5Z4fzQoibW7JvqiqzHCIW8iIqKMUR4xfDkS6sKbbjgtVbA4kmkrxdSFPj4HLDYBDiFywY3m0JJ5AFxyUpgJsY+ZGPNIgeQSQZMIj0eUh/gtQtT5m6nGHkoiIqJMpy7O2RtRR/LwPkgoR2nYfMMy1Ho65N5KR7J1LOVyQ1JnV3g7Sg9hcckI5+iZRHhccm+lY7heVJMZVgDuthixj+h6JE/uUZyHEmNqrsfs0nKkfnrCUEZzCzxKb2XPGJ+LCSURZbVrrrkG27Ztw4cffqh3KKPmc6aygDWlgyAIuPbaa9N475VhiVgOuLdrhozlxRewrhxVL6TaE7g3ZleYMsdQasSe4HHK3E6hAUuG615LijoXshG2sJ8LuTalXHA99ddDK2zo2ueA3Q0I4jKYUnQ9QtMTtEPS/fDWj3CIWhni75RSNcVh9DjkTURZ7cSJE3jyySexe/du3HLLLbDZbJg2bdqo2wuVU9GKPTSVMZTVp2HlXmjMfPzxx9i5cyfa2tpw8803J33vxRNcma2UiAEQNpQ59N61odkTo/SOSUSz1QW7XZBXfw83DB1cTSwEV4kPe2xUQ8sZwdqqrJAePjaPxwynpQY2S2PocaEBIroBlMW9HknpbIRFcy3DVkwnfT0AeXpCB1BfFSzbJMffAJcfiQ/1G6shil7YHFWwOAD5PTdjr2ZFvxp/6RhPHzAEAoHA2J6CiGjsXHnllTAYDAgEAigoKMCECROGTSz3/vh9TJ45MeZe3vKHMjRzzzTlPUb0gZE4n1OAvS8F7WdJQilf48hyNdGpe3nX3DcvLbElShBCe8kEAgFMmDABhYWFwyaW7Y8fxCfKZuDCS85Jd6g0Emodygz/GUq1/a9+gJMfnkbFf5w36jY45E1EOcFgMGBwcBAnTpzAE088gaqqqhQNR46sVAflH4PBgDNnzuDjjz9Ga2srrrvuuqyfhkE0UkwoiSinqInlyZMn8eSTT6YgsVTr3ZnDe9N8jrByHxZnd9hznBYB9d52OIPHaOZGhT23Dm19Q8/qc4aXE9GWgVH3YPZ666J+P5bh21X2TnZGLHIIvhblOH876rWvO2yOW8Sx2nMqx4WGZUMlU5zpqmsyxrSJ5c6dO3Hddddh+/btTCwpL3AOJRFlrd7e3mG/F5lY7t69G+vveDrBlruCW5nJZVyU3S4Uie3QAUgOeejMY4r1XHlIPTS9LMEdNOCCo7MBLk9LaJg8XmLmc8COVng8ZcGvLfYqOEsk1JqUnliHF77aslDy7PPCDRuaNdu5xdshJJbhd2gZ3qlTp3H77bcncGRmUBPL06dPo7W1Fbt378a3bvlvvcOiRGTAPubZigklEWWVV199Fc899xxefPFFHD6c2CC0mlgmrjxiDqUAixTaA3i4HTrcdi8kf3VohWnYMYDa2ymIHZrHi1BSDEDtpVR30PBE7qDhhU1J9marMYojnHNpEsOSW5iWQRRccOztRq2pDEbzSlgdNdjrE2FSjvPtdQHWVphi7BDSaWsMe06qDQ4O4tVXXx2bxseYOg2DKNcxoSSijHfs2DG4XC48/fTT6O+Xh1MFQYDFYsGuXbuiPkddb2gwGLBo0SKsWbMGx98ezdmLYG5qRY+lBnanGZ4lsXboCC/GLJTODT/G54Ub5RCF4Ve3yvXuEL7yM2he2P9LRrOCR+llDFOs/qcMlVbAriSYQDf2ugFrs/z/HgkQxBg7hIxRQjl58iRIkhT/wDTSLsqJFAgEUFhYiIGBASxatAi1tbU4+Mc0BkekAyaURJSxjh49ip07d+InP/kJTp48iQkTJuCGG27AzTffjIsuuggAhiSUgUAABoMhLJFUP/z3vv3+KCORixmndi/iWGKXKRptDMMNtzs0x5gqbYB9O7xLWmA+7IVbaIArj1a7JiMQCGD8+PE4e/ZsMJFU7732P6Z3X2WidGNCSUQZ6X/+53+wefNmHD16FJMmTcLSpUuxfPlyzJw5M+rx0XokY/UijYy8fy+s82A0IrhDh9yLp1B26KiItUNHlF7MIYdodtAwpbRGUT+kzoihen8XOiVoeiihDINXoVPqR0mPC0JFhxKqnFS7O7vgN2uG2sN2CMnPpEnbI3nZZZeFJZJE+YKrvIkooxw8eBBr1qxBQ0MDjh49iq985St45plnYLfbYyaTBoMBZWVl2Lp1K3bu3JnSD3Sfs0Yeql5ShqR26DCWo0IA3PY6zXP7cUCzyjtlO2gMoc7VVHtZ++F17EOxFRE9r/LiHKmzEW3uclQImvmScXcIibItnbLLSNhlSGiHlsyn1j5V/4jZunUrnnzyydxIJpVKBMmtwFfmH1si/sXcFapbUxkhepWDlEjJ6yMt9lASUcb4+c9/jk2bNuHEiROYP38+1q1bh4ULF8Z8ztj0SGpXeQORQ9Cj36GjCOYmCSVOAXbNKvLwsJPfQcOt3cFDIYgdaKpthTW484i88KgWC9Bna8QeX3Ww59IomCE4GiFZW9GkPV/cHUJC802Du5tYW+XdWPrC24ncoaW9qRoT4r+0jKLeeznZIzl7AVL2ikaze03Yc7rhtERWOUhSKl8fAeBOOUSUAY4fP477778fL7zwAgDgG9/4BlasWJHy8ySyUw4BahkkZMBuIZm6U85I5edOOcoc3eKRJILyveeOSEJ9TgF2d5ZsgZqFUrFTDnsoiUhX+/btw1133YVDhw5h3rx52LBhA+bPn693WHnN790u157kJ3d+0lQCUBdw+b11sHWa4Vq6D7ZglQBtea1YvHKSiIg9sUdKWIDQFOXuYJvRY4n8vuaYw0NfH4DgtovBegJhve/qH1kdKG3T7EuuTXwjnx9ncV2u4RxKItKN1+vFsmXLcOjQIXzta1+Dy+ViMqknZRccW6cZrjz6IKQIJhGeZtvQx6VG2Paa4fFI8HgkNFsj5/pGUw6x1IxKjwSPpxXFjqo4cyijUObhChXloUL/lhr0iR3BWFwi4LCpcyLl5C/0/Q6IAgBhHkqGe30+Byy2RkD7HDTCZgl/fW57IyDK5/S4GiC4a5T5ncp8YmtrMCZPnv0MsYeSiNLu7Nmz2Lx5M/bs2YMpU6bgoYceQnl5ud5hEXcJoZhsaNYMQ5sqbYA7VkWCIpibWjRfywva3I6IDQCicdfAEuxelHerUo/37VESN01Pp9HcALGzSi7Sj8h6r+ouUL04gGjlUhMv2i+IDaG4lUV2jp6DAJSas3298KNsZBsO5AgmlESUVseOHYPdbsef/vQnFBcXY8uWLSguLo7/RCLKQF0xy2BFUlf4x32OMpSs1k4NHS8X2we0CafGqH6VHEyuaL+SRKoJqM3iTXAqQG5hQklEadPb24u6ujocPHgQixcvxoYNGzB16lS9wyKiDBXsebQ7UKkdQo6zctyKGnRK/TAre85LnV2A0ABhLJM8tYff54DFJsARNgcz93EOJRGlxUsvvYSbb74ZBw8ehNVqRUtLC5NJojzjP9ALoBylsTYACCMPPQtwoc3bj8R2rSpDbbMNkqNKqWNZBQdiJXdR6qcCEUX7R8AkyvMrpUY4Ul0/M4MxoSSiMfejH/0IdrsdJ06cwIoVK3DvvffCYDDoHRYRjanIgvzqbk1xNgCIZKzGUisgORrh9SsJptQIm7M7dIy/HfXBr+U5kdZmKbRAJmZPYSJF+ykeDnkT0Zh69NFH0draCgCor6/HDTfcoHNERJQuJcW9sFs0JcRHU+QcgKm2FVZ3DRw2B0o8IppcQL0tfB6lVeyAtvb/kAL/sYag4xbtj0epuSlpHopYOJTrWNiciMZEIBBAU1MT3G43DAYD1q9fD4vFomtMLGyefVjYnFIjVEpo1HUwcxgLmxNRRhocHMS9994Lr9eLwsJCbNy4Eddee63eYQEA/u77EB8eOa13GJSgs2cG9Q6BspDP6QBqNYt4lPmQNHaYUBJRSp09exZ333039u7di4kTJ+Lhhx/OmH2OL/nMVJw7+5TeYdAIfWLBJL1DoGzib0eb2wXJ7Qp72JoBW4nmMiaURJQyZ8+exX/+53/ipZdewuTJk7FlyxZcccUVeocVdOH8ybhw/mS9wyCiscQC/bpgQklEKRGZTG7duhWXXXaZ3mEREVEasGwQESVtYGAA3/rWt/DSSy9hypQpTCaJiPIMeyiJKCmDg4O455578Jvf/AZTpkzB9u3b8alPfUrvsIiIKI3YQ0lEozY4OIh169bhhRdewOTJk7Ft2zYmk0REeYgJJRGNSiAQwLp169DR0YFJkybB6XTi0ksv1TssIiLSARNKIhqVpqYmdHR0YMKECdiyZQsWLVqkd0hERKQTzqEkohH7wQ9+ALfbjQkTJuDhhx/Gpz/9ab1DIsp4Jz48g2P9Z/QOg2iIkx8NJN0GE0oiGpHHH38c//3f/42CggJs3rwZV111ld4hEWW86cZC7H/1A+x/9QO9QyGK6lNXTkvq+dzLm4gStmfPHmzcuBEGgwEbN25EZWWl3iEREVEG4BxKIkrI008/jY0bNwIA7rvvPiaTREQUxISSiOJ64YUX0NTUBACor6/Hv//7v+scERERZRImlEQU08svv4x77rkHAHDHHXfghhtu0DkiIiLKNEwoiWhYr7/+Ou666y4MDAxg2bJluPnmm/UOiYiIMhATSiKKat++fairq8Pp06fxpS99CXV1dXqHREREGYqrvIloiL/97W9YsWIFPvjgA3z+85/Hhg0bMG4c//4kIqLomFASUZj3338fN998M/r7+7F48WI0NzejsJAla4mIaHhMKIko6MMPP8SyZcvw97//HZdffjmcTicmTpyod1hERJThmFASEQDg1KlTuO222/Dmm2/ik5/8JFpbWzFlyhS9wyIioizASVFEhLNnz0IURbz55puYPXs2tm7dymSSiIgSxoSSKM8FAgHcc889ePnllzFjxgxs27YNRqNR77CIiCiLMKEkynM/+MEP8Ktf/QqTJk2C0+lEcXGx3iEREVGWYUJJlMd2796NH//4xygoKEBzczMWLFigd0hERJSFmFAS5annn38eDz/8MADg+9//PgRB0DkiIiLKVkwoifLQK6+8gvr6egDAt771Lfzrv/6rzhEREVE2Y0JJlGfeeust3HnnnRgYGMAtt9yCr3zlK3qHREREWY4JJVEe6evrw+rVq3Hy5En827/9G9auXat3SERElANY2JwoTxw5cgTLli3DoUOHIAgCtmzZwi0ViYgoJZhQEuWBkydPYvny5di/fz8+9alP4YknnsDkyZP1DouIiHIEh7yJctzg4CC+/e1vY//+/ZgzZw4effRRJpNERJRSTCiJctzmzZvx29/+FtOmTYPT6cTMmTP1DomIiHIME0qiHPazn/0MLpcLhYWFeOSRR1BSUqJ3SERElIOYUBLlqN/97nd44IEHAAAPPPAAysrKdI6IiIhyFRNKohzU29sLURQRCARQV1eHz33uc3qHREREOYwJJVGOOXLkCFatWoWTJ0/ihhtuwLJly/QOiYiIchzLBhHlkBMnTmD58uXo6enB1VdfjZaWFhQUFOgdFhER5Tj2UBLliIGBAdx5553o6enB//t//w8Oh4PJJBERpQW3ySDKEffddx8kScJll12GBx98EOPHj9c7JCIiyhPsoSTKAVu3bsUvf/lLFBcXY8uWLUwmiYgorZhQEmW5Z599Fk888QRmzJiBrVu3Ytq0aXqHREREeYaLcoiy2CuvvILVq1ejsLAQO3bswKWXXqp3SERElIfYQ0mUpfbv348777wTALBp0yYmk0REpBsuyiHKQocOHcI3vvENnDx5Et/73vfwz//8z3qHREREeYw9lERZ5sMPP8SqVavg9/tRU1OD6667Tu+QiIgozzGhJMoip06dwpo1a9DX14fPf/7zWL16td4hERERcVEOUbYYHBzEHXfcga6uLphMJjz55JOYMGGC3mERERGxh5IoWzQ1NaGrqwvnn38+WlpamEwSEVHGYEJJlAV27dqFn//855g0aRIeffRRzJw5U++QiIiIgphQEmW4559/Hi0tLRg3bhw2bdqEiy++WO+QiIiIwjChJMpgr732Gurr6wEA9957LxYvXqxzREREREMxoSTKUPv378fatWsxMDCAr371q7j++uv1DomIiCgqrvImykDvv/8+brrpJvj9fvzTP/1TcMibiIgoEzGhJMowJ06cwPLly9HT04P58+djx44dOOecc/QOi4iIaFjs8iDKMN/85jfR09ODmTNnorm5mckkERFlPCaURBmksbERL7/8MiZOnIgtW7Zgzpw5eodEREQUFxNKogzxwx/+EO3t7TAYDHjwwQdx6aWX6h0SERFRQphQEmWAF198EY888ggA4Dvf+Q6uueYanSMiIiJKXKHeARDluzfffBN33303AOCmm27CjTfeqHNERJRqb/zvB/hr90d6h0E0rMvKZ6D08imjfj4TSiIdHT58GGvXrsWpU6dQWVkJu92ud0hENAb8h05j4pTxuHDB6D+wicbKX18/hg/6TwNgQkmUdY4fP47Vq1fj6NGjWLRoER544AEYDAa9wyKiMTLjvAmYW8qqDZR53vvbiaTb4BxKIh0MDAzgrrvuQm9vL4qLi/HII49g/PjxeodFREQ0KkwoiXSwfv16/OEPf8DMmTPhdDoxffp0vUMiIiIaNSaURGm2c+dOtLe3B2tNzp07V++QiIiIksKEkiiNXnjhBWzZsoW1JomIKKcwoSRKkzfffBP33nsvANaaJCKi3MKEkigN3n33XaxduxZnzpyBzWZjrUkiIsopMcsG9b97GseOnElXLHlhzicm4ZzpBXqHMWonjg/g4Nsn9Q4j6zz11P9gesEl+JfKMtxgXpadBY4NwCcX5XYNvYGzAfzN97HeYeSd84onYtq5rGJHlM1i/gT/+X8/QF/PCUydyXImqXDknZOo/Mr5Wf2h3P/OKfxqz3s4r2SS3qFklUWf+Hd86gIzxo8fj+7/PaZ3OKNy4P8+wpqH5usdxpg6dWIQnh8ewgXzWSswXf5x+BSuNhuxcDErHRBls7h/Es7/zAzMv3JGOmLJeS/99KDeIaSEcc5EXPNlrkzON66m/XqHkBYTJo/j/Z1Grzz7nt4hEFEKcA4lERFRpvG3o97ZrXcUuvM5BVgsyr/6dvj1DoiGxYSSiIgow/j2NEJyb4c3XzMofzvqLQLaSjvg8Ujyv6X7YGNSGc7ngMVSlxH3CRNKIiKijNKNvW4brNYudEr9egejg244bY2A2IEmc1HoYZMIT1M1jPoFRjFwWR0REVEG8Xu3w21dCU8lYGnrgt+sTaK64bTUoE9sQLGjEW4AgA3NHjP2Rn1chMnfjnpbI6RgG8rjylc+pwA7WuEq3Q6boyvqMep53WGRlkN0tcBs1LSjOUDQJoRxYhjy+mFDszaZHEbkOa3NEmpNajt1sHWa0VzhhV19XdZWeGrL5J49u0sJtAEuNVFV4iy22uB2u6K/lmivR9uGcq3Q3IHStio41IPUcwdFXtMo1zPW+6J5DQ6bAIc2Tu3rU+L7aVM1psa9oqPHhJKIiChj9EPq7IJ1aQtgAqxSDfb4qoNJkkpyNKK4WYIn+Hg39kZ9vB9ehxcVLglNRuXr+irY6xdoEiAA7ho4xA54PEVRjlGT2A54zKHvOzAPJYDm6wa4PNrErAqWnlZ4aufC62iENCShGv71QzBjdpzjvPVVcEiRCZaAPm3yJzWirSL8ddV7G1DcY4bHIwYTQ5tzXlhsbijfH/JaQsmoEHE9bJZ9YUmy294I0SXBY1TbqEF9qRKbcl4E21ASYJuAHk1SHPN9MYnwNAMWe29YIgp0w6nE15RAUp4qHPImIiLKFL5dcEg2VJoAoAyVVsC9N8riHGvrkCQz+uNFMDdpk40imJfaAMkLSTvvTmiAGEw+iiBUlAPSPhwGAJ8XbpSjQoj8fi8OaGJu1iaoxmqIYjng9sKnPtbXm7r5j75dcEiAtVnTy2kS0WwFpM4uzXlsWBrxuiTHPlSqyaOxGkutQ2OzVmoS37DX0g9vm2vI9TKLDRDgwl5f6GmC2BC67sZyVAiA1CNXe/HtkRNsbcJnNDdAFCLe71jvSxzqudKFPZREREQZwrfXBVhbg0mSqdIG2LfDu0SbFAJCafTSVtEfV3vztI+VJxBNLw74EXVYekjMAOwWV5TvzoOacHXaGmGzeCN600bHf6AXgJp4h8wuLQfccsIVu4dzZIwl8yBfj4PokQBBLA+fy2mch2IAfQf6Y18wJXHd6waAGljcUY4pjheN8r4Mew3LUNtsg9teA4t7+KkFqcaEkoiIKBP429E2TKLRKfXDPKrhS2WenqAZjvY5YLH3Jt6EyQwrajQxqMPSDRCMUHrL4iQuxmo0earlc9sEOMLmHGoVoaQYwaQwpxfgJDQFYJRMIjweUR5Gtwhjey4Fh7yJiDJVBpUEobHn29MICTY0q2VylH9Dh3FH0qg8XC2KoeRN7VFMnNzjJTmqlJqQynxJJSGcXVoOtdcsLpMIj6sBgtQIhzf6CnZTpQ2AC23DfB9QewzDh5gB4HBPFyAsSGnvJKBes3koMc5FqRDl/fD3og9AcUkiSb/cRkqnAAzDaG6Bp9kGuGvwyqGxPVcKE8p+eOs1BUgzqiCrEhvrV0UlCAJqamogSVL8gxPSDWfG3QPJ6oe3PtoH+3CPU6YQBAEWiwXt7e0pb9vvrQv9zrMII0r+5OeO5N7h77FMIwgC6uvr8e6776agtV55GNRqHtLLZ6q0AVIj9viiPS+O2QsgoAs96qQ7nwNtsIU/Fpc8b9DarEl0Nb2L8ty/LjhsjtB8SfTDW6/9egTUuZCOKtRrk0p/O+otSpumZfJ8wzbNz4PPAbsbsC5NvrRQ3wHNeZV2BXEZTME5qNr3o19edCQ0YElCY8vKnEupETbt5+Roitkr728mlJdKzZC3suLJ2izB0yQ/5PfWweJcmdouVqWbfuTzL5Qu9L7UhZJLAoEA/vSnP2HNmjW49NJLsWbNGgiCoHdYY87vrYPNMS/B+SUH0SN1oS9y2MnfhU6pC8U5PzaTvQKBAPr7+7F+/Xq0tLSgrq4O1dXVSbaqlvuwodnTErx//N462PZ0w5zA7z11TlbuCa0ITucKUz0EAgE899xz8Hg8sFgsWL16NS644IJRtXX89b1wI2IxiMpkhhUuuPd2R1+IE4uxGqLohc0uyOVplKFPH1ywt7VjSVPiPwtutQ1VcNi6COamDqC+KnwepbUBLj8AY5Q5nNbW4OrmaEy1EjyVDljsVbA4NKcUGwAfAFPonDbrOxLCAAAgAElEQVRLY6hZ7QrpZHQ2whIs1RNRNii4ulpzPYYdwh+GsRpNLqDeFj69wSp2wI8RfJyo769DvU6hElLa90oQO3DVnEQbHR1DIBAIDPfNzp+8j0nTJ8Tey1ut2ZSqNzGWUSeUmeGlnx5E2T9PxycXTdE7lDBXXnklDAYD1Fth/PjxwyaWB/7vY7zy3FFU2GL90lQ+bNMwZyMZI0oo1ZpjEb805Da60l6eQQ+upv1Y89B8vcMYscj7u7CwEDNmzIiaWH784QBcG/8O6x0Xx2gxSrmSsRL2O09TmiWjizuPLKF85dn3cNElk7Bw8fQ0xJZa2nuroKAAg4ODwyaWv/nZ+5gwZQIuEWJ8nmaVHP3DIZ05TQZ5/VdHMHPWOHz28+eOuo2kh7x9exLt5o0YEo8Y6vE55SHS8CEkTXd5sEhnFxw2+fuhrvDItgU4fVHOGxwqkodknb74w/Rh+4iGnVMdsnLAq4l5b8+pEV/DTGEwGGAwGHDmzBl0d3djzZo1WL58eQqHwjV8jvChQs0wns8ZbVhPea+C71EC91NkG5r5aGoiCLhgH3LPRHF4n1zANqzUhjIxHRHlGZQtw6Lex1Dum/p2+MOuQcTQZ5w2gq/RMvz9GbsN9Xq2a65jHQ6djnENspx6f589exZHjhzB+vXrYTab8Ytf/GJkDfm70Cmpw19xqPecV/Neh/2eixzyVqaLqO9n2wh7MGO958PMx1R/j6nHRd5X2p+LyGO155SPCxVqDs63y4MheoPBgMHBwWCP5fXXX5/CofDM4HNGvu+9HPSjMEkOeatzPubF+Wt56Cqz1BXwBPzeRnRWdMDTpCkOaq9DqasFZmOoW9wREVXMoqNxC7WqPW8uODob4PK0ZHCPwcgYDAYACEss1R7L2dMWpuAM3XDagWaPpHwgy/eHWlhWLpPhheSvDr3P/i50SuUQxTIkfD/FYDS3wIXEeyj9B3rlemDFjZqVjgfRI5VDFOfB4fDCV1sGU6JFhKVG2Ipbg4VzfU4BdpsDJR4xoTZ8TgH2vojX7wCKS5T2NdNQmpQX53MKsFsifn7cjegUQz87+UC9v9XE8v777w8OhX++4otxn++XvJBQDlFI9Jp1weGYp7nfAUC9/7QNK73gmp59v7cOtoT/notz3wxZqSsfI3V2QRAb5PsukULRMZWh1tMK5GLPVQIiE0vtUDgwXu/wRs/fjja3C5I7fDFPyoaXKSekpWyQvI1S+Cozo7kBYmcVHHu7UWtSkrNoBTwd8UsHGM0taAr7eiWsjshfnENFKzrq6DkIoChUqNUTWajVC5uSPMiryMJfVyyDg4MQRREHjoxBj98YiJZY/lPZdai44utJtlyGWk9Z2NdLxHK41aTMtAyiUBX2/vklLyTBDNE4gvsphQ73dAHFK2GutMGhboXm88ItmOESAAFepS6YXEQ4RJ7A7YhMkGFDs2Y6gKnSBrh7E2yjG3vd4XXQjIIZAhrRdwCASZ5AL4gdYb/sTbWtsLrVnwvlwbCfufhyaW6tNrHs7+/H/fffj22P7YRV2Diq9rRbwEVOgQgrvjzc85XRHpfmvhjZPMt49438c2br1Gzlp/yhViHKW7VFLxTtgl15zlgIBAK4//778ZfDvx6T9vUQLbF86J5f6h3W6Kklf/JBPr3WFEtLQikv45frVYWoC2V64UesBCBeAU9ZaAgzZFQffUo8h+MWag39vyRXuiYTEGPK7QhF2xdWva7yHxOO4Aef0otS0SD3ziV1P40uVjmBmytPjpe2Q/JXo2SvC0JFB4zGgyhWV0xqeoZGXkQ4FW0gOCQrSeGT2VVhPxfF8UYX8kcgEEjq/jbVSvAsUbZTC1OO0rg1TIb+kTA6se8bo2CG4Aj9cRP2h5qU3kLRRJRbkkwoZ2lqKZXp9sEk9wyUQ3RJSg+QMlk46ZZjT7of6bygcePGweFwZOSinGiiLdKZPW0hXnnuaHInHG5oT5P8yB98jfIetrO70CnZsFSvYdmw+mJFqLR2oU1qR7G7HBUuOaZSAeg80A+YDiZfRDhuIWJ5Oza7pqcp2jBs7IVCoysxMSbzacdYvPu7oKAAM2fORF1dHf618jq4Nv49Zntq/buejFvZn0ABa2M5KoRGOPZ0w1w7N7hntBEj/32WKgaDAd/97nexcPHoeob1FOveUhfpfOELX8Dq1aux/+U0B0eUZkkuypmm7CsZuz7W7NLyofuGoh8H+pCCHhL1L3vN8LXPi2i7GY3EiAq15hi1p2b8+PEoKyvDli1bsHPnzpQNd8rJj3bIN7S4JUjZX9W9t1s+XlObbWzvpygO74Ok6WUyVdogORrhFsxKL6ncOyp1dsGfiiLCCbRhqm2FVWqETVk4YXMgNDdS2QIs3fu4Zgv1/i4oKMCsWbPw3e9+F16vN/FSQtHq3yVNKZaczHuW0L2n1NBze+Hzy3+oqT2S6S4UnYsCgQDGjRsHg8GAL3zhC3jmmWfQ1NQ06lJCRNkk6VXewc3M7RGrZH2O4Oo+o3klrOiCY09oFbXf2wiHVA5xyQiGJ6MW8Iz8RdwNZxtgTfKXc8oLtWaBsU4kVaE9UeWv/d5G9BTbEJnAy/MKt8PR2RVWmy2R+2lo0tkNpz38w3W4D9BI8p6xmqkNJjOsAISK0PCkfL59OJyKIsIJtOH3bpfLMgV309AuVJN3tYC7JnzVt88R/nWeUe/vwsLC0SWSQZqixJEr+CUvRteHq8wZj3jP5HsvQYnee0pNwzZH+B9qiRSKHvozoxR0DgtkmJ1EchgTyRzC3alGLQVzKItgbpIgeOtChVMVVrEVh/2A0Rha+Rcq4Fk+8nqSUQt4isqm82rbyjC1D3Dbt8O7ZLQ1K+MVah1Nm5lLTSRTWtjcHWXje6EBriYRzVYBdpsAB5Sh2VqgtK9KGYpTkkdlVaobDRDD5h3Ev5+M5hY094TOAdjQ3GyDWzv8py44UO/bYQrTyj00Zk0PTRkqreU4oBleDibJEJMvIpxoIeIh11dzDYJVEbTzKMthbY5/+lyk9kiqQ9tJFzY3VqPJUy6vorakZuWr0dwCT0l4IWdBiDJvVmoMK+Qsk3/vxbtv5HtbmTLhhlI1QZVAoWiTCJfYq/ldXw6xWU6uw9oRG9BpC8W54jEJS0pHfk2ywbhx48KGtplERtBUnEjFivCh6yUSzyXUqVXZWss60yVf2JwSlqmFzQVBwKJFixJKJBMrbJ4q8gKDzor8Kz8yGsFSQmNU9DpbC5sLggCj0ZhQIplYYfPs5/fWwdZpzogC6dlc2Fzd1jORRDL3CpsnKGWFwrW7U4nhu1P1JLgrXyKbo2T5BiqjlYrC5mlZ5U2ZLWMXWvh2ycPYIpPJIXwOOCFqfkErc0hpiIy9v3XTjT0OufZkHn1ejgneWwlISRmefnjrhyaTgNKzn2gzJhGehA+mkWJCSRko+j7JpJLrTLolV/jiswzf6pL0p9bK1Ba8JxozwR3uQlMngr3jS/fBFpzXHmfYeqS7U9l7lQ0nlPatrXCVbleGyiPPFV7CLuo0E0oIE0rKQGWo9Uio1TuMjCXPWzbHP5AojKlWgoc/WJQuwbncEdUGYu4UNlTm7k5FWkmv8iYiIiJKXJSdwkZRpk+773xkBYvkdqei0WBCSURERDobQWk1halWgsfVEGVXvBHsTlWR7O5UpGJCSURERBlL7jUcecJJ6cWEkoiIiDJXpu5ORWGYUBIREVEGy9DdqSgMV3kTERFRZtNzdypKCBNKIiIiGhsmMVgeCFCSuMiaZxHHDC+Bkmkxipcnd26KJ25Cuf+PH+DQ2x+nI5acd+SdkwCyb3uxSP5Dp/DSTzjvZCQCgQDOnDmD8ePHw2Aw6B0OxXD6xCDv7zT6x+FTuOiSSXqHQURJiplQLvqXGSi59Jx0xZIHpmPORdn9i7Powon4/FfP1zuMrPPUU0/h1VdfxcKFC3HrrbfqHc6oXP4v2f/HUDwTJ4+DZdkcvcPIO+ddOFHvEIgoSTETyllzJ2DW3AnpioWywOSpBfjkoil6h5F1brvjeuy9aQ88L0o4p+hD1NfX6x0SRVFQaOD9TUQ0ClzlTZQGs2fPxiOPPIKJEyfi6aefxn/913/pHRIREVHKMKEkSpOFCxdiw4YNAIDNmzfj17/+tc4RERERpQYTSqI0uvbaa7F27VoAwHe+8x289dZbOkdERESUPCaURGl2yy23oLq6GmfPnsWaNWtw8CBXFBMRUXZjQkmkg3vvvRef/exncfToUdTW1uLYsWN6h0RERDRqTCiJdFBQUICHHnoI8+bNQ19fH9auXYszZ87oHRYREdGoGAKBQEDvIIjy1eHDh3HTTTfh6NGjqKysxMaNG1n4nCgH/eZn7+PEx8CFC1iWijLPX18/huLSifjs588ddRtMKIl09uabb+K2227DqVOncNNNN+HOO+/UOyQiSrE/dx1DT/dxvcMgGtZli2eg9PLR/8HDhJIoA7z44ovBRPKee+7BjTfeqHNEREREieMcSqIMoC0n9MADD+Cll17SOSIiIqLEMaEkyhBqOaFAIIBvf/vbrFFJRERZg0PeRBlmzZo1ePnllzFz5kzs2rULF154od4hERERxcSEkijDHD9+HDU1NXj77bdRUlKCXbt2Yfr06XqHRURENCwOeRNlmKlTp2LLli2YNWsWDhw4gDvuuANnz57VOywiIqJhMaEkykCzZ8/Gli1bMGnSJHR3d+O+++7TOyQiIqJhMaEkylCXXHIJNm3ahHHjxqGjowOPPfaY3iERERFFxYSSKIMtXrwY9957LwBgx44deOaZZ3SOiIiIaCgmlEQZ7vrrr8ctt9wCAFi/fj1efvllnSMiIiIKx1XeRFlArU35q1/9CpMmTcLu3btx8cUX6x0WERERACaURFnj9OnTuP3229Hd3Y3zzz8fP/zhD1FUVKR3WEREREwoibLJsWPHsGzZMhw4cADz589Ha2srJk+erHdYRESU5ziHkiiLTJ8+HY8++iimTZuG/fv3QxRFDAwM6B0WERHlOSaURFnmggsuwMMPP4zx48fj97//Pe6//369QyIiojzHhJIoC11++eXYsGEDDAYDfvGLX+Dxxx/XOyQiIspjTCiJslRFRQXq6+sBANu2bcMvfvELnSMiIqJ8xYSSKItZrVbceuutAIDvfe97+N3vfqdzRERElI+YUBJludraWnzxi1/E4OAgRFHE/v379Q6JiIjyDMsGEeWAgYEB2O12dHV1wWg0oq2tDeeff77eYRERUZ5gQkmUI06dOoWVK1fiz3/+M+bNm4ddu3ZhypQpeodFRER5gEPeRDli4sSJeOSRR1BSUoLe3l7ccccdOHPmjN5hERFRHmBCSZRDZsyYAafTCaPRiNdeew333HOP3iEREVEeYEJJlGPmzJmDxx57DFOnTsWvf/1rPPjgg3qHREREOY4JJVEOmj9/PrZs2YLCwkL8+Mc/xq5du/QOiYiIchgTSqIctWjRIjz44IMwGAxoaWnB888/r3dIRESUo5hQEuUw7W469fX1eOWVV3SOiIiIchETSqIcp+6mMzAwgDvvvBNvvfWW3iEREVGOYUJJlAfU3XROnjyJ1atXo6+vT++QiIgoh7CwOVGe0O6mM2fOHOzatQuzZs3SOywiIsoBTCiJ8sipU6ewevVqvPbaaygtLcWOHTu4mw4RESWNCSVRnvnoo4+wYsUK9PT04NOf/jScTifGjx+vd1hERJTFOIeSKM9MmTIFjz32GObMmYPXXnsN3/72tzEwMKB3WERElMWYUBLloVmzZmHr1q2YMWMGfvOb32DdunV6h0RERFmMCSVRniouLsajjz6KSZMmwePxYNOmTXqHREREWYoJJVEeu/TSS9Hc3IzCwkL86Ec/wuOPP653SERElIWYUBLlOUEQsHHjRowbNw7btm3DT37yE71DIiKiLMOEkohw7bXX4nvf+x4AYMOGDejo6NA5IiIiyiZMKIkIAFBVVYW7774bALBu3Tq8+OKLOkdERETZggklEQV9+ctfxsqVKzE4OIhvfvObkCRJ75CIiCgLMKEkojArV67Ef/zHf+Ds2bOw2+14/fXX9Q6JiIgyHBNKIhri7rvvxnXXXYeTJ0+irq4O+/bt0zskIiLKYNx6kYiiGhwcRH19PZ577jnMmDED27dvR2lpqd5hERFRBmJCSUTDGhgYwF133YXf/va3OPfcc9Ha2ori4mK9wyIiogzDIW8iGlZBQQE2bdqEq6++Gv/4xz9w++2349ChQ3qHRUREGYYJJRHFNH78eGzevBmf+cxncPjwYaxcuZJJJRERheGQNxEl5OTJk1i1ahXeeOMNXHDBBdixYweKior0DouIiDIAeyiJKCGTJk3CY489hksvvRTvvvsubrvtNvT39+sdFhERZQD2UBLRiBw/fhyrVq3CW2+9hZKSEuzYsQPnnnuu3mER5YyXnz2C/a9/pHcYlAOuuHYGyq6ZkZZzMaEkohE7fvw4vv71r2P//v34xCc+ge3bt2PWrFl6h0WUE55/6j1MnDoexZ+aqncolMX+8upRzDQW4OoqY1rOV5iWsxBRTpk6dSq2bduGW2+9Fb29vVixYgV27NjBpJIoRSZPK8T0ovF6h0FZbOI5BWk9H+dQEtGozJgxA0888QQ++clP4p133sGKFSvw3nvv6R0WERHpgAklEY3azJkz8cQTT2DBggVMKomI8hgTSiJKyvTp07F9+3YsXLgQhw4dwooVK/DOO+/oHRYREaURE0oiStrUqVOxdetWXH755Th06BCWL1+Ov/zlL3qHRUREacKEkohS4pxzzsFjjz2Gq666Cv/4xz/w9a9/Hd3d3XqHRUREacCEkohSZtKkSWhpaUFFRQU++ugjrFq1Cr///e/1DouIiMYY61ASUcoNDg5i/fr1eOaZZ1BYWIiNGzfi2muv1TusmA7sOwH/oVN6h5G3CsePw2Xl0/UOIyM8/9R7mDl3Mi6+fJreoVAWe+NFPyZPAutQElH2GjduHNatWwej0YidO3firrvuQkNDA770pS/pHdqw/k/6EB8cOYsZ503QO5S8MzAQwAHfcSaURFmMCSURjZk1a9bgvPPOw8aNG3Hfffehv78fy5cv1zusYX1i0TT2Cung1IlBHPAd1zuM3OJzwGLvhehqgTk9HVSU55hQEtGYWrJkCWbOnIl169Zhy5Yt+Otf/4rvfve7GD+eu4AQjZbfWweboyv6N62t8FSmN54R8TlgsbuUL8qZ9OYIJpRENOYsFgumTJmCu+++G88++yx6e3vx0EMPoaioSO/QiLJYjGTM5017NPH1w1tfBQca4PJIkMPuhtNSBy+TypAs7V3mKm8iSotrrrkGbW1tKC4uxptvvomvfvWrLCtElEd8TiWZbKpGKE8qQ60nuxInio4JJRGlzbx589DW1obFixfj6NGjuO222/DTn/5U77CI8ofPAYtFCP1zqn/U9cNbr/1aOdxZB69f+0g3nBYB9d5+wN+Oem1bFgd8w53X3442N2Bdqk0mhwnRKYTF6NQ06vfWwVLfDp+3buhr0L62+nYEw1bidDrDX3u9t39IjGGvR9uG8rqdPuU6Dbl+w8evPY/PKT/Hr41fe92C0wG64LBFPD/yvatvRybNPOaQNxGl1dSpU9HS0gKn04kdO3bggQcewMsvv4x169Zh2jQuiCEaK+q8S2uzhFoTICdJNbD0yb2GQkU54PDCV1sGE+Tv73V3wY1umGvL5EZ8XrhRDlEAvI5GSNZWeNTvxTq35IWEclTMjnWUMiQu2dDsEeUYfA5Y7AL6xA40mZUpMlIj2io64PEUBZ9T721AcY8ZHo8oJ4a2Rtic88Jic0P5PqAcUwVLjxK/ksgJYgc85lC7Nsu+UCwA3PZGiC4JHqPaRg3qS9XYtEP6SuIceR4AcNfAIYbHb69fIPfcmkR4mhFlyLsbTiW+4HXIMOyhJKK0MxgM+MY3voHNmzdj4sSJ+PWvf40vf/nL+MMf/qB3aERZJNSLJf+L7E3U6sYeRxdgbVWSSQAoQ22zDZC8kPyAUTBDgAt7le4yv3c73EI5BLc32IPm2+sCBDMENdHp68Wwpxwp3y44JMDaHErgYBLRbAWkzi7NeWxYGkyqiiBUlENy7EOlmrAZq7HUOjQ2a6Um8TVWQxTLAbcXPvTD2+YChAaImnbNYkPY9QAAQWwIJXnGclQIgNRzUBO/Dc3aIf2w86iNhJ9HqCgHpH04nMAlCp4rAzGhJCLdXHvttXC5XFi4cCGOHDmClStXwuFw4MyZM3qHRpQFyuXeMo/6L8ZcRH8v+hCRVAHA7AUQ0IWewwgmYu693QD6IXV2wbq0BUutLrR5+yH3WKrD1krCJTXCFjORTZz/QC8AGypN4Y/PLk084RoJY8k8AL044D+IHgkQKsrDh+ON81AMoO9Af/QGVEri6tvrAuCC3RI+5D3savwwvTgQ8xoqyb+7JvbUAh1xyJuIdHXRRRehtbUVP/zhD7Ft2za4XC50dXVhw4YNmD9/vt7hEeUVU6UNsHvhq4Q8dGsCjLBBauuCv2Qf3LChWU34jNVo8lTLw8U2AQ4hcsFNiJy8uZTENX2vJ/1sYUPkkZJKBE0iPB5RnrpgEeTyUAlMN0gX9lASke4KCgpQU1ODtrY2zJ8/H729vVi6dCk2bdqEY8eO6R1e4nyOOMOORDpRetvk3keNw/sgoRyl6txGkxlWuGC3u0ILaEzLIKIRNrsLsJqHJksmER6X3FvpiFzoEjzGDCsAd1v7sEPkatK5NyLrOtzTBQgLEHP65SjIPYrzUGKci1IhclgdwV7d4pLE5izOLi1H/J7G5BnNLfAovZXeA2N7rpFgQklEGWP+/Ploa2uD3W7HxIkT8aMf/QjXX389du/ePaphcEEQsHz5ckiSlJL4wldmRvyLstpzTCgrPZ2ZOOZFw0r1vRiXMpTdKakJXhmWiOWAe7vmDx55oQesKzVD5WWotALhQ89FMC+1ASiHuGS0PWLqfM1G2MJWT8urpp0+yImrEJF0+hywJ7g6PJ6woWulXUFcBpP6+qRG7An+XPXLi46EBiwZrrsxgtHcAFHogsOmHZLuh7d+hEPUQ9677MAhbyLKKIWFhVi6dCm+9KUv4ZFHHsEzzzyDhx9+GE899RRsNhtuvPFGTJ06NaG2AoEA3njjDaxatQqLFi3CmjVrIAhCkhFmWzFpfcgriufFHP7LJ2NzL8ZgrEZT8z5Y7KEVxkZzC1yog80mwKEeF2XY1LSkAdbS8vD3zWSGVegNLcYJrsjWHGNtVVZID8MkwuMxw2mpgc3SGHpcaICIbgBlMDd1APVVYd8PrUpPUmcjLJr5jGErpoOrqwW4NXENN4QfXVEwfrvFFXrY2gCXH4kP9RurIYpe2BxVsDgAeRjdjL2WmlBsSvzmkoSDG3OGQCAQ0DsIIqLh7Nu3D9///vfxxhtvAACmTJmCG2+8ETfddFPcnXbUD+xAIACDwQAAKCsrw+rVq4d8mD//1HuYOXdyzL285SQJMRLKNOxwoZQ3SdmH7BgZSUJ56sQgnt36N3x9/cVpiU0Pqb4XaQSUMkLFGf4zk2pvvOjH5EnA1VXpmbTKIW8iymgLFizAzp07sWXLFnzuc5/DRx99hN27d6OqqgqiKGLPnj3461//GrMN9QM8EAigu7sbq1atQk1NTfqGH1NZTDqR0w1bWDn6+Ya0n0CB58hYfM7QcaF9pkMrXjlEL9P9XiQaIxzyJqKssHjxYixevBgHDx6Ey+WC2+1GZ2cnOjs7AQCzZs3CVVddhUsuuQRFRUVRey+jfZirw4/ARWMSd2qLSRchbu0UnwN2tMLjKQt+bbFXwVkiodZUFOV8avs2NJuLEi7wHEtwaJVD3sPS414kGktMKIkoq8ydOxd33XUX1q5diz//+c/44x//iD/84Q94/fXX0dHRgY6OjrhtaD/M1XltG+56NsEI5GLSwTloseZUxigm7bZ7IfmrYRbMENCIvT4RJlNEMWkl6ZOLSTfI89fiJZQmER5tBmdaBlFwwbG3G7WmMhjNK2F11ATPB7V9aytMMQo8d9oaw56TaqdPnxnbOYUZKrl7kRKiljeiMcWEkoiyUmFhIa644gpcccUVWL58OQDA5/Ph3Xffhd/vh9/vx+OPPx63nXHjxmHChAkjOHOsBDJCzGLSSk0+UzWWWhth39uNWtNcpZi0hMpiAW3eZWgyH5SLSTePYHFAcD9gjWL1P/IqXruSYAaLVTfL/++RAEGMUeB5jBJKg8GAK6+8cmwazwCvvvpq3GNGfi8SZQ4mlESUM0wmE0yaLrThEspAIICCggJMmDABN998M772ta/hd+0n0hXmECMqJh3H0CF2dX/hyPNth3dJC8yHvXAL8jn1NH58IbZt26ZvEGNouN7XTLsXiUaLCSUR5Y1oH97TpqkracfgQ1xTTFruDVQoxaQrwopJ18Bul0ukhIpJV8FmhzIcnQh5u7ywIXZ/FzolaHoolbaFKnRK/SjpcUGo6FB6JOUCz+7OLvjNmh7RsALPmbuXcDZJ+71INMa4ypuIcl4gEMC4ceMwefJk3HrrrfjlL3+J22+/XfMBniK6F5MuQkkxgnsLy8WZ96HYqn1MPk6oKIfU2Yg2dzkqBM18ybgFnqPsKqIUidYabteTfJe2e1FXciWAoRUCcoRSBYGVC8Kxh5KIclbsXqAxMObFpEPc2gLMCkHsQFNtK6zBwtHyfM9aLECfrRF7fNXBnkujYIbgaIRkbUWTtv24BZ6LYG5qRY+2OLW1Fc1WF+x94e00W12wq+0IDWhvqka+zhBM+704CnHrrCakH976GrgzZJ/pUAkrrcj9ttVpISMtZE5aTCiJKGdNnjw5pR/eRnMLPOY4B5lEeDziyJ9nrEbtkGPKUNsU8aEcpf1wRaj1SKgNeyzKKldlOL44csFQQucoi3IOCZ7IZmoleGpBSP29mLF8u+CQyiGK4QusxmIAAAQESURBVPfVSArdp36XpfCFdH5vHWyWOs1jas9+Sk6mUJLU4sxIrNOBCSUR5ayXXnpJ7xAylt+7fUSLfSg5+XIv+g/0ApiHkgzu5jMqpbo6pX6YlfJYptqhfxDRyDChJCLKJ8o2dJLQAJeHw3s0Qur9E3wgNHzscwrKXNoueS9rZaoEgsPOXcE9rofbOtQf59jQORCznUTIi8w0e5KHTe2QNyAIn1ai9HQGvw4/JrQ3uKZNqQYWd/h1ylVMKImI8gmLPNNoafaRb9ImeBZl//paCa7SKPMwR7Bz0vC7LKlJmiYx8zlgsQvoCyZyiVAWmcGGpSZAnhPcAYSV1pITxb6I3aIcmIcSTUtuuxfN6tQPfzvqbaEdqYJt5tGQN1d5ExERURzyLkqC2BHWI2iqbYU1rLLBGPHtgkMCrM2aJNMkotkaUXEgKnl3K3lveiXJi5XYKludaqsfCBXlgNSLA5rDwmLRFv/PU+yhJCIiotiUeqaSVAWLY+i3x3rTTHlupraslmx2aTng3ofDQIzpG+qiHGWIuq8XfpSNyXQPqecggER7S3MLE0oiIiJKiDCi4eVMU4baZhvc9kY4vOXDvw5lo4HQoh1lwwChQS7hlXOFNVODQ95EREQUmzKkK/fA6XD6YQrlH+7pAoQFmB31WVGow+SOXRi+LrmceEqOqtAwOWtUxsWEkoiIiOKQkyy4a1Dv1cwT9DnCvx7GSHZOinqsaRlEAXC3tQ/Zocm6dGSJnmlJAwS4YHd2D3OEPF/U2izB41H+jTiZVGpbur0xEtfcwiFvIiIiUsgLWCKnScrledRdlLTzKMthbU6g2Sg7Jw3b4zfMserK6eAOTRhl2SBjNUTRC5ujBvWlHWgaZtOBIbtRxYo52suobYXVXRMsf5Td0wXiMwQCgYDeQRAR6e35p97DzLmTcfHlObyLSYY6dWIQz279G76+/mK9Q8kIvBczUaiUULYkhW+86MfkScDVVekZqGcPJRERAIMBeOPFI9j3ylG9Q8k7gUH2a1Bm8TkdQK2mLJC/N7U7M+YgJpRERAD+6YtGXFExU+8w8tY4zuinTOFvR5vbBcntCns4mV158gETSiIiAFNnFmIq80ki4m5So8K/CYmIiIgoKUwoiYiIiCgpTCiJiIiIKClMKImIiIgoKUwoiYiIiCgpTCiJiIiIKCksG0RERJRhDvd+jIEzg3qHQVnM/+4pXPjJiWk7HxNKIiKiDFLyqck4+PZJnDh2Wu9QKIude34hZl80KW3n417eRERERJQUzqEkIiIioqQwoSQiIiKipDChJCIiIqKkMKEkIiIioqQwoSQiIiKipDChJCIiIqKkMKEkIiIioqQwoSQiIiKipDChJCIiIqKk/H9Cn3hAnGA5DwAAAABJRU5ErkJggg==">
            <a:extLst>
              <a:ext uri="{FF2B5EF4-FFF2-40B4-BE49-F238E27FC236}">
                <a16:creationId xmlns:a16="http://schemas.microsoft.com/office/drawing/2014/main" id="{611458DD-B773-EDEE-1275-8AC0C9C7082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63041" y="1752982"/>
            <a:ext cx="7804036" cy="326138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C28BA1-70C8-E83C-5C21-34527AD55CB6}"/>
              </a:ext>
            </a:extLst>
          </p:cNvPr>
          <p:cNvSpPr txBox="1"/>
          <p:nvPr/>
        </p:nvSpPr>
        <p:spPr>
          <a:xfrm>
            <a:off x="1225297" y="5323108"/>
            <a:ext cx="10789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Technical clarification: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Layout Manager is a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java.awt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BorderLayout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GridLayout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and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FlowLayout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are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java.awt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classes implementing Layout Manager</a:t>
            </a:r>
          </a:p>
        </p:txBody>
      </p:sp>
    </p:spTree>
    <p:extLst>
      <p:ext uri="{BB962C8B-B14F-4D97-AF65-F5344CB8AC3E}">
        <p14:creationId xmlns:p14="http://schemas.microsoft.com/office/powerpoint/2010/main" val="2271374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DCB46-4082-FAFE-C55A-CDF5AE970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39ED6-CB9C-4D73-79A3-D50E92601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08" y="243078"/>
            <a:ext cx="11222734" cy="1162051"/>
          </a:xfrm>
        </p:spPr>
        <p:txBody>
          <a:bodyPr>
            <a:noAutofit/>
          </a:bodyPr>
          <a:lstStyle/>
          <a:p>
            <a:br>
              <a:rPr lang="en-GB" sz="4400" noProof="0" dirty="0"/>
            </a:br>
            <a:r>
              <a:rPr lang="en-GB" sz="4400" noProof="0" dirty="0"/>
              <a:t>Common Layout Managers </a:t>
            </a:r>
            <a:r>
              <a:rPr lang="en-GB" sz="4400" noProof="0" dirty="0">
                <a:latin typeface="Courier"/>
              </a:rPr>
              <a:t>(</a:t>
            </a:r>
            <a:r>
              <a:rPr kumimoji="0" lang="en-GB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java.awt</a:t>
            </a: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</a:t>
            </a:r>
            <a:endParaRPr lang="en-GB" sz="4400" noProof="0" dirty="0">
              <a:latin typeface="Courier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085D2-7636-6D22-4066-A275FAA98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8" y="1996950"/>
            <a:ext cx="10927080" cy="4696457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buAutoNum type="arabicPeriod"/>
            </a:pPr>
            <a:r>
              <a:rPr b="1" dirty="0" err="1"/>
              <a:t>BorderLayout</a:t>
            </a:r>
            <a:r>
              <a:rPr dirty="0"/>
              <a:t>: Divides the container into five regions (North, South, East, West, Center).</a:t>
            </a:r>
            <a:endParaRPr lang="en-GB" dirty="0"/>
          </a:p>
          <a:p>
            <a:pPr marL="342900" lvl="0" indent="-342900">
              <a:buAutoNum type="arabicPeriod"/>
            </a:pPr>
            <a:endParaRPr lang="en-GB" dirty="0"/>
          </a:p>
          <a:p>
            <a:pPr marL="342900" lvl="0" indent="-342900">
              <a:buAutoNum type="arabicPeriod"/>
            </a:pPr>
            <a:endParaRPr lang="en-GB" dirty="0"/>
          </a:p>
          <a:p>
            <a:pPr marL="342900" lvl="0" indent="-342900">
              <a:buAutoNum type="arabicPeriod"/>
            </a:pPr>
            <a:endParaRPr lang="en-GB" dirty="0"/>
          </a:p>
          <a:p>
            <a:pPr marL="342900" lvl="0" indent="-342900">
              <a:buAutoNum type="arabicPeriod"/>
            </a:pPr>
            <a:endParaRPr lang="en-GB" dirty="0"/>
          </a:p>
          <a:p>
            <a:pPr marL="342900" lvl="0" indent="-342900">
              <a:buAutoNum type="arabicPeriod"/>
            </a:pPr>
            <a:endParaRPr lang="en-GB" dirty="0"/>
          </a:p>
          <a:p>
            <a:pPr marL="342900" lvl="0" indent="-342900">
              <a:buAutoNum type="arabicPeriod"/>
            </a:pPr>
            <a:endParaRPr lang="en-GB" dirty="0"/>
          </a:p>
          <a:p>
            <a:pPr marL="342900" lvl="0" indent="-342900">
              <a:buAutoNum type="arabicPeriod"/>
            </a:pPr>
            <a:endParaRPr dirty="0"/>
          </a:p>
          <a:p>
            <a:pPr lvl="1"/>
            <a:r>
              <a:rPr dirty="0"/>
              <a:t>Example</a:t>
            </a:r>
            <a:r>
              <a:rPr lang="en-GB" dirty="0"/>
              <a:t> (</a:t>
            </a:r>
            <a:r>
              <a:rPr lang="en-GB" dirty="0" err="1"/>
              <a:t>javax.swing</a:t>
            </a:r>
            <a:r>
              <a:rPr lang="en-GB" dirty="0"/>
              <a:t> &amp; </a:t>
            </a:r>
            <a:r>
              <a:rPr lang="en-GB" dirty="0" err="1"/>
              <a:t>java.awt</a:t>
            </a:r>
            <a:r>
              <a:rPr lang="en-GB" dirty="0"/>
              <a:t>)</a:t>
            </a:r>
            <a:r>
              <a:rPr dirty="0"/>
              <a:t>:</a:t>
            </a:r>
          </a:p>
          <a:p>
            <a:pPr lvl="2" indent="0">
              <a:buNone/>
            </a:pPr>
            <a:r>
              <a:rPr lang="en-GB" dirty="0" err="1">
                <a:latin typeface="Courier"/>
              </a:rPr>
              <a:t>JFrame</a:t>
            </a:r>
            <a:r>
              <a:rPr lang="en-GB" dirty="0">
                <a:latin typeface="Courier"/>
              </a:rPr>
              <a:t> frame = new </a:t>
            </a:r>
            <a:r>
              <a:rPr lang="en-GB" dirty="0" err="1">
                <a:latin typeface="Courier"/>
              </a:rPr>
              <a:t>JFrame</a:t>
            </a:r>
            <a:r>
              <a:rPr lang="en-GB" dirty="0">
                <a:latin typeface="Courier"/>
              </a:rPr>
              <a:t>();</a:t>
            </a:r>
          </a:p>
          <a:p>
            <a:pPr lvl="2" indent="0">
              <a:buNone/>
            </a:pP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BorderLayout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solidFill>
                  <a:srgbClr val="06287E"/>
                </a:solidFill>
                <a:latin typeface="Courier"/>
              </a:rPr>
              <a:t>add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Button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"North"</a:t>
            </a:r>
            <a:r>
              <a:rPr dirty="0">
                <a:solidFill>
                  <a:srgbClr val="666666"/>
                </a:solidFill>
                <a:latin typeface="Courier"/>
              </a:rPr>
              <a:t>),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BorderLayout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NORTH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8B3E0B-B8BE-E07A-DE90-4BDF0B5F3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00"/>
          <a:stretch/>
        </p:blipFill>
        <p:spPr>
          <a:xfrm>
            <a:off x="2392680" y="2843784"/>
            <a:ext cx="4572000" cy="2410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933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E6BA-A83D-10C6-4C89-7C8921588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AA445-FAF3-4203-ADE3-AD626C457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808" y="254761"/>
            <a:ext cx="11222734" cy="1162051"/>
          </a:xfrm>
        </p:spPr>
        <p:txBody>
          <a:bodyPr>
            <a:noAutofit/>
          </a:bodyPr>
          <a:lstStyle/>
          <a:p>
            <a:br>
              <a:rPr lang="en-GB" sz="4400" noProof="0" dirty="0"/>
            </a:br>
            <a:r>
              <a:rPr lang="en-GB" sz="4400" noProof="0" dirty="0"/>
              <a:t>Common Layout Managers </a:t>
            </a:r>
            <a:r>
              <a:rPr lang="en-GB" sz="4000" noProof="0" dirty="0">
                <a:latin typeface="Courier"/>
              </a:rPr>
              <a:t>(</a:t>
            </a:r>
            <a:r>
              <a:rPr kumimoji="0" lang="en-GB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java.awt</a:t>
            </a:r>
            <a:r>
              <a:rPr kumimoji="0" lang="en-GB" sz="40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</a:t>
            </a:r>
            <a:endParaRPr lang="en-GB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3F2FBA-5A54-6896-447F-3CF1C9796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8" y="1996950"/>
            <a:ext cx="10927080" cy="4606289"/>
          </a:xfrm>
        </p:spPr>
        <p:txBody>
          <a:bodyPr>
            <a:normAutofit fontScale="85000" lnSpcReduction="20000"/>
          </a:bodyPr>
          <a:lstStyle/>
          <a:p>
            <a:pPr marL="342900" lvl="0" indent="-342900">
              <a:buAutoNum type="arabicPeriod"/>
            </a:pPr>
            <a:r>
              <a:rPr b="1" dirty="0" err="1"/>
              <a:t>BorderLayout</a:t>
            </a:r>
            <a:r>
              <a:rPr dirty="0"/>
              <a:t>: Divides the container into five regions (North, South, East, West, Center).</a:t>
            </a:r>
          </a:p>
          <a:p>
            <a:pPr lvl="1"/>
            <a:r>
              <a:rPr dirty="0"/>
              <a:t>Example:</a:t>
            </a:r>
          </a:p>
          <a:p>
            <a:pPr lvl="2" indent="0">
              <a:buNone/>
            </a:pP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BorderLayout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solidFill>
                  <a:srgbClr val="06287E"/>
                </a:solidFill>
                <a:latin typeface="Courier"/>
              </a:rPr>
              <a:t>add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"North"</a:t>
            </a:r>
            <a:r>
              <a:rPr dirty="0">
                <a:solidFill>
                  <a:srgbClr val="666666"/>
                </a:solidFill>
                <a:latin typeface="Courier"/>
              </a:rPr>
              <a:t>),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BorderLayout</a:t>
            </a:r>
            <a:r>
              <a:rPr dirty="0" err="1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NORTH</a:t>
            </a:r>
            <a:r>
              <a:rPr dirty="0">
                <a:solidFill>
                  <a:srgbClr val="666666"/>
                </a:solidFill>
                <a:latin typeface="Courier"/>
              </a:rPr>
              <a:t>);</a:t>
            </a:r>
          </a:p>
          <a:p>
            <a:pPr marL="342900" lvl="0" indent="-342900">
              <a:buAutoNum type="arabicPeriod"/>
            </a:pPr>
            <a:r>
              <a:rPr b="1" dirty="0" err="1"/>
              <a:t>GridLayout</a:t>
            </a:r>
            <a:r>
              <a:rPr dirty="0"/>
              <a:t>: Arranges components in a grid of rows and columns.</a:t>
            </a:r>
          </a:p>
          <a:p>
            <a:pPr lvl="1"/>
            <a:r>
              <a:rPr dirty="0"/>
              <a:t>Example:</a:t>
            </a:r>
          </a:p>
          <a:p>
            <a:pPr lvl="2" indent="0">
              <a:buNone/>
            </a:pP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GridLayout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solidFill>
                  <a:srgbClr val="666666"/>
                </a:solidFill>
                <a:latin typeface="Courier"/>
              </a:rPr>
              <a:t>,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A070"/>
                </a:solidFill>
                <a:latin typeface="Courier"/>
              </a:rPr>
              <a:t>2</a:t>
            </a:r>
            <a:r>
              <a:rPr dirty="0">
                <a:solidFill>
                  <a:srgbClr val="666666"/>
                </a:solidFill>
                <a:latin typeface="Courier"/>
              </a:rPr>
              <a:t>));</a:t>
            </a:r>
            <a:br>
              <a:rPr dirty="0"/>
            </a:b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solidFill>
                  <a:srgbClr val="06287E"/>
                </a:solidFill>
                <a:latin typeface="Courier"/>
              </a:rPr>
              <a:t>add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Button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"1"</a:t>
            </a:r>
            <a:r>
              <a:rPr dirty="0">
                <a:solidFill>
                  <a:srgbClr val="666666"/>
                </a:solidFill>
                <a:latin typeface="Courier"/>
              </a:rPr>
              <a:t>));</a:t>
            </a:r>
            <a:br>
              <a:rPr dirty="0"/>
            </a:b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solidFill>
                  <a:srgbClr val="06287E"/>
                </a:solidFill>
                <a:latin typeface="Courier"/>
              </a:rPr>
              <a:t>add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Button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"2"</a:t>
            </a:r>
            <a:r>
              <a:rPr dirty="0">
                <a:solidFill>
                  <a:srgbClr val="666666"/>
                </a:solidFill>
                <a:latin typeface="Courier"/>
              </a:rPr>
              <a:t>));</a:t>
            </a:r>
          </a:p>
          <a:p>
            <a:pPr marL="342900" lvl="0" indent="-342900">
              <a:buAutoNum type="arabicPeriod"/>
            </a:pPr>
            <a:r>
              <a:rPr b="1" dirty="0" err="1"/>
              <a:t>FlowLayout</a:t>
            </a:r>
            <a:r>
              <a:rPr dirty="0"/>
              <a:t>: Arranges components left-to-right, top-to-bottom.</a:t>
            </a:r>
          </a:p>
          <a:p>
            <a:pPr lvl="1"/>
            <a:r>
              <a:rPr dirty="0"/>
              <a:t>Example:</a:t>
            </a:r>
          </a:p>
          <a:p>
            <a:pPr lvl="2" indent="0">
              <a:buNone/>
            </a:pP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08000"/>
                </a:solidFill>
                <a:latin typeface="Courier"/>
              </a:rPr>
              <a:t>FlowLayout</a:t>
            </a:r>
            <a:r>
              <a:rPr dirty="0">
                <a:solidFill>
                  <a:srgbClr val="666666"/>
                </a:solidFill>
                <a:latin typeface="Courier"/>
              </a:rPr>
              <a:t>());</a:t>
            </a:r>
            <a:br>
              <a:rPr dirty="0"/>
            </a:br>
            <a:r>
              <a:rPr lang="en-GB" dirty="0">
                <a:latin typeface="Courier"/>
              </a:rPr>
              <a:t>frame</a:t>
            </a:r>
            <a:r>
              <a:rPr dirty="0">
                <a:solidFill>
                  <a:srgbClr val="666666"/>
                </a:solidFill>
                <a:latin typeface="Courier"/>
              </a:rPr>
              <a:t>.</a:t>
            </a:r>
            <a:r>
              <a:rPr dirty="0">
                <a:solidFill>
                  <a:srgbClr val="06287E"/>
                </a:solidFill>
                <a:latin typeface="Courier"/>
              </a:rPr>
              <a:t>add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b="1" dirty="0">
                <a:solidFill>
                  <a:srgbClr val="007020"/>
                </a:solidFill>
                <a:latin typeface="Courier"/>
              </a:rPr>
              <a:t>new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8000"/>
                </a:solidFill>
                <a:latin typeface="Courier"/>
              </a:rPr>
              <a:t>Button</a:t>
            </a:r>
            <a:r>
              <a:rPr dirty="0">
                <a:solidFill>
                  <a:srgbClr val="666666"/>
                </a:solidFill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"Button"</a:t>
            </a:r>
            <a:r>
              <a:rPr dirty="0">
                <a:solidFill>
                  <a:srgbClr val="666666"/>
                </a:solidFill>
                <a:latin typeface="Courier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985665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A7DC-2521-8C50-392E-3D76E8FE9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33AEB-23FA-4F65-E501-9AAEF54BB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864" y="273049"/>
            <a:ext cx="11222734" cy="1162051"/>
          </a:xfrm>
        </p:spPr>
        <p:txBody>
          <a:bodyPr>
            <a:noAutofit/>
          </a:bodyPr>
          <a:lstStyle/>
          <a:p>
            <a:r>
              <a:rPr lang="en-GB" sz="4400" noProof="0" dirty="0"/>
              <a:t>Choosing the Right Layout Manager</a:t>
            </a:r>
            <a:endParaRPr lang="en-GB" sz="4000" noProof="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606EC72-C0C2-C993-CF0A-A715D79FC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708760"/>
              </p:ext>
            </p:extLst>
          </p:nvPr>
        </p:nvGraphicFramePr>
        <p:xfrm>
          <a:off x="1197864" y="2192336"/>
          <a:ext cx="10137903" cy="3431224"/>
        </p:xfrm>
        <a:graphic>
          <a:graphicData uri="http://schemas.openxmlformats.org/drawingml/2006/table">
            <a:tbl>
              <a:tblPr/>
              <a:tblGrid>
                <a:gridCol w="3136811">
                  <a:extLst>
                    <a:ext uri="{9D8B030D-6E8A-4147-A177-3AD203B41FA5}">
                      <a16:colId xmlns:a16="http://schemas.microsoft.com/office/drawing/2014/main" val="3003996157"/>
                    </a:ext>
                  </a:extLst>
                </a:gridCol>
                <a:gridCol w="3329533">
                  <a:extLst>
                    <a:ext uri="{9D8B030D-6E8A-4147-A177-3AD203B41FA5}">
                      <a16:colId xmlns:a16="http://schemas.microsoft.com/office/drawing/2014/main" val="2285957090"/>
                    </a:ext>
                  </a:extLst>
                </a:gridCol>
                <a:gridCol w="3671559">
                  <a:extLst>
                    <a:ext uri="{9D8B030D-6E8A-4147-A177-3AD203B41FA5}">
                      <a16:colId xmlns:a16="http://schemas.microsoft.com/office/drawing/2014/main" val="3513826267"/>
                    </a:ext>
                  </a:extLst>
                </a:gridCol>
              </a:tblGrid>
              <a:tr h="625618">
                <a:tc>
                  <a:txBody>
                    <a:bodyPr/>
                    <a:lstStyle/>
                    <a:p>
                      <a:pPr algn="l"/>
                      <a:r>
                        <a:rPr lang="en-GB" sz="2800" b="1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Layout Manager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 b="1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Best For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800" b="1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Example Use Case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748951"/>
                  </a:ext>
                </a:extLst>
              </a:tr>
              <a:tr h="1089994">
                <a:tc>
                  <a:txBody>
                    <a:bodyPr/>
                    <a:lstStyle/>
                    <a:p>
                      <a:r>
                        <a:rPr lang="en-GB" sz="2800" kern="120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BorderLayout</a:t>
                      </a:r>
                      <a:endParaRPr lang="en-GB" sz="2800" kern="1200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Dividing into distinct regions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Dashboards with toolbars and content.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073920"/>
                  </a:ext>
                </a:extLst>
              </a:tr>
              <a:tr h="625618">
                <a:tc>
                  <a:txBody>
                    <a:bodyPr/>
                    <a:lstStyle/>
                    <a:p>
                      <a:r>
                        <a:rPr lang="en-GB" sz="2800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GridLayout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Uniform grids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Calculator buttons.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252803"/>
                  </a:ext>
                </a:extLst>
              </a:tr>
              <a:tr h="1089994">
                <a:tc>
                  <a:txBody>
                    <a:bodyPr/>
                    <a:lstStyle/>
                    <a:p>
                      <a:r>
                        <a:rPr lang="en-GB" sz="2800" kern="120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FlowLayout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Simple, flexible arrangements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Dialog boxes.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1348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704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9568-81C0-C6F8-B1DF-25CCCC89E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2DE87-A593-FD3E-9C2A-42D35B544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0"/>
            <a:ext cx="11222734" cy="1162051"/>
          </a:xfrm>
        </p:spPr>
        <p:txBody>
          <a:bodyPr>
            <a:noAutofit/>
          </a:bodyPr>
          <a:lstStyle/>
          <a:p>
            <a:br>
              <a:rPr lang="en-GB" sz="4400" noProof="0" dirty="0"/>
            </a:br>
            <a:r>
              <a:rPr lang="en-GB" sz="4400" noProof="0" dirty="0"/>
              <a:t>Layout Managers in </a:t>
            </a:r>
            <a:r>
              <a:rPr kumimoji="0" lang="en-GB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javafx.scene.layout</a:t>
            </a:r>
            <a:endParaRPr lang="en-GB" sz="40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EACBE-55DF-1CE8-7F27-CEF176030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382" y="2179830"/>
            <a:ext cx="11558016" cy="4175250"/>
          </a:xfrm>
        </p:spPr>
        <p:txBody>
          <a:bodyPr>
            <a:normAutofit/>
          </a:bodyPr>
          <a:lstStyle/>
          <a:p>
            <a:pPr marL="342900" lvl="0" indent="-342900">
              <a:buAutoNum type="arabicPeriod"/>
            </a:pPr>
            <a:r>
              <a:rPr sz="3000" b="1" dirty="0"/>
              <a:t>Border</a:t>
            </a:r>
            <a:r>
              <a:rPr lang="en-GB" sz="3000" b="1" dirty="0"/>
              <a:t>Pane</a:t>
            </a:r>
            <a:r>
              <a:rPr sz="3000" dirty="0"/>
              <a:t>: Divides the container into five regions (</a:t>
            </a:r>
            <a:r>
              <a:rPr lang="en-GB" sz="3000" dirty="0"/>
              <a:t>Top, Bottom, Left, Right, and </a:t>
            </a:r>
            <a:r>
              <a:rPr lang="en-GB" sz="3000" dirty="0" err="1"/>
              <a:t>Center</a:t>
            </a:r>
            <a:r>
              <a:rPr sz="3000" dirty="0"/>
              <a:t>).</a:t>
            </a:r>
            <a:endParaRPr lang="en-GB" sz="3000" dirty="0"/>
          </a:p>
          <a:p>
            <a:pPr marL="342900" lvl="0" indent="-342900">
              <a:buAutoNum type="arabicPeriod"/>
            </a:pPr>
            <a:r>
              <a:rPr sz="3000" b="1" dirty="0"/>
              <a:t>Grid</a:t>
            </a:r>
            <a:r>
              <a:rPr lang="en-GB" sz="3000" b="1" dirty="0"/>
              <a:t>Pane</a:t>
            </a:r>
            <a:r>
              <a:rPr sz="3000" dirty="0"/>
              <a:t>: Arranges components in a grid of rows and columns.</a:t>
            </a:r>
          </a:p>
          <a:p>
            <a:pPr marL="342900" lvl="0" indent="-342900">
              <a:buAutoNum type="arabicPeriod"/>
            </a:pPr>
            <a:r>
              <a:rPr sz="3000" b="1" dirty="0"/>
              <a:t>Flow</a:t>
            </a:r>
            <a:r>
              <a:rPr lang="en-GB" sz="3000" b="1" dirty="0"/>
              <a:t>Pane</a:t>
            </a:r>
            <a:r>
              <a:rPr sz="3000" dirty="0"/>
              <a:t>: Arranges components left-to-right, top-to-bottom.</a:t>
            </a:r>
            <a:endParaRPr lang="en-GB" sz="3000" dirty="0"/>
          </a:p>
          <a:p>
            <a:pPr marL="342900" lvl="0" indent="-342900">
              <a:buAutoNum type="arabicPeriod"/>
            </a:pPr>
            <a:r>
              <a:rPr lang="en-GB" sz="3000" b="1" dirty="0" err="1"/>
              <a:t>VBox</a:t>
            </a:r>
            <a:r>
              <a:rPr lang="en-GB" sz="3000" dirty="0"/>
              <a:t>: Arranges components in a single vertical column. </a:t>
            </a:r>
          </a:p>
          <a:p>
            <a:pPr lvl="1"/>
            <a:r>
              <a:rPr lang="en-GB" sz="2600" dirty="0"/>
              <a:t>Auto width, spacing, alignment options.</a:t>
            </a:r>
          </a:p>
          <a:p>
            <a:pPr marL="0" lvl="0" indent="0">
              <a:buNone/>
            </a:pPr>
            <a:r>
              <a:rPr lang="en-GB" sz="3000" b="1" dirty="0"/>
              <a:t>5. </a:t>
            </a:r>
            <a:r>
              <a:rPr lang="en-GB" sz="3000" b="1" dirty="0" err="1"/>
              <a:t>StackPane</a:t>
            </a:r>
            <a:r>
              <a:rPr lang="en-GB" sz="3000" dirty="0"/>
              <a:t>: Layers components on top of each other (in a stack).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Many others available. </a:t>
            </a:r>
            <a:endParaRPr kumimoji="0" lang="en-GB" sz="30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E516A-3CE1-8945-97A5-86A66D07466E}"/>
              </a:ext>
            </a:extLst>
          </p:cNvPr>
          <p:cNvSpPr txBox="1"/>
          <p:nvPr/>
        </p:nvSpPr>
        <p:spPr>
          <a:xfrm>
            <a:off x="0" y="1399795"/>
            <a:ext cx="12044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Courier"/>
              </a:rPr>
              <a:t> </a:t>
            </a:r>
            <a:r>
              <a:rPr lang="en-GB" sz="1800" dirty="0">
                <a:latin typeface="Courier"/>
                <a:hlinkClick r:id="rId2"/>
              </a:rPr>
              <a:t>https://docs.oracle.com/javase/8/javafx/api/javafx/scene/layout/package-summary.html</a:t>
            </a:r>
            <a:r>
              <a:rPr lang="en-GB" sz="1800" dirty="0">
                <a:latin typeface="Courier"/>
              </a:rPr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86930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840" y="9599"/>
            <a:ext cx="11222734" cy="1160833"/>
          </a:xfrm>
        </p:spPr>
        <p:txBody>
          <a:bodyPr>
            <a:noAutofit/>
          </a:bodyPr>
          <a:lstStyle/>
          <a:p>
            <a:r>
              <a:rPr lang="en-GB" sz="4400" noProof="0" dirty="0"/>
              <a:t>Building Multi-Screen GUIs</a:t>
            </a:r>
            <a:endParaRPr lang="en-GB" sz="40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D9A822-CFFC-72F4-13E8-F8A685DD6249}"/>
              </a:ext>
            </a:extLst>
          </p:cNvPr>
          <p:cNvSpPr txBox="1"/>
          <p:nvPr/>
        </p:nvSpPr>
        <p:spPr>
          <a:xfrm>
            <a:off x="792616" y="1920382"/>
            <a:ext cx="548931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Problem: 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Many applications require multiple screens (e.g., login, main menu, quiz, results).</a:t>
            </a:r>
            <a:b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Solution: 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 containers to switch between screens dynamically.</a:t>
            </a:r>
          </a:p>
        </p:txBody>
      </p:sp>
      <p:pic>
        <p:nvPicPr>
          <p:cNvPr id="4" name="Picture 1" descr="data:image/png;base64,iVBORw0KGgoAAAANSUhEUgAAAUMAAAFACAYAAAAmpx6pAAAAAXNSR0IArs4c6QAAIABJREFUeJzt3XtclHXe//HXAB4QUBNIQCXNDIu1LAnFDEnWA6ukbHgrmBWti+ImuUJt1P5Wqd3FdkGNShLb2NwUvZduNXQhazZFDWLRKKMVzTQ8oYipoKAC8/tjAGcQEGRmrjl8no/HPJSZua55z+kz38N1UGk0Gg1CCGHj7JQOIIQQ5kCKoRBCIMVQCCEAKYZCCAFIMRRCCECKoRBCAOCgdAAhzE1FRQVfffUVhw4dorKykqFDhzJs2DBGjx6tdDRhRFIMhdCxceNG1q9fT3V1NZcuXQKge/fuODk54erqyurVq3F1dVU4pTAGlWx0LYTWG2+8wbZt26ipqWn1do1Gg6OjI+vWrePuu+82cTphbFIMhQDefPNNMjMzqauru+V9u3fvTm5uLr179zZBMmEqMoEibN7BgwfZsmVLhwohwNWrV1m4cKGRUwlTk2IobN7777/fPD7YESqViuPHj3Pw4EEjphKmJsVQ2Lzvvvuu08s0NDRw6NAhI6QRSpFiKGxaTU0NKpUKlUrVqeWuXLnC6dOnjZRKKEGKobBpjo6OVFVV3dayzs7OBk4jlCTFUNi8IUOG0NmNKnr37o2Pj4+REgklSDEUNm/atGm4uLh0ahknJydGjhxppERCCVIMhc178sknGTRoUIdbh46OjiQkJODgIDtwWRMphkIA7733Hl5eXrcsiD169CAqKopHH33URMmEqcgeKEI0qqurY968eRw9epTq6mpAu01h01fEycmJ6OhonnrqKSVjCiORYihECx9//DGffPIJhw4doq6ujjvvvJOHHnqI5557jjvvvFPpeMJIpBgK0YZvv/2WFStW8P777ysdRZiAjBkK0Y7ObowtLJcUQyGEQIqhEG2ys7Nj0KBBSscQJiLFUIg2NDQ0cPz4caVjCBORYihEG+zt7fHw8FA6hjARKYZCtKG+vp7y8nKlYwgTkWIoRBvs7e0ZMGCA0jGEiUgxFKIN9fX1nDx5UukYwkSkGArRBnt7ezw9PZWOIUxEiqEQbaivr5ejWdsQKYZCCIEUQyHaZGdnJwdmsCFSDIVoQ0NDA2fPnlU6hjARKYZCCIEUQyHapFKpsLOTr4itkHdaiDZoNBoaGhqUjiFMRIqhEO1wdHRUOoIwESmGQrSjpqZG6QjCRKQYCiEEUgyFaJd0k22HFEMh2iHdZNshxVAIIZBiKESbVCoVDg4OSscQJiLFUIg2aDQa6urqlI4hTESKoRBCIMVQCCEAKYZCtEn2TbYt8k4L0QbZN9m2SDEUQgikGArRJukm2xZ5p4Vog3STbYsUQyHaIfsm2w4phkK0Q/ZNth1SDIUQAimGQrTJzs4OT09PpWMIE5FiKEQbGhoaOH36tNIxhIlIMRRCCKQYCgFAVVXVTdfZ2dlx5513dui+wvJJMRQCbYHLzs7Wu66hoYGzZ8/e8n7COkgxFALw8vLi1KlTLFu2rPk6Ozs7vL29m/8uLS0lIiKC0NBQJSIKI5NiKESj+fPnU1RURGRkJFVVVTQ0NFBWVgZAdnY28+fPJzIyEhcXF4WTCmNQaTQajdIhhDAXRUVFLFiwAE9PTxYuXEhBQQFeXl6sXbuWYcOGkZmZqXREYSRSDIVoIS4ujl27dtGrVy+6devGxYsXAXj33Xfx8/NTOJ0wFukmC9FCXFwczs7OXLlypbkQTps2TQqhlZNiKEQLXl5eRERENP/t7OxMXFycgomEKUgxFKIV8+fPx9XVFYDo6GiZNLEBMmYorEZNdT0qleHWt3XrVtLT09m+fbvhVgrYd1PRrbu0Q8yNFENh0ap+us6Xuec5VnKZO/p358LZ6wZbt0ajob6+3uAnku/j1o2rtQ0M93NhVPAdBl23uH1SDIXFOn/mGh+/e4qAGf3p7dqD7o6W09q6VHmNU4cvc7Gill88K0fGMQdSDIVFulR5nf975yShvxmsdJQuObzvAudP1vKLKA+lo9g8y/kpFULHl7nnefRJyy8gw0b1pYeTA0dLLisdxeZJMRQW6cg31fR166F0DIPo1tOOs2VXlY5h86QYCotz6XwdnkMcsXMw4NSxgu64swc1l+UsfEqTYigskIaL5ww3a6y0+noNNdXW83wslRRDIYRAiqEQQgBSDIUQApBiKIQQgBRDYbUKSPdR4ZNeYLRHqNg+Ax+fGWyvMNpDCBOSYijEbXIfMEbpCMKADLsHuhC2ZOTLlJYqHUIYirQMhQ0rZ/tCFT4+TZeWXd7GrrbPzffRdpH1lylO13bLb9ymwsdnOcVKPDXRaVIMhY0qIN3HkyVksqdUQ2mphj0rYMk4FenFTbcHULziNKWlGkpLT7MiGAgewwDAfeoW9qyYfvNqUwJYyrs6yyQwa+FGLpn2yYnbIMVQ2KSK7ctJYTorEmfj3nid+9R3WREMKYUFULyTFKYz1b/pYBAe+E+dDuoCTra34uBMEqe2XOZY+8sIsyDFUNikkye3QvBs/N11r/VgwEig+BiGnSAuoEJmnM2eFEMhWjMyiDi2sr2wvPGKcgq3t1ZAhbWQYihs0oAB00G9kUK9Fls5J4uBkYNxZwzRm5JQL/FsnAhpHF9cfaNbLayLFENhk9ynvkwcW1my+cZG2RXbF7BEPZ0VYWOAcranJxC3SdM4GaKhVAqhVZPtDIV1SwnAJ6XFdcHaFl50aT746N4+nRV7tjBVp+KlzFKR0sqyUhStj5wDRVicS+evs2X1KabG3GXiR76xuc3qqYY75cDxg9WcPlxFiJwYSlHSTRaiDcXpLTaYrjgmG1BbMekmC9Gaio2kpySgTknQuzpuk4bokQplEkYlxVCI1rjPZnXpbKVTCBOSbrIQQiDFUAghACmGwgJpNODc13pGeOzsVPToZa90DJsnxVBYnD6u3Sj/sQaNlZxq+FLlNRydpBgqTYqhsEhDfJ25eO6a0jEM4nptPe4Deigdw+ZJMRQWJysri6u9vqPg4/Jb39nMnSit5mLFVe4Z6ax0FJsnxVBYjL179zJz5kyOHj3KE+FBBM++k5z3yqj+6brS0Trtem0DR7+5xJGvLjJ9/gCl4whkdzxhAY4ePcrKlStxcHBg8eLFeHt7N9929vhVij77ibL/VuN1jxNVBiyMGo2GhoYG7O0NO57n1NueihNXuc+/N1cc93PmzBnuv/9+AEaNGmXQxxIdJ8VQmK2amhpWrlzJgQMHWLx4MaNHj27zvvX1Gi6cvYZKpTLY43///fesW7eO1157zWDrBHDopqK3azcA6uvreeyxx7h2rfXxT09PT7y8vBg2bBhBQUH4+fkZNIu4wXq2TxBWJSMjgw8++IDf/va3vPLKK7e8v729CldPw05C9DrXQE19Bf08uht0vbrs7e155plnWLt2rd71zs7OBAUFMWrUKIKCgnBxcTFaBqElxVCYldzcXFatWsWMGTPYuXOn0nFMIjIykszMTKqrq+nWrRuTJk0iMTFR6Vg2RyZQhFkoLi7md7/7Hfn5+WzcuJEFCxYoHclkXFxciIiIAGDEiBH4+PgQFhZGqZyU2aSkZSgUdebMGVatWsX58+dZsmQJPj4+SkdSRGhoKGvXrmX//v2kp6cTFBTEyy+/TGBgIPPmzVM6nk2QlqFQzN/+9jd+/etfM3HiRNasWWN2hdDe3h4PD8MdxLU9Xl5eTJs2Te/vdevW4eDgQGRkJCdOnDBJDlsmxVCY3JYtWxg3bhx9+/bl448/ZsKECUpHalV9fT3l5abbsDs6OhqAU6dONV/37LPP8vrrr7N48WLWr19vsiy2SIqhMJni4mLmzJnDf//7X3bu3MmTTz6pdKR22dvbM2CA6TaI9vLyYvz48XrFEGDo0KFkZWVRWVnJa6+9xuXLl02WyZbImKEwuosXL/LWW29x4sQJEhMTueeee5SO1CH19fWcPHnSpI/ZNJHSmtjYWL755htCQ0N55ZVX+PnPf27CZNZPWobCqP7+978zc+ZMHn30Ud59912LKYRKudVG1Q888AD//ve/+fzzz1m2bJmJUtkGKYbCKAoKCggLC6OmpoYdO3bw+OOPKx2p0+zs7Bg0aJDJH7cje5n86U9/YvTo0SxevJgffvjBBKmsn3SThUFdunSJP//5z9TU1PDOO+/g5eWldKTb1tDQwPHjx5WO0aaQkBDGjh1LTEwMv/zlLwkPD1c6kkWTlqEwmPXr1/OHP/yByZMn8+abb1p0IbQUffr0YcOGDRw7doxXX31V6TgWTYqh6LLS0lLmzJlDZWUlq1atssgucWvs7Oxwd3dXOkaHxMfHM2HCBJ5++mlOnz6tdByLJN1k0SUrV67kq6++sqhZ4o5qaGigoqJC6RgdFhwczKhRo3j22WdZvHgxQUFBSkeyKNIyFLclPz+fn//853h6erJu3TqrK4SWqm/fvmzZsoWcnBzee+89peNYFCmGotMSExP54osv2Lx5M7Nny4nWzdEbb7wBwIsvvqhwEsshxVB0WEFBAUFBQTzyyCPExcVZ/TH2VCqV3lG1Lc28efMIDQ2VgthBMmYoOiQpKYkzZ86Qk5ODo6Oj0nFMQqPRUFZWpnSMLgkMDOTee+9l3LhxbNu2jb59+yodyWxJy1C0q7i4mEmTJnHfffexatUqmymE1sTDw4OdO3cye/Zsvv/+e6XjmC1pGYo2paenU1FRwT//+U/69OmjdBzRBQ4ODuTm5jJnzhyef/55AgIClI5kdqRlKG5SW1vLvHnzsLe359VXX7XZQmjpY4atWb9+PRkZGSY9NJmlkGIo9OzevZvJkyfzwgsv8Ktf/UrpOIqyhjHD1qSnp7NixQrUarXSUcyKdJNFs5UrV3Ly5El27dqldBRhZH/5y1/43e9+h729vWyc3cgqi2FDA1y9qnQKy7J582ZGjw7ioYceoqZG6TRa3buDoc7frtFAbW3nlnFycmPcuImdfj3s7KCHYc9aahRvvPEGcXFxODg4MG7cOKXjKM4qi6FKpf3wi1u7dOkSH330EaGhobi5uZnV62bILBpN59dnZ2ePq6t5vSaGlpKSwuLFi3FwcGDMmDFKx1GUjBnasGPHjpGbm8vcuXNxc3NTOo7Z0Wg0XLlyRekYRrdq1Sq2bt1KSUmJ0lEUJcXQEpWkEBjoR2CgH/E55zqwwAFSW9z3q6++4vDhw/zP//wPDg5W2UEQnZCUlERsbCzV1dVKR1GMdRdDnaLRdEm19B+/ymziYzIJTysiL6+I5JDOt+i+/PJL6uvrmThxov6qcxYRGLiInEpDhW1JW5QDUw8Y6wE69vitXeKz6dDTbvxMWfznqBWZmZntnoPF2llvk6CxaPgn5DYWjHPkxH+At6/SwbqmZH0ihf5LSbjN5/H5559z1113cffddxs2WId4MsxfgYdtKTyDvNgRt7esx73oP4Vz5MRPIcm7C+s0E3feeSe///3viY2NJTU1Vek4Jme1LcPKwh0UEkFUc8vJjZDkOCy7Fp6jrAzwHozrbSx9/r97GTRokEKFELTvQZHFFA2VSoWzs7P+la6hJOcVEWvZH6Q2jR49mrFjx7Jq1Sqlo5ic1RZDrWOUtdH30XYJU9Dr7VRmE9+iC6S9n053qkUXryRVv7ulP4bXslum3wVtc9mW3fv4bCo5QGrgFJIKgawovfuXpLbSzStJ0Xu844Cj26AuH3ewZeaW3cWbXq/m10zntWh6DSuziQ9cRE6l/uvUsXFQI2h8/5vyaTQaqqsP3uja67wv2ufd2CrUeU8CA1P4Vpn0BjN79mzOnz/P559/rnQUk7LabrJrSDThSVEkhfmhbu4qd05Jqh8xWQEkbC4ixBWaPvypJUXE+jZ9ESJIy2tqcR4gNTCRHP+3CCGb+LBESMglr/GxK3MWERbmx+G0ImJJaVz3W43rbnKAVL3u/Q2xebkMi59CEkvZnBza4dbhl1+W0AfQuHdl17JWnm9JCoExfpQ1Zq3MWURY0mDS8t7SuT2T8GGeVOJGbF4GBEaRpbfefJLCBpOWV0Rs8zJTSPUuIv6hLsS9Ha6hJG+G+LAoUoOLmO0Op/79Pln+S9kcOwIYQV4aBMZkNi7gRkhyLrToJhto00hFvfbaa4wZM4aCggKlo5iMFbcMRxCbl0uCPxQmTel8i6Mym4wsCE/TLVbabl6sL1DyAUmFASRs1u16jyA2T3v/kvWJFIZn6BU015ClJPhDlrqpdZnP4TZ2ES08bJjzWHxf9AXdujnQu6srKvmApEIIT9N5vr5xpIVDoTqfSs5RqM6H8Ek6t08iHMg6fLrdwq2/Tu0yZWVGbB02t+Jaad26hpKQEEBWTAqHDq1hw/6hJCR0/IfHmvz5z38mISFB6RgmY8XFEJrHqPKKtF/apCkdLojaMccAhnm0fnuJOhMYjHer35IDqLO46UsX2NTNheZCkhXTsus9gti0iMZlW3TjO60alZ0dDz/s06W1AFSWHQMiCG4xVuYxLAAKD2Ho3f4N9WPQqvAM8vKKmi8tx/+0P1qZvPLKVh6OnNOi5W47JkyYgL29PZ9++qnSUUzCyovhDb6xja1EdX7HNqEA2i52jfzvpY1aqdXiS9d8aexO+cYWkZeXS0JZlH4LxTeOvLwiNiccI+Y2N0U5da4aqGHow6baq8AN/+AAyNpxo4CX7CALCA+2jAmTZpX5qBt/tPbnf9OJz4v1+eMf/0hiYiJ1dXVKRzE6mymG4EZnjsbk6j0YyETdRtNM2yLaQWGr35TGTUjKjnXgi6RtvWpbifotQdeQt8hrbCV2Zru22tpa1P85DhjuNJdtvR7lh/ObfxSaWlQxTS3hxu0hLWvm9Rw5Sdohjqy1v2Xw0S0kKTWhYyZee+01Vq5cqXQMo7PeYliZTbxui6okhZgs8A8OwJXWvtyNX4KmP32f0Y7vxbScAdb+7RoSTTj5JIXpFrBz5MSnUIIbIQlL8S9MJEw3Q8tMBtKyMO/evZ6zHxfr3ENbnDvXKm6h6fXI0Jm1bnxNw6Max9RKPtBO7rTTBTV3lTmJ2rHgOSPgjomETBlKYVJiOxuiN/7I6raIrcyECRMoLCy0ysOZ6bLa2eTKwh0UZuUTqDN1qddK8Y1jc8IxwmL8Gmc3A0hI0xYwLW2LzTvVj5gwP5KaV7KUzUDTBM2w+CnEBGY2P4Z/QgYJlejNTOplSMilEnBtnGm9oWky5gCpLWZc/RNy2y0qriFvkXZYN+cE0tIi2BpzTOe5ZHA4MIqwwEM6s9+tySdJ9/nqvnaNM6dhgYn61+uurDBR7/ZW76O0LP33BAD/pWyOOkRYUj7+CbmEuMLZs+D0s+kknF9BUlgK3m28br6xGYRnRTV/Dka/mss7Yda1r/evf/1r1q5dy+uvv650FKNRaTTWd0wOjQazOQyVKV2+fJmtW7cSGRmpdJRmNza36fwG7927g6F2m25o6PwhvM6ePct//vMfpk6d2qnl7O0t4xBenTVr1izeeOMNBg8erHQUo7DebrIN2r17N4GBgcoFqMwmtcX4WvnhfIXCGEZ9fb3SEcxGU+vQWlltN9nWHD16lL59+zJw4EDFMpSsTyQrC7J0+9j+S9mcZ5vb6Vmbn//85/z73//m2LFjVtk6tMpiqNEY7gjJlmLHjhxmzpyp6PN+4LdF7P2t4danUhl2XZ19berrr1FZebbTy9lZcX/r/vvvZ9u2bTz//PNKRzE4qyyGlnLYdUPZs2cPJ04cYeBAw21KY21Uqs5/JmpqLrB/fz49eswzTigLNGXKFJ555hmrLIZW/BtmOz788EPmzp2rdAyro1KpcHJyUjqGWXFzc+Puu++msLDw1ne2MFIMLdw333zDnXfeyciRI5WOYnU0Gg2XL19WOobZ+cUvfsG//vUvpWMYnBRDC/fJJ5/wwAMPKB1D2JCQkBByc3OVjmFwUgwtnFqtJjg4WOkYwsbMmDGDnTt3Kh3DoKQYWrD9+/czZMgQ7rjjDqWjCBtzzz338J///EfpGAYlxdCC7du3j2nTpikdw2rZ2dnh7i4z9K0ZNWoU+/fvVzqGQUkxtGB79+5l6NChSsewWg0NDVRUVCgdwywNGTKECxcucP78eaWjGIwUQwvV0NBAaWkpw4cPVzqKsFEPP/ywVbUOpRhaqJKSEnx9zelQMMLWPPLII1IMhfJ++OEHRoywsCNIC6syfPhwSkqs5yiOUgwt1KlTp+jTp4/SMayanZ0dgwYNUjqG2RoyZAhHjx5VOobBSDG0UKdPn8bT01PpGFatoaGB48ePKx3DbPXo0QN3d3dOnDihdBSDkGJooezt7aUYCsUNGTKEY8eO3fqOFkCKoZmrqqqiqqrqpuuPHDlCjxaHYWnrvkIYy+DBg62mqyzF0My5uLiwYcMGSktL9a6/cuUKvXr1av67qqqKNWvW4OLiYuqIVq179+5KRzBrQ4cOtZqhBCmGFiAyMpK4uDi9fUH79OmDo6MjAKWlpYSGhhIaGqpURKt17do1pSOYNQ8PD6s5a54UQwvg4uJCZGQk8fHxZGZqz8B2+vRpVCoV2dnZzJ8/n2nTpuHj46NwUmFrXF1dqay87RPQmhWrPNK1NYqMjCQ7O5uUlBRKS0vx8fFhy5YtpKWl4ezszPz585WOKGyQm5sb586du/UdLYC0DC1IXFwcANu2bWP37t2kpaU1Xy9jhUIJTePWV65cUThJ10kxtCB+fn43HaXm4YcflrFCI1GpVHTr1k3pGGbPWlqHUgwtTFxcHM7Oznp/C+PQaDRcv35d6Rhmz1rGDaUYWhgXFxeio6MBCAsLk0kToTg3NzcuXryodIwukwkUE6r6qY6fzlzj+rWGLq1n9M+eYMidXzBx7FMc+aa6S+uyd1DR170bfd1le7qWVCoVXl5eSscwe926dbOKMUMphiZQU12PeuNZKk9dxWtYL2ov13d5nXOmv8yZI3acOdK1PU6c+nTj1PeVuNzhwJhf9KO/d88uZ7NEpaWleHl56U1EaTQaTp061ep9pUV+g5OTkxRDcWtXqur5OP0Uj0ztb7atrwcnwLWaBv6deZJJc/vj6mGeOY3Jx8eH5ORkQkND2y10GzZswMvLS4qhjl69elnFKVVlzNDINiaX8dj/eJltIWzS3dGOSc8NYmvaSa5Udb3laolCQ0OZP38+RUVFgPYQXroHw1i2bBk7d+4kKChIqYhmqVevXtTU1Cgdo8ukGBrRgT0XGDqyDz172SsdpcNGBrux77OflI6hCB8fH6ZNm8aCBQvIzs6moaGB06dPU1VVRWRkJNu2bWPZsmVKxzQ70jIUt3Tm+FWc7rCs7dSc7+hG+Y+W/yt/u+bPn4+zszOJiYmsXbuWK1euEBkZyaFDh/j1r38tEyqtcHFxwcHB8kfcpBgaUW11Pb1cLOtD4ujiwNVajdIxFOPi4tK87ebevXs5fPgwp0+fxsPDg8jISIXTmSeNRsOFCxeUjtFlUgyNqKFB+0GxKBqo6+KmP5YuNDSUhx9+WO+6+Ph42eWxDQ4ODtTV1Skdo8ssq9kihInExcUxZ84cQLvLozlPmtTXa394ldKnjxteXneh9M46Dg6gUnVhecNFEcJ6+Pj4MHHiRD799FOznzS5fl3ZYuji0o8BAwYrXgzt7btWDKWbLEQLGo2G7777Dg8PD/r27cuhQ4es5qRHxmBnZ0eDktXYQKRlKISO//znP/zlL3/hzJkzaDQarly5wrJly7C3t2fEiBGsWrVK6Yhmx97eXu8UFJZKWoZmoZztC1X4+Ohc0gtuYz0FpN/2siIzM5OXXnqJiooK5syZw+uvv86aNWuIjo7moYceYvfu3YwZM8YsNzCuzFlEfE4rh9GqzCY+0I9UI57rXaPRUF19Yx/5ypxFBAYuIuemA9kcIDXQr/WcZkCKodIqNrLQx5MlI/MpLdU0XvKJSwnAx2c5xZ1a2WAGBBspp5X74IMPePvttxk1ahTbtm1n/vz53DPwETzv8GXqlCdJTk4mJSWFnj17Mn78eKXjtqowaYpRi561k2KosOLNEaiDM9kTPUbn2jFEl+YTRwLp28s7sTYPpq7WUKq3LnEr5eXlvP/++9x1110kJydzoRw+eP0YW945zea3T/KP14/zWeYZAkaPIzk5mfr6ehYtWqR07FZlxaQg9fD2SDFUUsUW0lMgeGoQ7jfdOAb/OFBv30kFNLYgVaTrNRUbu9fpBTR3kZu7ya10vZsvy7lkkidoGVavXk11dTWJia9x6fx1/vX+GarO6283d7CwCnVmBX5+foSGhnLw4MGbTt+qvAjCwzOJic+m3UOtNnadA5svTQX0HDnxfgSmHtC7e0lqyy7vzd3d29qetiRFJ4MfgXq5tY9x43bdDE05s7X/BvoRH/tW5x+/BSmGSjpXjhoYOcCj1ZsHDJgO6mOc7NDKmlqTTRpbiaU3LntWTAcgbtPL9O5yeOvx9ddf4+LiwrBh91D4yXmu1bQ+M/rDgctUnKzFz8+PmpoafvjhBxMnvbXg2AzCCxNJamtcriSFwLBEvNOKyMvTXtLCM4kJXEROpRv+wQGQtUOndXkAdVY+Set1CmTJDrIIINjfDdAe97HzDpAak4l/Qm5zjrzkUFyhsVhHUaZz2+YESAprMfaZlYg6WHuf5NSut9SlGJq9Ak5WGGA1FRtZumQrxOUTPdIA67MS169fp6ampvmQXC1bhC1VnrqOj8991NTU8OOPP5oiYieNIHbzUmh1/PAcORnaAhTre+Na39gMwslHXXgOV/9J+JOJunHZypx0svwD8NcpkCXqTPCfhL+r9m+VSkXPnrd3HMzCw6dvuq5kfSKF4Rkkh7g1X+caspQEf8hS6xRl/6Uk6Nynq2TTGrM3hgHuQJcKYjnbl0agJolNMp6op1u3btTW1nb4/i79HChv3A/3dguA0bmGkpCwg7CYFII333vj+sp81IVQWDiFwKSbF/NvXDYqPJEY9QFifT0pVOcTHlVEsLcfGTnPkBxyGnUWhKc1tuLQdpE78xpqjSA2LYKsmCgCsyJIy4s6PUQuAAAdyUlEQVRDW58PoM4CiCIwq5XFvHX/P7g5gyFIMVSSmwfBQPHJchjZsqtcTuH2rRA8mwFdfJjidE+WqKezYs/LSKPwZoMHD24+huHdI5w4+X3rm850d7TDqY+KQ4WH6NOnj1kf4NU15C3SDvsRE6b9W7eG+Cfk6rW6WvINjoCYHZQEQxJL2ewLrkRQmJFPpfchsoggzbfNxTvON468vDgqcxYRFugH4RnkxTbeFp5BXuyINhY0zqY50k1WkvsMouNAveTvN29CU7GT7eq2Jlc6oXg5s1IgeMW7TO3SiqzXxIkT6dGjB5mZmTwY2Be3Aa0fiDcwzJ1ujg1s2LABJycnfH0NURGMR9v91eE6GG9a75rqLziJcDKJickkPKqxBej7DAkkEhaTCeGT0H3mKpUKO7sbpcTVe3Dr6608Rhng7a1fiF1D3iIvLQKyokgt8WSYP1B2rP1JICOQYqiwkWGZBJPALL0NpQtIH6fd5CZxamOL0X0wI4GUwhv3q9i+gCXq9tZeQPqsBNBdj7jJ3LlzcXV1Zc2aNRw+/D2z473xn9wPtwHd6e5oh9dQR6Yv9GT4Iy789a9/4cKFCzz99NP07m3u01Da8UN/3b8bi47ehs8lKS02hB5BcDhABMHNVc+NkKgIIICEOfottoaGBv3d8XwnEU4+SWG6m/mcIycpkUK9dbbGjZCEpfgXJhKmO6tdmU18i1luQ5NustLcZ7O6NIjtCz3R63UFZ7Jn9WydVuEYovdkUjwuAJ+UxrusyGdF8FaWtLricrYvDCAFQB3BOJ8Indumo/5mCwN7GPrJWK6MjAzmzJnDvHm/YsGCBUREROA/pV/z7dXVl5k/fz5ff/01U6ZMYebMmQqm7YTG8cP1TX/7xpGXBoExuuOGAYSn6S/mO2cp4cMC9FqA+E4i3P9Y88SJLv0Z5RHE5uUyLH4KMYGZN672X8rmvKaxxgOkBkahOyx4Y2InlOTNEB+mP24YnpBLJRh0nFDvOWgs7oB7luPjNacYOqovHkM6ud9m8XJ8ZiVAXL7JN6C+cqkO9T9O8Owf2ujqWLFz587x9NNPc+HCBbp3746Pjw+enp4cOnSI0tJSXFxcmDhxIq+++qrSUfXU1ip71JqysjL++9//MnnyZOVCAD17gl0X+rrSTTZHI1+mtFTDJgJubCi9cGPXJpTFLbm5ufGvf/2Lp59+Gjc3N7766iuKioo4deoUo0aNYtWqVWZXCM1Ft26WdXqL1kg32YyNjNZQGq10CtuzYMECFixYAMCZM2fo37+/wonM201jhhZKWoZCtEMK4a01NDTozSZbKmkZCmHheig8EVZRUcaRI98ydeoERXN05SjXIMVQCIvX1SLQVRcvXuDKlcuK5+gqy2/bmjGnvg5dmt1SgkoFrp6yzY3ouNraWvPdNbETLOyralkce9lxvvyq0jE65aezVwHZ2kp0nEqlwt3d8ndvkmJoRF5DHamtsqzzyVadv463j+Wfz0KYTkVFheWdH7wVUgyNaPD9TqDRcGCnqfeyvD1lJdWcPFjNg4F9lY4iLEh1dTUuLi5Kx+gymUAxsuDZd7L340q+/vc53AY50s+zp1mNI6pUKs6X13Lp3DVOHqpm5uKBSkcSFsbR0ZE77rhD6RhdJsXQBB59wpWDRZf4vvgSR4svcupoFd27t35kFFNzH9iTI0eO4O3Tk7HhXkrHERaotLSUcePGKR2jy6QYmshwv94M9+tNUFAQubm5ZjX79uqrb7M+7RNIA2dnZ3x8fBg1ahReXl4MGzbMrI/bJ5R34cIFaRmKznnsscfYsWOHWRVCgKeffppPPvkE0I7/7Nu3j3379undZ/bs2fj5+REUFKRERGHG+vfvL8VQdIxGo2Hs2LHs2rXLbLrHunx8fPDw8KC8vByVSsWkSZPw9vZubh16eUn3WbSutraWr776yiqKoRkN5Vunuro6AgIC2Lt3r1kWwiZNLb6HHnqIsrIyfvazn+Hn5yeFULTr1KlTVvMZkWJoRLW1tQQFBVFQUGD2O7L7+fk1//8f//gHH330UXPXWYi2nDt3jgcffFDpGAZh3t9QC1ZfX8/MmTPZs2eP0lE6JCgoCGdn5+a/V6xYwdGjR3nvvfcUTCXM3cGDB/U+N5ZMiqER1NTUEBkZSXZ2ttJROqXl5EjTMf2WL1+uRBxhAX744QeGDh2qdAyDkGJoYLW1tcTHx7Np0yalo3Ra04SJrnnz5jF8+HBeeeUVhVIJc3bt2jUphqJ1v/rVr3jnnXeUjnFbgoKC8PT0vOn6GTNmMGXKFKKj5bDb4obr16+Tl5fHsGHDlI5iELJpjQGFhISwfv36W9/RTLm4uLS5HWFgYCB9+vRh9uzZbNy40cTJhDkqKSnhZz/7mdIxDEZahgby0ksv8eabb9KvX79b39mMtbe3yYMPPsjy5cuJjIw0YSJhro4cOcKYMaY9e6MxSTE0gOTkZCZPnsy9996rdBSjGzx4MG+//TYTJih7iHehvF27dnHfffcpHcNgpBh20f/+7/+iUqkIDg5WOorJ9OvXj+zsbAICAqivr1c6jlBAfX09RUVFjB49WukoBiPFsAsOHTrEt99+S1xcnNJRTM7JyYm9e/fym9/8RgqiDSoqKiI0NFTpGAYlxbAL4uPj+c1vfqN0DMXY2dnx7rvvMn78eOrqLOuI3qJrcnNzrWbPkyYqjTUcr1sB6enpuLm58ctf/lLpKGZh7Nix7N69G3t7e6WjCBMYN24cn3/+Od26dVM6isFIy/A2/Pjjj3z22WdSCHV88cUXPProo1ZxLgzRvr179xIWFmZVhRCkGN6W1atX88ILLygdw+zs3LmTxx9/XOkYwsg2btzIY489pnQMg5Ni2EmlpaVcvHiRRx99VOkoZqdnz55kZmYyY8YMpaMII/nxxx85c+YM/v7+SkcxOCmGnbRp0yarm0UzJE9PT5KSknj22WeVjiKM4LPPPmPu3LlKxzAKKYadUF9fz/79+5k6darSUczafffdR0xMDMuWLVM6ijCgS5cusXHjRqttDEgx7ARr2+LemEaPHo2vry/JyclKRxEG8t577zFv3jylYxiNFMNO+Prrrxk7dqzSMSzGzJkz0Wg0ZGVlKR1FdNHFixf58ccfmTVrltJRjKbdYqjRyEX3cvjw99xzzzDFczRdjM0QGePjXyQ/v4D9+79S/PUyt9fXkiQlJREWFqZ0DKNq9xBeGg3U1poqivl75JFAPDyGUFOjdBKwswNjn3H06lVoaOj6el5/PZmPP/4Yb28fevXq1fUVmkC3btqLgIKCgubz+Vgz6SZ3wuXLl61uQ1NTCQoKsrjTIAit9957j//3//6f0jGMTophJ8keFrend+/ePPjgg+zevVvpKKIT/vSnP/HEE0/g6uqqdBSjk2LYCU5OTly9erWde5wjJ96PwNQDJstkSYYPH87169c5cuSI0lFEB+Tl5VFdXc0TTzyhdBST6MRh/w+QGhiF7rygf0IuySFunXvEkhQCYzIJTysi1rdzi960qlQ/YpoC+S9lc3Ioxvz9cnFx4cKFCxYz7tVVVQUphMRntnufzr6PEyZMYNOmTXh5eeHo6HjzHSqziV8/mOTYEZ1MeyvnyImfQhLG/5xYgwsXLvCnP/3Jps6d3bGWYUkKgYFRlCXkkpdXpL1sXgpJUwiMz6ayM4/ocS9d3pGnMpv4QD8yhunkiTpEWGezdJKHhwfnz583/IpLUggMXESOMcPfBpcxcTde37xcEvyB8Ayd627vB238+PGo1epWbytZn0hhVroRXgs3vL0NvU7r9dRTT/Hhhx8qHcOkOlAMz5GTkQnhGfqtQNdQkjcvxb8wkfUlnXhE11CSb/NLpHWA1LBEaNkq9Y0jz8i/+IMGDZIungF4eHjQu3dvSktLW9xyAHVWBOHh+agLzxn8cX1ji4z+GbEGv/3tb1mxYgXu7u5KRzGpWxfDkg9IKoTw4Fa6La4BBPtDllo7RlaS6ndzS1G31VOSQmCgH4GBfqSW6P/d8hKf0/qXoTInnSwiiLpl97xx/K55nfotr5JU7dheSerNj1mZs+jGcjrjf2czQ0jZrCZ5se56U7j1b8EBUgPbyNI4bAD5JIW18twbW8GdezwTaXpvc3Tex9Q9bYybal+DpucWGBjI7t279SakKnPSyQqfRGxwBIXq/Jta+Xrvy03vT8v3u/Ez1vK25s+nNk9qSYvlbHy896WXXmL+/Pk2cT6flm5ZDCvLjgEBDPNo7dbGrkfZsY51T33jyEuL0P9bp8uVl5dBOID/UhJaLXbnKFTng/+9tBqn2QFSAxvHhxrXvTkBksJ0vyBAVhTq4BuP7Z00hdScbNazVHtdWgRkRekXpx8uYzfhr82Z08IziWmvi1uZTXyLIQa9LM2vSQAJm7W3N7d4S1IIDEvEO63opsc73d48jknlk5QEaU3vYew4/IMDIGuHftEu2XHTj1hgYCB5eXmNf2nf2/DgEeA7ifAWPY7KnEWEJQ2+8TiNn6PwYZ5UApU5iaiDdV/jALJimt4XN0KSG7v5LWTFJELCjaEf/5bvtw158cUXmTp1KsOHD1c6iiIMM5tceIhyA6ymJDWKLAJISOhaV0bbetRfj2vIUhJ0WrEA+C9lTnN3fQTB4ZClhjlNX1jfZ0jwh8LDp3WWmcFQpwYuXryovUtsBuG03a0rWZ9IYYshhlaz3EQ7POGfkKs3pND0eOXnzaYaEp4Wh+6oh2tINOFkotYpZiXqTAifpHe/e++9l9raWioqKhp7IBEE+8KN9+JGq69Qna+/vO8kwoGsw6dxBVxD3mrxGke3+7408U9YSkjzh0Tb09F7v21EfHw8oaGhjB8/XukoijHMSeQbW2pdKoglKcRktfhw3qbyw/ngvxR/vfXotmK7NlP5wKhR7Nixg5kzZwKeDPPXfikJ8WxxzwOoswCiCGxt99z2BvQr81EXQmHhFAKTbr7ZfD6yrfUatMUsRn2AWN8RNL0O4Wk3v+733XcfX331FQMOaselm4qdb3AExKSTM+etDn8etK3HfL3rbmuyruwYVYzAss+A3XHx8fFMnz7dKg/Y2hm3LIau3oOBTA6X08qHsvHLHj4YV7pQDCuziY9pZZLmJo0FLUvbElVqILx33774+vry9ddf8+CDA269QHgGebe5qUhbmy/ZmfkWonrFrHwHWf5L2dzKpJm3tzf7d2ewpo0fDXXhOUJC3LRd76QdlMSO0BbMkh1kcWMsW7uZlXaoQfs51W4KVmbMJ2kF/vrXvzJjxgzGjRundBTF3for1dhVzMpoZbOVFh/I23OOnKRECokgrQMFwzc4Asgko51xHY9hAVC4g0K9wOcoKwO8BxukiN5///1cunSJg1/+H+pC8B/WslUITa3GDo+p6nIdjDcW3GXzfYYEf203tUSdiX9wQJuvu8uxbIp59MZ4YPP4KM0TKdqhhUximiY69LZV1f4o6/UqGj+bonVVVVWEhYUxbtw4KYSNOtC+cCMkKgIKE0lqOcvZ2JprGtO6uQgdIDWm/Y12K3MStbPVLcad2uQbp/2SJE1pZdZVO9PaNF6UtP7GmJz2cQJImNPFjXl1xkcfe+w+Pl2bTiGTGycGmlquTZMHboQkaDc/CtOdpazMJl73b4978b9pfGsEsa1N4JSkWMgAv7Y1V6hOJCMrgGD/tlr8Byj5BBg9Es8W23D6Bms/d+tL0I4p6kyI6W/jqP3RufHDcYDUDAi30fG/WykqKiIsLIx33nmHgIAApeOYjY6NGfrGkZc3idTAFuNXLbp/riFvkXbYj5gwP7R3iyAtLYKsmGOtr7ckpXmMJyvGT/+XvJ2upW9sEXnBKQTG6OfxT1gKJYDvCGLzMiBQt9sVQMLmjo8/tcn/GBmBfhQ2XxHB3Jfvo8+JEzBwIL6xuSSUTSEm8Fjj44WSvBniw/S7gOEJudoWD4BrKAkJOwhLano+EaTlxeHrG0deGi2eZwDhaV18Dibi6j8J/6TGCaQ2XnftZBcEjRvF4cOHGT169I0bfScRTiZZ6gPEBgOFiYQFJuotr20dan901M2vcePrVwJZnRx3tHbr16/niy++4LPPPlM6itlp97zJDQ1tH8KrabD6tnbJs1AlqX7ElLW+O1dubi7Dhw9n8ODBJsliikN41dZ29RBe2nE7OrDLXm1tLf/85z87dX6NG5vbdLBX0QnWeAivpUuX4urqSmxsrNJRzNJtD8O7hrxFXl4uweopssEqMGXKFE6ePMn+/fuVjmI2mjaQD+5AperZsyf9+/fnxx9/bGNl2aS2GB4oP5zf+n2FnjNnzrB48WICAgKkELaji5vWuBGSXESIYbJYvEcffZR9+/bxxRdf2PbpASqziQ9LpNB/KZvzOr7N6PDhwzl58iR33XXXTbeVrE8kKwuydIdpOrl+W5SVlcW6det48803GTJkiNJxzFq73WSNBurqTBnHOuzfv5//+7//Iz4+nr59+xrlMVQqcDDMVqJtqqsz7eHvr127RlxcHG+99ZbpHrQNdnZgb690ittXW1vLSy+9hLe3N/Hx8UrHsQjtfp1UKusbNzGF0aMfZsCAO4mKeooXX3zRYrfqN3axbalbt+5oNNcoKSlm5MiRpn1wK/Lpp5/yxz/+kb/85S/6E1KiXWa+6a7lGjhwINu2baO4uJg//OEPSsexGKNHj+bLL79UOobF+v3vf8+uXbvYtWuXFMJOkmJoZC+88AKPPvooQUFB7Nu3T+k4Zi8gIIDTp2XbwM765JNPeP755xk/fjx//OMflY5jkdodMxSGU1NTw6pVq7h+/bq0FNtRX1/PY489xhdffKF0FItw4sQJkpKScHV15dVXX6VHjx5KR7JY0jI0EUdHRxISEhg1ahRjx47l888/VzqSWbK3t+fuu+/m8OHDSkcxe2lpabzwwgtERUXx2muvSSHsIimGJjZ16lR2797N119/zaJFi6RL2Irhw4dz8OBBpWOYrd27dxMSEoKjoyMfffQRfn5+SkeyCiaeLxSgbf0sXryYwsJCYmJieOKJJ3juueeUjmU2RowYwZkzZ5SOYXZOnDjBxo0bKS8vZ/369fTrZysHGTMNaRkqyN/fny1bttCjRw8mTpxIbm6u0pHMQr9+/aRlqOP69eskJyc3T8YlJydLITQCKYZmYM6cOXz00UcUFBQQFRXFt99+q3QkRXl6esrwQaN169bx+OOPM3jwYD766CM5yowRSTfZTPTu3Ztly5bx3XffkZGRgb29Pc8//zwDBw5UOprJDRw4kNq2jhBiI3Jzc3nzzTeZNm0ae/bsUTqOTZBNa8zUzp07efvtt5k0aRKzZ8+md+/eSkcyqaCgIHJyclo/0bwVy8/PJycnB5VKxQsvvCDdYROSlqGZCgoKai4ITz75JE888QQxMTE4mHofOYX07duXixcv2kwxLCoqYs2aNTg5ObFw4UKbPFWn0mzjm2XBQkJCCAkJ4cMPP+Spp55iwoQJREdHKx3L6FxcXLh06RIeHu2fFNbSffPNN6xZswaARYsW8cADDyicyHZJMbQQTz31FE899RR/+9vfGDNmDPPmzWPevHlKxzKa/v37c/nyZaVjGM3BgwdZs2YN1dXVzJ8/X7YVNAMym2xhfvWrX1FQUADA448/ztq1a6mzwuOs1dXVcfWq+Zwb2lC++eYbFi9ezIcffsjMmTNZu3atFEIzIS1DC9XUMnzvvfcYP348zz33HHPmzKGnsc8FYCIuLi5cu3ZN6RgGs2/fPjIyMrh69SrPPfecbCJjhqRlaOHmzZvH3r17cXJyYsqUKbz55ptcunSpw8ufOnXKiOluX11dnVW0eIuKipg/fz5/+9vfePbZZ1m7dq0UQjMlxdBKzJ49m507d+Lu7k50dDRJSUkdKnReXl4kJyebIKFtUavVPPPMM6jVamJiYli9erV0h82cdJOtTGRkJJGRkWzZsoVXX30VLy8v5s6dy/Dhw9tc5tChQxQVFZnVl7Vfv37YW+Bx97Ozs/nggw+49957SUhIaPd1F+ZFiqGVmjFjBjNmzECtVpOUlISPjw+TJk1qteAFBQWRmJjIhg0bcHFxUSDtzc6fP099fb3SMTosMzOTXbt2MXDgQFauXMmgQYOUjiQ6SbrJVi44OJgPPviAyZMn8/e//52oqKibjqU4atQoTp8+3by9m+iY2tpa1q5dy7hx4zhz5gzLly/n97//vRRCCyXF0EaMGjWKt99+mxdffJFPPvmEmTNnkp2dDYCPjw/Ozs5s3LiRoqIihZOav3PnzrFy5UomT56MSqXi888/Z/HixUY7E6IwDSmGNub+++9n+fLlpKSk8PXXXzNlyhQ2bNjAqFGjAEhMTKSqqkrhlObp2LFjvPbaazzzzDN4enqya9cu5s2bRzc5haRVkAM12LiffvqJdevWsWHDhuYxutmzZ990rt0j31RzvvwaV6pMM463b98+PD098fLyMvpjde+pwtHJHrcBPRg4rNdNt3/77bf84x//4Mcff2Tu3LlMnTrV6JmE6UkxtGFVVVVs27aNDRs23HT8wDfeeIPg4GAuX6zjo7dP0s+jB3d49sShm0qhtMbj0N2OC2evUn+tAU1DA5PnaveHLigoYN26dVy9epW5c+cSFBSkcFJhTFIMbVBVVRWZmZls2LCB6upqvducnZ254447OHfuHNu2qNmx/iz+U/vj3Nc2uoKHii5y8Uwtfe89xsaNmcydO7d5CEFYNymGNmbnzp0UFRU1b0LT9EX38vK6qUv6vyuP4z+tPy79ups8p5L+m/8TmoZaHnvCU+kowoSkGIpWnT5aw56PK5nwlO0dabumuo5PM44TtWyI0lGECclssmjV+fLruA+yjQOrtuTo7IBz325cuWQ5G32LrpNiKFpVe9m2C0HtlQauX2tQOoYwISmGQgiBFEMhhACkGAohBCDFUAghACmGwoJVbJ+Bj89yipUOIqyCFENx27TFSNXiIsVJWCYphqKLprNij4bSUu1lz4oCZvnMYHuFMmmktShulxRDYVDu/rMJZivbC8uVjiJEp0gxFEYxcoBH8/+L0/W70gu36xTK4uX63eyFG6kAqNjIQh8V6XpNvHK2L1Thk17Q6mNWbJ/BuCVbgQRmNa6vafl2MwiBnANFGFQ525dGoCaJ6JGNfy/0ZAmZ7CmdjTtoi9w4T3xO5lMaDemzEghecZrVUz3aX3UHuE/dwh5mMG7JGDaVvszIphuKlzMrZTor9mxhqnuXH0ZYKWkZii7aypJxTS0uT5aMzKe0qRAV/50l6iQ2rW4shADus0lcMR1SdjaP66lPHjNJzpMnTfAwwmJJMRRd1DSBkk8cQPExmuZOigsT0O2yNl20XVmAMURvSoKUAONOeox8mU1xkDKr7S62EFIMhYE0FjZ1BEv1xuOS2FR6Y7b5xqWx9TjyZZ1ZaOMVq5HRGkpLT7OiOEBvLFGIJlIMheE0tsDUS/5OMTBgwHSggJMd2MzGfeoWShtbicYrVB5MXa1pbCUu56qxHkZYJCmGwqBGhmUSTAKz0gtwn/ouK4K3smScbhe4nO0LO9Aldh/MSCCl8EZLsWL7Apaode4yYAyQQGFx+9cJ0REymywMy302iSs2ol4SwMIBp1m9+jQs9GSWT8KN+8RlsqcCcC8g3SeAFJ3Fg1ecbpyJHkP0nkyKxwXgk9J0W762uDbdeeTL7FlRwLhZKoqbZqRHvsymuARmzVJp1xucyZ7oY4ybpfP4TGfFnpfpYbQXQVgiOey/aNW+z36i6lIDI8a7Kh1FEf9aU8YT0Z70cbONE2EJ6SYLIQQgxVAIIQAphkIIAUgxFEIIQIqhEEIAUgxFG7o7qrCzt92Ph1Mfexy62e7zt0XybotW9evfg7NlV5SOoYjaK/VcOHsNpz72SkcRJiTFULTKa6gjDXUNNnky+ZOHLjP8ERelYwgTk2IoWqVSwcQ5/cnfUk7dtQal45hM2XfVnDpczdhpbkpHESYme6CIdl2ouMb/rjzOkBG9ucOjBw7dre/3087Bjotnr1J3tZ6qymuERnuhUimdSpiaFEPRId/lX6LyzDWqfrqudBSD6+lkTy8ne9wG9uCeB52VjiMUIsVQCCGQMUMhhACkGAohBCDFUAghACmGQggBSDEUQghAiqEQQgBSDIUQApBiKIQQgBRDIYQApBgKIQQgxVAIIQAphkIIAUgxFEIIAP4/B+BHOgr7WVIAAAAASUVORK5CYII=">
            <a:extLst>
              <a:ext uri="{FF2B5EF4-FFF2-40B4-BE49-F238E27FC236}">
                <a16:creationId xmlns:a16="http://schemas.microsoft.com/office/drawing/2014/main" id="{BC439581-6CC0-7666-30C2-D328C2FAE65E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39128" y="1920382"/>
            <a:ext cx="4660256" cy="461486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E45DE-08F2-F7A5-F9EF-191F8EBFF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5FC20-50BD-5C72-F561-C117A4D88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40" y="9599"/>
            <a:ext cx="11222734" cy="1160833"/>
          </a:xfrm>
        </p:spPr>
        <p:txBody>
          <a:bodyPr>
            <a:noAutofit/>
          </a:bodyPr>
          <a:lstStyle/>
          <a:p>
            <a:r>
              <a:rPr lang="en-GB" sz="4400" noProof="0" dirty="0"/>
              <a:t>Example Multi-Screen Navigation</a:t>
            </a:r>
            <a:endParaRPr lang="en-GB" sz="40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A96A9A-A8BF-5590-D7FC-A7D6E5BB8BCE}"/>
              </a:ext>
            </a:extLst>
          </p:cNvPr>
          <p:cNvSpPr txBox="1"/>
          <p:nvPr/>
        </p:nvSpPr>
        <p:spPr>
          <a:xfrm>
            <a:off x="679840" y="1243726"/>
            <a:ext cx="111099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Scenario: 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 quiz manager system with three screens: login, quiz, results.</a:t>
            </a:r>
            <a:b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 code:</a:t>
            </a:r>
            <a:endParaRPr lang="en-GB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4EFAED-6656-24BE-592B-B9A70A381770}"/>
              </a:ext>
            </a:extLst>
          </p:cNvPr>
          <p:cNvSpPr txBox="1"/>
          <p:nvPr/>
        </p:nvSpPr>
        <p:spPr>
          <a:xfrm>
            <a:off x="941832" y="2183628"/>
            <a:ext cx="10960742" cy="34163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java.awt.CardLayout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javax.swing.JPanel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endParaRPr lang="en-GB" b="1" dirty="0">
              <a:solidFill>
                <a:srgbClr val="007020"/>
              </a:solidFill>
              <a:latin typeface="Courier"/>
            </a:endParaRPr>
          </a:p>
          <a:p>
            <a:r>
              <a:rPr lang="en-GB" dirty="0" err="1">
                <a:solidFill>
                  <a:srgbClr val="008000"/>
                </a:solidFill>
                <a:latin typeface="Courier"/>
              </a:rPr>
              <a:t>CardLayout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CardLayout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dirty="0"/>
            </a:b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 err="1">
                <a:latin typeface="Courier"/>
              </a:rPr>
              <a:t>mainPanel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LoginPanel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cardLayout,mainPanel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"Login"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 err="1">
                <a:latin typeface="Courier"/>
              </a:rPr>
              <a:t>mainPanel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QuizPanel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cardLayout,mainPanel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"Quiz"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 err="1">
                <a:latin typeface="Courier"/>
              </a:rPr>
              <a:t>mainPanel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ResultsPanel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cardLayout,mainPanel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"Results"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endParaRPr lang="en-GB" dirty="0"/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//we switch to the Login view</a:t>
            </a:r>
            <a:br>
              <a:rPr lang="en-GB" dirty="0"/>
            </a:br>
            <a:r>
              <a:rPr lang="en-GB" dirty="0" err="1">
                <a:latin typeface="Courier"/>
              </a:rPr>
              <a:t>cardLayout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"Login"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3AD518-ED4C-84E7-A5E3-4812F913689D}"/>
              </a:ext>
            </a:extLst>
          </p:cNvPr>
          <p:cNvSpPr txBox="1"/>
          <p:nvPr/>
        </p:nvSpPr>
        <p:spPr>
          <a:xfrm>
            <a:off x="679840" y="5708853"/>
            <a:ext cx="10789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For the example to work: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We would need to add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mainPanel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to a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JFrame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and use the frame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setVisible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We would need to have defined each of the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JPanels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separately and switch the view as needed</a:t>
            </a:r>
          </a:p>
        </p:txBody>
      </p:sp>
    </p:spTree>
    <p:extLst>
      <p:ext uri="{BB962C8B-B14F-4D97-AF65-F5344CB8AC3E}">
        <p14:creationId xmlns:p14="http://schemas.microsoft.com/office/powerpoint/2010/main" val="3933395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6581" y="206461"/>
            <a:ext cx="8010887" cy="1162051"/>
          </a:xfrm>
        </p:spPr>
        <p:txBody>
          <a:bodyPr>
            <a:normAutofit/>
          </a:bodyPr>
          <a:lstStyle/>
          <a:p>
            <a:r>
              <a:rPr lang="en-GB" sz="4400" noProof="0" dirty="0"/>
              <a:t>Styling GUIs with CSS (</a:t>
            </a:r>
            <a:r>
              <a:rPr lang="en-GB" sz="4400" noProof="0" dirty="0" err="1">
                <a:latin typeface="Courier"/>
              </a:rPr>
              <a:t>javafx</a:t>
            </a:r>
            <a:r>
              <a:rPr lang="en-GB" sz="4400" noProof="0" dirty="0"/>
              <a:t>)</a:t>
            </a:r>
          </a:p>
        </p:txBody>
      </p:sp>
      <p:sp>
        <p:nvSpPr>
          <p:cNvPr id="5" name="TextBox 3"/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18DF11-B98D-251C-1F52-145B64676560}"/>
              </a:ext>
            </a:extLst>
          </p:cNvPr>
          <p:cNvSpPr txBox="1"/>
          <p:nvPr/>
        </p:nvSpPr>
        <p:spPr>
          <a:xfrm>
            <a:off x="736600" y="1794663"/>
            <a:ext cx="68072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Why Style GUIs?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Enhance visual appeal.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Improve usability and branding.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141DC6-3B88-12A9-3694-0FCB1DCE116A}"/>
              </a:ext>
            </a:extLst>
          </p:cNvPr>
          <p:cNvSpPr txBox="1"/>
          <p:nvPr/>
        </p:nvSpPr>
        <p:spPr>
          <a:xfrm>
            <a:off x="736600" y="3605809"/>
            <a:ext cx="116078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ptos Body"/>
              </a:rPr>
              <a:t>Adding CSS</a:t>
            </a:r>
            <a:b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ptos Body"/>
              </a:rPr>
            </a:b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ptos Body"/>
              </a:rPr>
              <a:t>1. Create a .</a:t>
            </a:r>
            <a:r>
              <a:rPr lang="en-GB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ptos Body"/>
              </a:rPr>
              <a:t>css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ptos Body"/>
              </a:rPr>
              <a:t> file (e.g. “styles.css”)</a:t>
            </a:r>
          </a:p>
          <a:p>
            <a:pPr marL="342900" lvl="0" indent="-342900">
              <a:buAutoNum type="arabicPeriod" startAt="2"/>
            </a:pP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ptos Body"/>
              </a:rPr>
              <a:t>Apply the stylesheet in JavaFX</a:t>
            </a:r>
          </a:p>
          <a:p>
            <a:r>
              <a:rPr lang="en-GB" sz="2800" dirty="0">
                <a:latin typeface="Courier"/>
              </a:rPr>
              <a:t>  Scene </a:t>
            </a:r>
            <a:r>
              <a:rPr lang="en-GB" sz="2800" dirty="0" err="1">
                <a:latin typeface="Courier"/>
              </a:rPr>
              <a:t>scene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800" dirty="0">
                <a:latin typeface="Courier"/>
              </a:rPr>
              <a:t> </a:t>
            </a:r>
            <a:r>
              <a:rPr lang="en-GB" sz="28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800" dirty="0">
                <a:latin typeface="Courier"/>
              </a:rPr>
              <a:t> </a:t>
            </a:r>
            <a:r>
              <a:rPr lang="en-GB" sz="2800" dirty="0">
                <a:solidFill>
                  <a:srgbClr val="06287E"/>
                </a:solidFill>
                <a:latin typeface="Courier"/>
              </a:rPr>
              <a:t>Scene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latin typeface="Courier"/>
              </a:rPr>
              <a:t>root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800" dirty="0"/>
            </a:br>
            <a:r>
              <a:rPr lang="en-GB" sz="2800" dirty="0"/>
              <a:t>      </a:t>
            </a:r>
            <a:r>
              <a:rPr lang="en-GB" sz="2800" dirty="0" err="1">
                <a:latin typeface="Courier"/>
              </a:rPr>
              <a:t>scene</a:t>
            </a:r>
            <a:r>
              <a:rPr lang="en-GB" sz="28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800" dirty="0" err="1">
                <a:solidFill>
                  <a:srgbClr val="06287E"/>
                </a:solidFill>
                <a:latin typeface="Courier"/>
              </a:rPr>
              <a:t>getStylesheets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().</a:t>
            </a:r>
            <a:r>
              <a:rPr lang="en-GB" sz="2800" dirty="0">
                <a:solidFill>
                  <a:srgbClr val="06287E"/>
                </a:solidFill>
                <a:latin typeface="Courier"/>
              </a:rPr>
              <a:t>add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800" dirty="0">
                <a:solidFill>
                  <a:srgbClr val="4070A0"/>
                </a:solidFill>
                <a:latin typeface="Courier"/>
              </a:rPr>
              <a:t>"styles.css"</a:t>
            </a:r>
            <a:r>
              <a:rPr lang="en-GB" sz="2800" dirty="0">
                <a:solidFill>
                  <a:srgbClr val="666666"/>
                </a:solidFill>
                <a:latin typeface="Courier"/>
              </a:rPr>
              <a:t>);</a:t>
            </a:r>
          </a:p>
          <a:p>
            <a:pPr marL="342900" lvl="0" indent="-342900">
              <a:buAutoNum type="arabicPeriod" startAt="2"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  <a:latin typeface="Aptos Body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330AC-8794-68BE-460B-73A1A6A89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3">
            <a:extLst>
              <a:ext uri="{FF2B5EF4-FFF2-40B4-BE49-F238E27FC236}">
                <a16:creationId xmlns:a16="http://schemas.microsoft.com/office/drawing/2014/main" id="{1AC302A1-C575-A135-131F-F63B2B88D6A7}"/>
              </a:ext>
            </a:extLst>
          </p:cNvPr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858FD-ACD3-B3E4-0907-2D47D958B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33" y="74967"/>
            <a:ext cx="10681398" cy="6708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43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DB3F-D197-4C9D-4898-7291A518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9F877-5FF2-82AE-8B7D-FB651F746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60"/>
            <a:ext cx="10920984" cy="6192408"/>
          </a:xfrm>
        </p:spPr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b="1" dirty="0"/>
              <a:t>Styling the </a:t>
            </a:r>
            <a:r>
              <a:rPr b="1" dirty="0"/>
              <a:t>GUI Example</a:t>
            </a:r>
            <a:r>
              <a:rPr lang="en-GB" b="1" dirty="0"/>
              <a:t> using JavaFX from week5.ppt</a:t>
            </a:r>
            <a:endParaRPr lang="en-GB" dirty="0"/>
          </a:p>
          <a:p>
            <a:pPr marL="0" lvl="0" indent="0">
              <a:spcBef>
                <a:spcPts val="3000"/>
              </a:spcBef>
              <a:buNone/>
            </a:pPr>
            <a:r>
              <a:rPr lang="en-GB" sz="20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000" b="1" dirty="0" err="1">
                <a:solidFill>
                  <a:srgbClr val="007020"/>
                </a:solidFill>
                <a:latin typeface="Courier"/>
              </a:rPr>
              <a:t>javafx.application.Application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000" b="1" dirty="0">
                <a:solidFill>
                  <a:srgbClr val="007020"/>
                </a:solidFill>
                <a:latin typeface="Courier"/>
              </a:rPr>
            </a:br>
            <a:r>
              <a:rPr lang="en-GB" sz="20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000" b="1" dirty="0" err="1">
                <a:solidFill>
                  <a:srgbClr val="007020"/>
                </a:solidFill>
                <a:latin typeface="Courier"/>
              </a:rPr>
              <a:t>javafx.scene.Scene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000" b="1" dirty="0">
                <a:solidFill>
                  <a:srgbClr val="007020"/>
                </a:solidFill>
                <a:latin typeface="Courier"/>
              </a:rPr>
            </a:br>
            <a:r>
              <a:rPr lang="en-GB" sz="20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000" b="1" dirty="0" err="1">
                <a:solidFill>
                  <a:srgbClr val="007020"/>
                </a:solidFill>
                <a:latin typeface="Courier"/>
              </a:rPr>
              <a:t>javafx.scene.control.Button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000" b="1" dirty="0">
                <a:solidFill>
                  <a:srgbClr val="007020"/>
                </a:solidFill>
                <a:latin typeface="Courier"/>
              </a:rPr>
            </a:br>
            <a:r>
              <a:rPr lang="en-GB" sz="20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000" b="1" dirty="0" err="1">
                <a:solidFill>
                  <a:srgbClr val="007020"/>
                </a:solidFill>
                <a:latin typeface="Courier"/>
              </a:rPr>
              <a:t>javafx.scene.control.Label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000" b="1" dirty="0">
                <a:solidFill>
                  <a:srgbClr val="007020"/>
                </a:solidFill>
                <a:latin typeface="Courier"/>
              </a:rPr>
            </a:br>
            <a:r>
              <a:rPr lang="en-GB" sz="20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000" b="1" dirty="0" err="1">
                <a:solidFill>
                  <a:srgbClr val="007020"/>
                </a:solidFill>
                <a:latin typeface="Courier"/>
              </a:rPr>
              <a:t>javafx.scene.layout.VBox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  <a:br>
              <a:rPr lang="en-GB" sz="2000" b="1" dirty="0">
                <a:solidFill>
                  <a:srgbClr val="007020"/>
                </a:solidFill>
                <a:latin typeface="Courier"/>
              </a:rPr>
            </a:br>
            <a:r>
              <a:rPr lang="en-GB" sz="2000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sz="2000" b="1" dirty="0" err="1">
                <a:solidFill>
                  <a:srgbClr val="007020"/>
                </a:solidFill>
                <a:latin typeface="Courier"/>
              </a:rPr>
              <a:t>javafx.stage.Stage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GB" sz="20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class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GraphicalInterface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extends</a:t>
            </a:r>
            <a:r>
              <a:rPr lang="en-GB" sz="2000" dirty="0">
                <a:latin typeface="Courier"/>
              </a:rPr>
              <a:t> Application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</a:t>
            </a:r>
            <a:r>
              <a:rPr lang="en-GB" sz="2000" dirty="0">
                <a:solidFill>
                  <a:srgbClr val="7D9029"/>
                </a:solidFill>
                <a:latin typeface="Courier"/>
              </a:rPr>
              <a:t>@Override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06287E"/>
                </a:solidFill>
                <a:latin typeface="Courier"/>
              </a:rPr>
              <a:t>start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latin typeface="Courier"/>
              </a:rPr>
              <a:t>Stage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primaryStage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    </a:t>
            </a:r>
            <a:r>
              <a:rPr lang="en-GB" sz="2000" dirty="0">
                <a:solidFill>
                  <a:srgbClr val="008000"/>
                </a:solidFill>
                <a:highlight>
                  <a:srgbClr val="00FF00"/>
                </a:highlight>
                <a:latin typeface="Courier"/>
              </a:rPr>
              <a:t>Label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label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008000"/>
                </a:solidFill>
                <a:latin typeface="Courier"/>
              </a:rPr>
              <a:t>Label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"Welcome to the Quiz Manager!"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    </a:t>
            </a:r>
            <a:r>
              <a:rPr lang="en-GB" sz="2000" dirty="0">
                <a:solidFill>
                  <a:srgbClr val="008000"/>
                </a:solidFill>
                <a:highlight>
                  <a:srgbClr val="00FF00"/>
                </a:highlight>
                <a:latin typeface="Courier"/>
              </a:rPr>
              <a:t>Button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startButton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008000"/>
                </a:solidFill>
                <a:latin typeface="Courier"/>
              </a:rPr>
              <a:t>Button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"Start Quiz"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startButton</a:t>
            </a:r>
            <a:r>
              <a:rPr lang="en-GB"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setOnAction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latin typeface="Courier"/>
              </a:rPr>
              <a:t>e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-&gt;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startButton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.setText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"Quiz Started"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));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>
                <a:latin typeface="Courier"/>
              </a:rPr>
              <a:t>        </a:t>
            </a:r>
            <a:r>
              <a:rPr lang="en-GB" sz="2000" dirty="0" err="1">
                <a:highlight>
                  <a:srgbClr val="00FF00"/>
                </a:highlight>
                <a:latin typeface="Courier"/>
              </a:rPr>
              <a:t>VBox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chemeClr val="tx1"/>
                </a:solidFill>
                <a:latin typeface="Courier"/>
              </a:rPr>
              <a:t>layout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VBox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rgbClr val="40A070"/>
                </a:solidFill>
                <a:latin typeface="Courier"/>
              </a:rPr>
              <a:t>10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chemeClr val="tx1"/>
                </a:solidFill>
                <a:latin typeface="Courier"/>
              </a:rPr>
              <a:t>label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startButton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    Scene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scene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06287E"/>
                </a:solidFill>
                <a:latin typeface="Courier"/>
              </a:rPr>
              <a:t>Scene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chemeClr val="tx1"/>
                </a:solidFill>
                <a:latin typeface="Courier"/>
              </a:rPr>
              <a:t>layout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40A070"/>
                </a:solidFill>
                <a:latin typeface="Courier"/>
              </a:rPr>
              <a:t>300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40A070"/>
                </a:solidFill>
                <a:latin typeface="Courier"/>
              </a:rPr>
              <a:t>200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GB" sz="2000" dirty="0"/>
              <a:t>                        </a:t>
            </a:r>
            <a:r>
              <a:rPr lang="en-GB" sz="2000" dirty="0" err="1">
                <a:solidFill>
                  <a:schemeClr val="tx1"/>
                </a:solidFill>
                <a:highlight>
                  <a:srgbClr val="FFFF00"/>
                </a:highlight>
                <a:latin typeface="Courier"/>
              </a:rPr>
              <a:t>scene</a:t>
            </a:r>
            <a:r>
              <a:rPr lang="en-GB" sz="2000"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.</a:t>
            </a:r>
            <a:r>
              <a:rPr lang="en-GB" sz="2100" dirty="0" err="1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getStylesheets</a:t>
            </a:r>
            <a:r>
              <a:rPr lang="en-GB" sz="2100" dirty="0">
                <a:solidFill>
                  <a:srgbClr val="06287E"/>
                </a:solidFill>
                <a:highlight>
                  <a:srgbClr val="FFFF00"/>
                </a:highlight>
                <a:latin typeface="Courier"/>
              </a:rPr>
              <a:t>().add("styles.css");</a:t>
            </a:r>
          </a:p>
          <a:p>
            <a:pPr marL="0" indent="0">
              <a:lnSpc>
                <a:spcPts val="1425"/>
              </a:lnSpc>
              <a:buNone/>
            </a:pPr>
            <a:r>
              <a:rPr lang="en-GB" sz="2000" dirty="0">
                <a:latin typeface="Courier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primaryStage</a:t>
            </a:r>
            <a:r>
              <a:rPr lang="en-GB"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setScene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chemeClr val="tx1"/>
                </a:solidFill>
                <a:latin typeface="Courier"/>
              </a:rPr>
              <a:t>scene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primaryStage</a:t>
            </a:r>
            <a:r>
              <a:rPr lang="en-GB"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setTitle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rgbClr val="4070A0"/>
                </a:solidFill>
                <a:latin typeface="Courier"/>
              </a:rPr>
              <a:t>"Quiz Manager"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    </a:t>
            </a:r>
            <a:r>
              <a:rPr lang="en-GB" sz="2000" dirty="0" err="1">
                <a:solidFill>
                  <a:schemeClr val="tx1"/>
                </a:solidFill>
                <a:latin typeface="Courier"/>
              </a:rPr>
              <a:t>primaryStage</a:t>
            </a:r>
            <a:r>
              <a:rPr lang="en-GB" sz="2000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sz="2000" dirty="0"/>
            </a:br>
            <a:br>
              <a:rPr lang="en-GB" sz="2000" dirty="0"/>
            </a:br>
            <a:r>
              <a:rPr lang="en-GB" sz="2000" dirty="0">
                <a:latin typeface="Courier"/>
              </a:rPr>
              <a:t>   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public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902000"/>
                </a:solidFill>
                <a:latin typeface="Courier"/>
              </a:rPr>
              <a:t>static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902000"/>
                </a:solidFill>
                <a:latin typeface="Courier"/>
              </a:rPr>
              <a:t>void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06287E"/>
                </a:solidFill>
                <a:latin typeface="Courier"/>
              </a:rPr>
              <a:t>main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[]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args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    </a:t>
            </a:r>
            <a:r>
              <a:rPr lang="en-GB" sz="2000" dirty="0">
                <a:solidFill>
                  <a:srgbClr val="06287E"/>
                </a:solidFill>
                <a:latin typeface="Courier"/>
              </a:rPr>
              <a:t>launch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sz="2000" dirty="0" err="1">
                <a:latin typeface="Courier"/>
              </a:rPr>
              <a:t>args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sz="2000" dirty="0"/>
            </a:br>
            <a:r>
              <a:rPr lang="en-GB" sz="2000" dirty="0">
                <a:latin typeface="Courier"/>
              </a:rPr>
              <a:t>   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}</a:t>
            </a:r>
            <a:br>
              <a:rPr lang="en-GB" sz="2000" dirty="0"/>
            </a:br>
            <a:r>
              <a:rPr lang="en-GB" sz="2000" dirty="0"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6868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4452A-E757-E14B-5974-0AB3AA0F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88AE-660A-A0D4-8A01-CB1AB50D6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9060"/>
            <a:ext cx="10920984" cy="6548940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lang="en-GB" b="1" dirty="0">
                <a:latin typeface="Courier"/>
              </a:rPr>
              <a:t>styles.css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endParaRPr lang="en-GB" sz="1400" b="0" dirty="0">
              <a:solidFill>
                <a:srgbClr val="D7BA7D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.root {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-background-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color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#f4f4f4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Light </a:t>
            </a:r>
            <a:r>
              <a:rPr lang="en-GB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gray</a:t>
            </a:r>
            <a:r>
              <a:rPr lang="en-GB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background */</a:t>
            </a:r>
            <a:endParaRPr lang="en-GB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-font-family: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"Arial"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}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endParaRPr lang="en-GB" sz="1400" b="1" dirty="0">
              <a:solidFill>
                <a:srgbClr val="007020"/>
              </a:solidFill>
              <a:latin typeface="Courier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.</a:t>
            </a:r>
            <a:r>
              <a:rPr lang="en-GB" sz="1400" b="1" dirty="0">
                <a:solidFill>
                  <a:srgbClr val="007020"/>
                </a:solidFill>
                <a:highlight>
                  <a:srgbClr val="00FF00"/>
                </a:highlight>
                <a:latin typeface="Courier"/>
              </a:rPr>
              <a:t>label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 {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-font-size: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18px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008000"/>
                </a:solidFill>
                <a:latin typeface="Courier"/>
              </a:rPr>
              <a:t>    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-font-weight: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 bold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008000"/>
                </a:solidFill>
                <a:latin typeface="Courier"/>
              </a:rPr>
              <a:t>    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-text-fill: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#333333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Dark </a:t>
            </a:r>
            <a:r>
              <a:rPr lang="en-GB" sz="14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gray</a:t>
            </a:r>
            <a:r>
              <a:rPr lang="en-GB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text */</a:t>
            </a:r>
            <a:endParaRPr lang="en-GB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-padding: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10px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}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endParaRPr lang="en-GB" sz="1400" b="1" dirty="0">
              <a:solidFill>
                <a:srgbClr val="007020"/>
              </a:solidFill>
              <a:latin typeface="Courier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.</a:t>
            </a:r>
            <a:r>
              <a:rPr lang="en-GB" sz="1400" b="1" dirty="0">
                <a:solidFill>
                  <a:srgbClr val="007020"/>
                </a:solidFill>
                <a:highlight>
                  <a:srgbClr val="00FF00"/>
                </a:highlight>
                <a:latin typeface="Courier"/>
              </a:rPr>
              <a:t>button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 {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-background-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color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: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 #0078D7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 </a:t>
            </a:r>
            <a:r>
              <a:rPr lang="en-GB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“True blue” */</a:t>
            </a:r>
            <a:endParaRPr lang="en-GB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-text-fill: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 white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 </a:t>
            </a:r>
            <a:r>
              <a:rPr lang="en-GB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White text */</a:t>
            </a:r>
            <a:endParaRPr lang="en-GB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-font-size: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14px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008000"/>
                </a:solidFill>
                <a:latin typeface="Courier"/>
              </a:rPr>
              <a:t>    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-font-weight: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 bold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008000"/>
                </a:solidFill>
                <a:latin typeface="Courier"/>
              </a:rPr>
              <a:t>    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-padding: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10px 20px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008000"/>
                </a:solidFill>
                <a:latin typeface="Courier"/>
              </a:rPr>
              <a:t>    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-border-radius: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5px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dirty="0">
                <a:solidFill>
                  <a:srgbClr val="008000"/>
                </a:solidFill>
                <a:latin typeface="Courier"/>
              </a:rPr>
              <a:t>    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-border-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color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#005A9E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}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endParaRPr lang="en-GB" sz="1400" b="1" dirty="0">
              <a:solidFill>
                <a:srgbClr val="007020"/>
              </a:solidFill>
              <a:latin typeface="Courier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.</a:t>
            </a:r>
            <a:r>
              <a:rPr lang="en-GB" sz="1400" b="1" dirty="0" err="1">
                <a:solidFill>
                  <a:srgbClr val="007020"/>
                </a:solidFill>
                <a:highlight>
                  <a:srgbClr val="00FF00"/>
                </a:highlight>
                <a:latin typeface="Courier"/>
              </a:rPr>
              <a:t>button:hover</a:t>
            </a:r>
            <a:r>
              <a:rPr lang="en-GB" sz="1400" b="1" dirty="0">
                <a:solidFill>
                  <a:srgbClr val="007020"/>
                </a:solidFill>
                <a:highlight>
                  <a:srgbClr val="00FF00"/>
                </a:highlight>
                <a:latin typeface="Courier"/>
              </a:rPr>
              <a:t> 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{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fx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-background-</a:t>
            </a:r>
            <a:r>
              <a:rPr lang="en-GB" sz="1400" dirty="0" err="1">
                <a:solidFill>
                  <a:srgbClr val="008000"/>
                </a:solidFill>
                <a:latin typeface="Courier"/>
              </a:rPr>
              <a:t>color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#005A9E</a:t>
            </a:r>
            <a:r>
              <a:rPr lang="en-GB" sz="1400" dirty="0">
                <a:solidFill>
                  <a:srgbClr val="008000"/>
                </a:solidFill>
                <a:latin typeface="Courier"/>
              </a:rPr>
              <a:t>; </a:t>
            </a:r>
            <a:r>
              <a:rPr lang="en-GB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/* Darker blue on hover */</a:t>
            </a:r>
            <a:endParaRPr lang="en-GB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}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endParaRPr lang="en-GB" sz="1400" b="1" dirty="0">
              <a:solidFill>
                <a:srgbClr val="007020"/>
              </a:solidFill>
              <a:latin typeface="Courier"/>
            </a:endParaRP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.</a:t>
            </a:r>
            <a:r>
              <a:rPr lang="en-GB" sz="1400" b="1" dirty="0" err="1">
                <a:solidFill>
                  <a:srgbClr val="007020"/>
                </a:solidFill>
                <a:highlight>
                  <a:srgbClr val="00FF00"/>
                </a:highlight>
                <a:latin typeface="Courier"/>
              </a:rPr>
              <a:t>vbox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 {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    -</a:t>
            </a:r>
            <a:r>
              <a:rPr lang="en-GB" sz="1400" b="1" dirty="0" err="1">
                <a:solidFill>
                  <a:srgbClr val="007020"/>
                </a:solidFill>
                <a:latin typeface="Courier"/>
              </a:rPr>
              <a:t>fx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-spacing: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15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    -</a:t>
            </a:r>
            <a:r>
              <a:rPr lang="en-GB" sz="1400" b="1" dirty="0" err="1">
                <a:solidFill>
                  <a:srgbClr val="007020"/>
                </a:solidFill>
                <a:latin typeface="Courier"/>
              </a:rPr>
              <a:t>fx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-padding: </a:t>
            </a:r>
            <a:r>
              <a:rPr lang="en-GB" sz="1400" dirty="0">
                <a:solidFill>
                  <a:srgbClr val="4070A0"/>
                </a:solidFill>
                <a:latin typeface="Courier"/>
              </a:rPr>
              <a:t>20px</a:t>
            </a:r>
            <a:r>
              <a:rPr lang="en-GB" sz="14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pPr>
              <a:lnSpc>
                <a:spcPts val="1425"/>
              </a:lnSpc>
              <a:spcBef>
                <a:spcPts val="0"/>
              </a:spcBef>
              <a:buNone/>
            </a:pPr>
            <a:r>
              <a:rPr lang="en-GB" sz="1400" b="1" dirty="0">
                <a:solidFill>
                  <a:srgbClr val="007020"/>
                </a:solidFill>
                <a:latin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155594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4B9E-2A3F-6121-306E-3258AED5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191E0-AFE7-802E-2412-C63FE60B5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81" y="206461"/>
            <a:ext cx="8010887" cy="1162051"/>
          </a:xfrm>
        </p:spPr>
        <p:txBody>
          <a:bodyPr>
            <a:normAutofit/>
          </a:bodyPr>
          <a:lstStyle/>
          <a:p>
            <a:r>
              <a:rPr lang="en-GB" sz="4400" noProof="0" dirty="0"/>
              <a:t>Result of Styling GUIs with CSS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931F1A3C-2332-4532-4F71-8D1325355F8A}"/>
              </a:ext>
            </a:extLst>
          </p:cNvPr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FEEF4-6FCF-C789-E705-B05AE13117F3}"/>
              </a:ext>
            </a:extLst>
          </p:cNvPr>
          <p:cNvSpPr txBox="1"/>
          <p:nvPr/>
        </p:nvSpPr>
        <p:spPr>
          <a:xfrm>
            <a:off x="736600" y="1794663"/>
            <a:ext cx="2453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Not using CSS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358E8D-9E58-2E36-C41D-1E775A9C1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600" y="2488339"/>
            <a:ext cx="4969256" cy="3657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04798A-1961-37C8-2D9A-8260F97696B4}"/>
              </a:ext>
            </a:extLst>
          </p:cNvPr>
          <p:cNvSpPr txBox="1"/>
          <p:nvPr/>
        </p:nvSpPr>
        <p:spPr>
          <a:xfrm>
            <a:off x="6548742" y="1794663"/>
            <a:ext cx="2453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Using CSS</a:t>
            </a: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9E4DB99-2265-FF44-8769-5553F4E668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742" y="2488339"/>
            <a:ext cx="5161422" cy="362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38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E9936-A529-5998-11BE-8944CBD16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C7671-21F4-243A-3590-868AB3D47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10955866" cy="1162051"/>
          </a:xfrm>
        </p:spPr>
        <p:txBody>
          <a:bodyPr>
            <a:normAutofit/>
          </a:bodyPr>
          <a:lstStyle/>
          <a:p>
            <a:r>
              <a:rPr lang="en-GB" sz="4400" dirty="0"/>
              <a:t>Adding Menus and Toolbars (</a:t>
            </a:r>
            <a:r>
              <a:rPr lang="en-GB" sz="4400" dirty="0" err="1">
                <a:latin typeface="Courier"/>
              </a:rPr>
              <a:t>javax.swing</a:t>
            </a:r>
            <a:r>
              <a:rPr lang="en-GB" sz="4400" dirty="0"/>
              <a:t>)</a:t>
            </a:r>
            <a:endParaRPr lang="en-GB" sz="4400" noProof="0" dirty="0">
              <a:latin typeface="Courie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4AF7B397-97D2-18A9-831E-4AE76033D693}"/>
              </a:ext>
            </a:extLst>
          </p:cNvPr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D87895-A055-2E3E-FEE2-1B144998FDB5}"/>
              </a:ext>
            </a:extLst>
          </p:cNvPr>
          <p:cNvSpPr txBox="1"/>
          <p:nvPr/>
        </p:nvSpPr>
        <p:spPr>
          <a:xfrm>
            <a:off x="609602" y="1623957"/>
            <a:ext cx="11089134" cy="527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Menus:</a:t>
            </a:r>
          </a:p>
          <a:p>
            <a:pPr marL="628650" marR="0" lvl="1" indent="-28575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JMenuBar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JMenu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and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JMenuItem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 Swing.</a:t>
            </a:r>
          </a:p>
          <a:p>
            <a:pPr marL="628650" lvl="1" indent="-285750" defTabSz="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 setting up a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MenuBar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with a File menu containing an Exit option:</a:t>
            </a:r>
          </a:p>
          <a:p>
            <a:pPr marL="1028700" marR="0" lvl="2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=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fileMenu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=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4070A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"File"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fileMenu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add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JMenuItem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4070A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"Exit"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add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fileMenu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frame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setJMenuBar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</a:t>
            </a:r>
          </a:p>
          <a:p>
            <a:pPr defTabSz="342900">
              <a:spcBef>
                <a:spcPct val="20000"/>
              </a:spcBef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Toolbars:</a:t>
            </a:r>
          </a:p>
          <a:p>
            <a:pPr marL="628650" marR="0" lvl="1" indent="-285750" defTabSz="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Provide quick access to common actions.</a:t>
            </a:r>
          </a:p>
          <a:p>
            <a:pPr marL="628650" marR="0" lvl="1" indent="-285750" defTabSz="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Example:</a:t>
            </a:r>
          </a:p>
          <a:p>
            <a:pPr marL="1028700" marR="0" lvl="2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JToolBar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toolbar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=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JToolBar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toolbar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add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JButton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4070A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"Save"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frame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add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toolbar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,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BorderLayout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NORTH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7762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C17A7-35EF-D0F1-D7FB-6E24E307B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27390-B85B-57BD-3BE6-CC3098D9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10035131" cy="1162051"/>
          </a:xfrm>
        </p:spPr>
        <p:txBody>
          <a:bodyPr>
            <a:normAutofit/>
          </a:bodyPr>
          <a:lstStyle/>
          <a:p>
            <a:r>
              <a:rPr lang="en-GB" sz="4400" dirty="0"/>
              <a:t>Adding Menus and Toolbars (</a:t>
            </a:r>
            <a:r>
              <a:rPr lang="en-GB" sz="4400" dirty="0" err="1">
                <a:latin typeface="Courier"/>
              </a:rPr>
              <a:t>javafx</a:t>
            </a:r>
            <a:r>
              <a:rPr lang="en-GB" sz="4400" dirty="0"/>
              <a:t>)</a:t>
            </a:r>
            <a:endParaRPr lang="en-GB" sz="4400" noProof="0" dirty="0">
              <a:latin typeface="Courie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A6C9CE2-4B01-F34E-451C-999AFEE9EEA8}"/>
              </a:ext>
            </a:extLst>
          </p:cNvPr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1A19A-D323-A475-190D-2430E125C8C0}"/>
              </a:ext>
            </a:extLst>
          </p:cNvPr>
          <p:cNvSpPr txBox="1"/>
          <p:nvPr/>
        </p:nvSpPr>
        <p:spPr>
          <a:xfrm>
            <a:off x="609602" y="1623957"/>
            <a:ext cx="11089134" cy="527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Menus:</a:t>
            </a:r>
          </a:p>
          <a:p>
            <a:pPr marL="628650" marR="0" lvl="1" indent="-28575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and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MenuItem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javafx.scene.control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628650" lvl="1" indent="-285750" defTabSz="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 setting up a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MenuBar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with a File menu containing an Exit option:</a:t>
            </a:r>
          </a:p>
          <a:p>
            <a:pPr marL="1028700" marR="0" lvl="2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=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fileMenu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=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4070A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"File"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fileMenu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.getItems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().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add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MenuItem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4070A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"Exit"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.getMenus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().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add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fileMenu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lang="en-GB" dirty="0" err="1">
                <a:solidFill>
                  <a:prstClr val="black"/>
                </a:solidFill>
                <a:latin typeface="Courier"/>
              </a:rPr>
              <a:t>borderpane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setTop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menuBar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 </a:t>
            </a:r>
          </a:p>
          <a:p>
            <a:pPr defTabSz="342900">
              <a:spcBef>
                <a:spcPct val="20000"/>
              </a:spcBef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Toolbars:</a:t>
            </a:r>
          </a:p>
          <a:p>
            <a:pPr marL="628650" marR="0" lvl="1" indent="-28575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ToolBar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from </a:t>
            </a:r>
            <a:r>
              <a:rPr lang="en-GB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javafx.scene.control</a:t>
            </a: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628650" marR="0" lvl="1" indent="-285750" defTabSz="342900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Example:</a:t>
            </a:r>
          </a:p>
          <a:p>
            <a:pPr marL="1028700" marR="0" lvl="2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ToolBar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toolbar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=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ToolBar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toolbar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.getItems.</a:t>
            </a:r>
            <a:r>
              <a:rPr kumimoji="0" lang="en-GB" b="0" i="0" u="none" strike="noStrike" kern="1200" cap="none" spc="0" normalizeH="0" baseline="0" noProof="0" dirty="0" err="1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add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new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Button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4070A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"Save"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));</a:t>
            </a:r>
            <a:b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lang="en-GB" dirty="0" err="1">
                <a:solidFill>
                  <a:prstClr val="black"/>
                </a:solidFill>
                <a:latin typeface="Courier"/>
              </a:rPr>
              <a:t>borderpane.setTop</a:t>
            </a:r>
            <a:r>
              <a:rPr lang="en-GB" dirty="0">
                <a:solidFill>
                  <a:prstClr val="black"/>
                </a:solidFill>
                <a:latin typeface="Courier"/>
              </a:rPr>
              <a:t>(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toolbar</a:t>
            </a:r>
            <a:r>
              <a:rPr kumimoji="0" lang="en-GB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379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EA746-0D04-209C-1B00-086CA7B0F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9229B-CAE3-460D-66DC-AF138D8E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0"/>
            <a:ext cx="10035131" cy="1162051"/>
          </a:xfrm>
        </p:spPr>
        <p:txBody>
          <a:bodyPr>
            <a:normAutofit/>
          </a:bodyPr>
          <a:lstStyle/>
          <a:p>
            <a:r>
              <a:rPr lang="en-GB" sz="4400" dirty="0"/>
              <a:t>Adding Dialogs (</a:t>
            </a:r>
            <a:r>
              <a:rPr lang="en-GB" sz="4400" dirty="0">
                <a:latin typeface="Courier"/>
              </a:rPr>
              <a:t>swing</a:t>
            </a:r>
            <a:r>
              <a:rPr lang="en-GB" sz="4400" dirty="0"/>
              <a:t> and </a:t>
            </a:r>
            <a:r>
              <a:rPr lang="en-GB" sz="4400" dirty="0" err="1">
                <a:latin typeface="Courier"/>
              </a:rPr>
              <a:t>javafx</a:t>
            </a:r>
            <a:r>
              <a:rPr lang="en-GB" sz="4400" dirty="0"/>
              <a:t>)</a:t>
            </a:r>
            <a:endParaRPr lang="en-GB" sz="4400" noProof="0" dirty="0">
              <a:latin typeface="Courie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711A9AB-D134-7572-2836-376DF12E9DB1}"/>
              </a:ext>
            </a:extLst>
          </p:cNvPr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0238E4-0943-B1D8-BBD0-6DA2C441BC16}"/>
              </a:ext>
            </a:extLst>
          </p:cNvPr>
          <p:cNvSpPr txBox="1"/>
          <p:nvPr/>
        </p:nvSpPr>
        <p:spPr>
          <a:xfrm>
            <a:off x="609602" y="1254842"/>
            <a:ext cx="11089134" cy="44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Dialogs: 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 for temporary popups or user input.</a:t>
            </a:r>
            <a:b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 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(using </a:t>
            </a:r>
            <a:r>
              <a:rPr lang="en-GB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javax.swing.JOptionPane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R="0" lvl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 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(using </a:t>
            </a:r>
            <a:r>
              <a:rPr lang="en-GB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javafx.scene.control.TextInputDialog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1D53F6-19D8-42F8-AF11-4D8C6D1AF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76" y="2210967"/>
            <a:ext cx="9715522" cy="2489966"/>
          </a:xfrm>
          <a:prstGeom prst="rect">
            <a:avLst/>
          </a:prstGeom>
        </p:spPr>
      </p:pic>
      <p:pic>
        <p:nvPicPr>
          <p:cNvPr id="9" name="Picture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D3D4D29-76B9-1149-6639-C25FB0841B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76" y="5308721"/>
            <a:ext cx="9715522" cy="138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031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049E5-43C2-8850-3315-06FE3D01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0ADEE-7A97-3727-92FA-C3D54AF1F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49"/>
            <a:ext cx="10035131" cy="1162051"/>
          </a:xfrm>
        </p:spPr>
        <p:txBody>
          <a:bodyPr>
            <a:normAutofit/>
          </a:bodyPr>
          <a:lstStyle/>
          <a:p>
            <a:r>
              <a:rPr lang="en-GB" sz="4400" dirty="0"/>
              <a:t>Adding Charts</a:t>
            </a:r>
            <a:endParaRPr lang="en-GB" sz="4400" noProof="0" dirty="0">
              <a:latin typeface="Courie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D27B71E-7DE7-102F-E17F-EB433D113865}"/>
              </a:ext>
            </a:extLst>
          </p:cNvPr>
          <p:cNvSpPr txBox="1"/>
          <p:nvPr/>
        </p:nvSpPr>
        <p:spPr>
          <a:xfrm>
            <a:off x="4758267" y="5435600"/>
            <a:ext cx="6807200" cy="677333"/>
          </a:xfrm>
          <a:prstGeom prst="rect">
            <a:avLst/>
          </a:prstGeom>
          <a:noFill/>
        </p:spPr>
        <p:txBody>
          <a:bodyPr/>
          <a:lstStyle/>
          <a:p>
            <a:pPr algn="ctr"/>
            <a:endParaRPr lang="en-GB" sz="24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6F23D-BF2D-AC7C-8BDB-6AE363ED05ED}"/>
              </a:ext>
            </a:extLst>
          </p:cNvPr>
          <p:cNvSpPr txBox="1"/>
          <p:nvPr/>
        </p:nvSpPr>
        <p:spPr>
          <a:xfrm>
            <a:off x="2234113" y="3584027"/>
            <a:ext cx="862147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Chart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574CA-310C-E211-36B3-C1AF6A176CC5}"/>
              </a:ext>
            </a:extLst>
          </p:cNvPr>
          <p:cNvSpPr txBox="1"/>
          <p:nvPr/>
        </p:nvSpPr>
        <p:spPr>
          <a:xfrm>
            <a:off x="3762466" y="2631052"/>
            <a:ext cx="113646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PieChart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A1719A-FB34-9702-5DF0-022239BFC00B}"/>
              </a:ext>
            </a:extLst>
          </p:cNvPr>
          <p:cNvSpPr txBox="1"/>
          <p:nvPr/>
        </p:nvSpPr>
        <p:spPr>
          <a:xfrm>
            <a:off x="4034608" y="4007479"/>
            <a:ext cx="113646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XYChart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1C70FC-0CA8-4C57-EB45-56CDEAFBF1D9}"/>
              </a:ext>
            </a:extLst>
          </p:cNvPr>
          <p:cNvSpPr txBox="1"/>
          <p:nvPr/>
        </p:nvSpPr>
        <p:spPr>
          <a:xfrm>
            <a:off x="6237264" y="2322781"/>
            <a:ext cx="1221989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AreaChart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372F2-5D26-F049-F25A-4BFB7F3D49AF}"/>
              </a:ext>
            </a:extLst>
          </p:cNvPr>
          <p:cNvSpPr txBox="1"/>
          <p:nvPr/>
        </p:nvSpPr>
        <p:spPr>
          <a:xfrm>
            <a:off x="6234731" y="2814091"/>
            <a:ext cx="122452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BarChart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1FA5C-0A65-7D82-6CF0-0CB483EA0A3F}"/>
              </a:ext>
            </a:extLst>
          </p:cNvPr>
          <p:cNvSpPr txBox="1"/>
          <p:nvPr/>
        </p:nvSpPr>
        <p:spPr>
          <a:xfrm>
            <a:off x="6234731" y="3305401"/>
            <a:ext cx="144223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BubbleChart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9A520-C1D9-C4A1-EBBF-9DC079DDFF36}"/>
              </a:ext>
            </a:extLst>
          </p:cNvPr>
          <p:cNvSpPr txBox="1"/>
          <p:nvPr/>
        </p:nvSpPr>
        <p:spPr>
          <a:xfrm>
            <a:off x="6234731" y="3791541"/>
            <a:ext cx="1224522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LineChart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C4FAAC-810C-7263-863A-157478C250B9}"/>
              </a:ext>
            </a:extLst>
          </p:cNvPr>
          <p:cNvSpPr txBox="1"/>
          <p:nvPr/>
        </p:nvSpPr>
        <p:spPr>
          <a:xfrm>
            <a:off x="6234731" y="4277681"/>
            <a:ext cx="150319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ScatterChart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73DD3B-27F4-FAAF-EA85-855A541A14FF}"/>
              </a:ext>
            </a:extLst>
          </p:cNvPr>
          <p:cNvSpPr txBox="1"/>
          <p:nvPr/>
        </p:nvSpPr>
        <p:spPr>
          <a:xfrm>
            <a:off x="6234731" y="4763821"/>
            <a:ext cx="202571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StackedAreaChart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485A94-703D-AA22-873A-CF562DA82ED1}"/>
              </a:ext>
            </a:extLst>
          </p:cNvPr>
          <p:cNvSpPr txBox="1"/>
          <p:nvPr/>
        </p:nvSpPr>
        <p:spPr>
          <a:xfrm>
            <a:off x="6234731" y="5250934"/>
            <a:ext cx="1929916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StackedBarChart</a:t>
            </a:r>
            <a:endParaRPr lang="en-GB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E05997-0146-F476-C23D-3380425ABE3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3096260" y="2815718"/>
            <a:ext cx="666206" cy="952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A54EEE-096F-2A2E-ED85-FB5BF193456E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3096260" y="3768693"/>
            <a:ext cx="938348" cy="423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7A2091B-4AE8-825F-60CE-09C25B67E97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5171074" y="2507447"/>
            <a:ext cx="1066190" cy="1684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05F3E8E-CAEC-F524-F583-98EBF6C78A95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5165142" y="2998757"/>
            <a:ext cx="1069589" cy="11933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DEA5CC-61BD-EBAF-49AF-C59DCA4DFA98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5171074" y="3490067"/>
            <a:ext cx="1063657" cy="7020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B741C19-7AA3-046E-F28E-80B78EEDE2CD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187118" y="3976207"/>
            <a:ext cx="1047613" cy="215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BC98C14-ABCE-7DD3-4B74-A459CD1C253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208964" y="4192145"/>
            <a:ext cx="1025767" cy="270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AD8EC18-125B-4515-DA18-23ADFF2D6F1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187118" y="4192145"/>
            <a:ext cx="1047613" cy="756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92D87EE-4163-D3BB-5DA5-C82C013D78A0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5171074" y="4192145"/>
            <a:ext cx="1063657" cy="1243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6014CC7-7639-6F97-4A0D-AACD46BFAAD8}"/>
              </a:ext>
            </a:extLst>
          </p:cNvPr>
          <p:cNvSpPr txBox="1"/>
          <p:nvPr/>
        </p:nvSpPr>
        <p:spPr>
          <a:xfrm>
            <a:off x="609602" y="1623957"/>
            <a:ext cx="110891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spcBef>
                <a:spcPct val="20000"/>
              </a:spcBef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Chart Objects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(</a:t>
            </a:r>
            <a:r>
              <a:rPr lang="en-GB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javafx.scene.chart</a:t>
            </a:r>
            <a:r>
              <a:rPr lang="en-GB" sz="2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r>
              <a:rPr lang="en-GB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Example:</a:t>
            </a:r>
            <a:r>
              <a:rPr lang="en-GB" sz="24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Bar chart for quiz statistics</a:t>
            </a:r>
          </a:p>
          <a:p>
            <a:pPr marL="342900" lvl="1" defTabSz="342900">
              <a:spcBef>
                <a:spcPct val="20000"/>
              </a:spcBef>
              <a:defRPr/>
            </a:pPr>
            <a:r>
              <a:rPr lang="en-GB" sz="2000" dirty="0" err="1">
                <a:latin typeface="Courier"/>
              </a:rPr>
              <a:t>BarChart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&lt;</a:t>
            </a:r>
            <a:r>
              <a:rPr lang="en-GB" sz="2000" dirty="0">
                <a:solidFill>
                  <a:srgbClr val="008000"/>
                </a:solidFill>
                <a:latin typeface="Courier"/>
              </a:rPr>
              <a:t>String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>
                <a:solidFill>
                  <a:srgbClr val="008000"/>
                </a:solidFill>
                <a:latin typeface="Courier"/>
              </a:rPr>
              <a:t>Number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&gt;</a:t>
            </a:r>
            <a:r>
              <a:rPr lang="en-GB" sz="2000" dirty="0">
                <a:latin typeface="Courier"/>
              </a:rPr>
              <a:t> chart 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BarChart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&lt;&gt;(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CategoryAxis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(),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sz="2000" dirty="0">
                <a:latin typeface="Courier"/>
              </a:rPr>
              <a:t> 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NumberAxis</a:t>
            </a:r>
            <a:r>
              <a:rPr lang="en-GB" sz="2000" dirty="0">
                <a:solidFill>
                  <a:srgbClr val="666666"/>
                </a:solidFill>
                <a:latin typeface="Courier"/>
              </a:rPr>
              <a:t>());</a:t>
            </a:r>
            <a:endParaRPr lang="en-GB" sz="32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9305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C1CD3-B055-BB8D-58D8-5F2DFA542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308D4-D380-4F14-8820-AAB08E79A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25" y="13103"/>
            <a:ext cx="10035131" cy="1162051"/>
          </a:xfrm>
        </p:spPr>
        <p:txBody>
          <a:bodyPr>
            <a:normAutofit/>
          </a:bodyPr>
          <a:lstStyle/>
          <a:p>
            <a:r>
              <a:rPr lang="en-GB" sz="4400" dirty="0"/>
              <a:t>Adding Tables</a:t>
            </a:r>
            <a:endParaRPr lang="en-GB" sz="4400" noProof="0" dirty="0">
              <a:latin typeface="Courier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F1F81E3-72D1-12E6-2188-4B9FD58A523C}"/>
              </a:ext>
            </a:extLst>
          </p:cNvPr>
          <p:cNvSpPr txBox="1"/>
          <p:nvPr/>
        </p:nvSpPr>
        <p:spPr>
          <a:xfrm>
            <a:off x="576325" y="5322218"/>
            <a:ext cx="9178450" cy="940796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GB" sz="2400" noProof="0" dirty="0"/>
              <a:t>Implementation of tables </a:t>
            </a:r>
            <a:r>
              <a:rPr lang="en-GB" sz="2400" dirty="0"/>
              <a:t>using </a:t>
            </a:r>
            <a:r>
              <a:rPr lang="en-GB" sz="2400" dirty="0" err="1"/>
              <a:t>javafx</a:t>
            </a:r>
            <a:r>
              <a:rPr lang="en-GB" sz="2400" dirty="0"/>
              <a:t> is not as straightforward.</a:t>
            </a:r>
          </a:p>
          <a:p>
            <a:pPr algn="ctr"/>
            <a:r>
              <a:rPr lang="en-GB" sz="2400" dirty="0"/>
              <a:t>  Flexibility (not allowing just 2D[][] static arrays) comes at a price.</a:t>
            </a:r>
          </a:p>
          <a:p>
            <a:pPr algn="ctr"/>
            <a:endParaRPr lang="en-GB" sz="2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254752-976D-9221-287A-8E995D63220C}"/>
              </a:ext>
            </a:extLst>
          </p:cNvPr>
          <p:cNvSpPr txBox="1"/>
          <p:nvPr/>
        </p:nvSpPr>
        <p:spPr>
          <a:xfrm>
            <a:off x="506885" y="1197115"/>
            <a:ext cx="11089134" cy="362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42900">
              <a:spcBef>
                <a:spcPct val="20000"/>
              </a:spcBef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Tables using </a:t>
            </a:r>
            <a:r>
              <a:rPr lang="en-GB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javax.swing</a:t>
            </a: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  <a:latin typeface="Courier"/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  <a:latin typeface="Courier"/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  <a:latin typeface="Courier"/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endParaRPr lang="en-GB" sz="28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defTabSz="342900">
              <a:spcBef>
                <a:spcPct val="20000"/>
              </a:spcBef>
              <a:defRPr/>
            </a:pPr>
            <a:r>
              <a:rPr lang="en-GB" sz="2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Tables using </a:t>
            </a:r>
            <a:r>
              <a:rPr lang="en-GB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javafx.scene.control</a:t>
            </a:r>
            <a:endParaRPr lang="en-GB" sz="28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1C8FDFEB-42DE-4C37-51D3-D0F8D51E0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236" y="1817100"/>
            <a:ext cx="965222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String[]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columnNames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= {"Question", "Your Answer", "Correct Answer", "Score"};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Object[][] data = 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{"What is 2+2?", "4", "4", "1"},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{"Capital of France?", "Paris", "Paris", "1"},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{"Largest planet?", "Earth", "Jupiter", "0"}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JTable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 table = new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JTable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(data, 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columnNames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);</a:t>
            </a: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936A0886-C933-F88D-7101-F689120F8BF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59236" y="4878984"/>
            <a:ext cx="61931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TableView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&lt;Quiz&gt; table = new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TableView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&lt;&gt;();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  </a:t>
            </a:r>
          </a:p>
        </p:txBody>
      </p:sp>
    </p:spTree>
    <p:extLst>
      <p:ext uri="{BB962C8B-B14F-4D97-AF65-F5344CB8AC3E}">
        <p14:creationId xmlns:p14="http://schemas.microsoft.com/office/powerpoint/2010/main" val="2574142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AC7F-16F7-1EF5-6141-34E88EF22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8C65-8219-CDAF-270C-EB7DD1871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25" y="117606"/>
            <a:ext cx="10035131" cy="1162051"/>
          </a:xfrm>
        </p:spPr>
        <p:txBody>
          <a:bodyPr>
            <a:normAutofit/>
          </a:bodyPr>
          <a:lstStyle/>
          <a:p>
            <a:r>
              <a:rPr lang="en-GB" sz="4400" dirty="0"/>
              <a:t>Tables: </a:t>
            </a:r>
            <a:r>
              <a:rPr lang="en-GB" sz="4400" dirty="0">
                <a:latin typeface="Courier"/>
              </a:rPr>
              <a:t>swing</a:t>
            </a:r>
            <a:r>
              <a:rPr lang="en-GB" sz="4400" dirty="0"/>
              <a:t> vs </a:t>
            </a:r>
            <a:r>
              <a:rPr lang="en-GB" sz="4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urier"/>
              </a:rPr>
              <a:t>javafx</a:t>
            </a:r>
            <a:endParaRPr lang="en-GB" sz="4400" noProof="0" dirty="0">
              <a:latin typeface="Courier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05074E-91EB-758F-2548-B81BBAFBA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328529"/>
              </p:ext>
            </p:extLst>
          </p:nvPr>
        </p:nvGraphicFramePr>
        <p:xfrm>
          <a:off x="1109848" y="1865699"/>
          <a:ext cx="9501608" cy="38836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440442">
                  <a:extLst>
                    <a:ext uri="{9D8B030D-6E8A-4147-A177-3AD203B41FA5}">
                      <a16:colId xmlns:a16="http://schemas.microsoft.com/office/drawing/2014/main" val="1340103963"/>
                    </a:ext>
                  </a:extLst>
                </a:gridCol>
                <a:gridCol w="2625634">
                  <a:extLst>
                    <a:ext uri="{9D8B030D-6E8A-4147-A177-3AD203B41FA5}">
                      <a16:colId xmlns:a16="http://schemas.microsoft.com/office/drawing/2014/main" val="3165629559"/>
                    </a:ext>
                  </a:extLst>
                </a:gridCol>
                <a:gridCol w="3435532">
                  <a:extLst>
                    <a:ext uri="{9D8B030D-6E8A-4147-A177-3AD203B41FA5}">
                      <a16:colId xmlns:a16="http://schemas.microsoft.com/office/drawing/2014/main" val="1568278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 b="1" dirty="0">
                          <a:effectLst/>
                        </a:rPr>
                        <a:t>Feature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 b="1" dirty="0">
                          <a:effectLst/>
                        </a:rPr>
                        <a:t>Swing (</a:t>
                      </a:r>
                      <a:r>
                        <a:rPr lang="en-GB" sz="2800" b="1" dirty="0" err="1">
                          <a:effectLst/>
                        </a:rPr>
                        <a:t>JTable</a:t>
                      </a:r>
                      <a:r>
                        <a:rPr lang="en-GB" sz="2800" b="1" dirty="0">
                          <a:effectLst/>
                        </a:rPr>
                        <a:t>)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 b="1" dirty="0">
                          <a:effectLst/>
                        </a:rPr>
                        <a:t>JavaFX (</a:t>
                      </a:r>
                      <a:r>
                        <a:rPr lang="en-GB" sz="2800" b="1" dirty="0" err="1">
                          <a:effectLst/>
                        </a:rPr>
                        <a:t>TableView</a:t>
                      </a:r>
                      <a:r>
                        <a:rPr lang="en-GB" sz="2800" b="1" dirty="0">
                          <a:effectLst/>
                        </a:rPr>
                        <a:t>)</a:t>
                      </a: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1838662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Data model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 dirty="0">
                          <a:effectLst/>
                        </a:rPr>
                        <a:t>Object[][]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 dirty="0">
                          <a:effectLst/>
                        </a:rPr>
                        <a:t>Custom objects (Observable)</a:t>
                      </a: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361291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Column definition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Simple, static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Type-safe, dynamic</a:t>
                      </a: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3715986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UI updates on data change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Manual</a:t>
                      </a:r>
                    </a:p>
                  </a:txBody>
                  <a:tcPr marL="76200" marR="50800" marT="50800" marB="4445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Automatic (binding)</a:t>
                      </a:r>
                    </a:p>
                  </a:txBody>
                  <a:tcPr marL="76200" marR="50800" marT="50800" marB="44450"/>
                </a:tc>
                <a:extLst>
                  <a:ext uri="{0D108BD9-81ED-4DB2-BD59-A6C34878D82A}">
                    <a16:rowId xmlns:a16="http://schemas.microsoft.com/office/drawing/2014/main" val="84770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Custom rendering/editing</a:t>
                      </a:r>
                    </a:p>
                  </a:txBody>
                  <a:tcPr marL="76200" marR="50800" marT="50800" marB="381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>
                          <a:effectLst/>
                        </a:rPr>
                        <a:t>Complex</a:t>
                      </a:r>
                    </a:p>
                  </a:txBody>
                  <a:tcPr marL="76200" marR="50800" marT="50800" marB="381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2800" dirty="0">
                          <a:effectLst/>
                        </a:rPr>
                        <a:t>Built-in support via </a:t>
                      </a:r>
                      <a:r>
                        <a:rPr lang="en-GB" sz="2800" dirty="0" err="1">
                          <a:effectLst/>
                        </a:rPr>
                        <a:t>cellFactory</a:t>
                      </a:r>
                      <a:endParaRPr lang="en-GB" sz="2800" dirty="0">
                        <a:effectLst/>
                      </a:endParaRPr>
                    </a:p>
                  </a:txBody>
                  <a:tcPr marL="76200" marR="50800" marT="50800" marB="38100"/>
                </a:tc>
                <a:extLst>
                  <a:ext uri="{0D108BD9-81ED-4DB2-BD59-A6C34878D82A}">
                    <a16:rowId xmlns:a16="http://schemas.microsoft.com/office/drawing/2014/main" val="925998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33970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Discussion Break: Enhancing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8378" y="1873286"/>
            <a:ext cx="10395422" cy="4776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noProof="0" dirty="0"/>
              <a:t>Prompt</a:t>
            </a:r>
            <a:r>
              <a:rPr lang="en-GB" noProof="0" dirty="0"/>
              <a:t>:</a:t>
            </a:r>
          </a:p>
          <a:p>
            <a:r>
              <a:rPr lang="en-GB" noProof="0" dirty="0"/>
              <a:t>How does styling and navigation improve the user experience?</a:t>
            </a:r>
            <a:endParaRPr lang="en-GB" dirty="0"/>
          </a:p>
          <a:p>
            <a:r>
              <a:rPr lang="en-GB" noProof="0" dirty="0"/>
              <a:t>What challenges might arise when building multi-screen GUIs?</a:t>
            </a:r>
          </a:p>
          <a:p>
            <a:pPr marL="0" indent="0">
              <a:buNone/>
            </a:pPr>
            <a:endParaRPr lang="en-GB" b="1" noProof="0" dirty="0"/>
          </a:p>
          <a:p>
            <a:pPr marL="0" indent="0">
              <a:buNone/>
            </a:pPr>
            <a:r>
              <a:rPr lang="en-GB" b="1" noProof="0" dirty="0"/>
              <a:t>Have a minute to think about this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noProof="0" dirty="0"/>
              <a:t>Discuss with your neighbour for 5 minutes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lang="en-GB" b="1" noProof="0" dirty="0"/>
              <a:t>Then I will ask for ideas from the class</a:t>
            </a:r>
          </a:p>
          <a:p>
            <a:pPr marL="0" indent="0">
              <a:buNone/>
            </a:pPr>
            <a:endParaRPr lang="en-GB" sz="26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BE0D0-0D30-9295-4033-6921D3C40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A10D-BE54-0096-3DE0-EB0D8A1BD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316"/>
            <a:ext cx="10515600" cy="1325563"/>
          </a:xfrm>
        </p:spPr>
        <p:txBody>
          <a:bodyPr/>
          <a:lstStyle/>
          <a:p>
            <a:r>
              <a:rPr lang="en-GB" noProof="0" dirty="0"/>
              <a:t>Quiz Manager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C7C9D-530D-C680-EE67-041996D6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514"/>
            <a:ext cx="10798005" cy="477634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noProof="0" dirty="0"/>
              <a:t>Case Study: </a:t>
            </a:r>
            <a:r>
              <a:rPr lang="en-GB" noProof="0" dirty="0"/>
              <a:t> Quiz Manager GUI</a:t>
            </a:r>
          </a:p>
          <a:p>
            <a:pPr marL="0" indent="0">
              <a:buNone/>
            </a:pPr>
            <a:br>
              <a:rPr lang="en-GB" noProof="0" dirty="0"/>
            </a:br>
            <a:r>
              <a:rPr lang="en-GB" b="1" noProof="0" dirty="0"/>
              <a:t>Scenario: </a:t>
            </a:r>
            <a:r>
              <a:rPr lang="en-GB" sz="2600" noProof="0" dirty="0"/>
              <a:t>Three</a:t>
            </a:r>
            <a:r>
              <a:rPr lang="en-GB" sz="2600" dirty="0"/>
              <a:t> screens: login, quiz, results</a:t>
            </a:r>
          </a:p>
          <a:p>
            <a:pPr marL="0" indent="0">
              <a:buNone/>
            </a:pPr>
            <a:endParaRPr lang="en-GB" sz="2600" noProof="0" dirty="0"/>
          </a:p>
          <a:p>
            <a:pPr marL="0" indent="0">
              <a:buNone/>
            </a:pPr>
            <a:endParaRPr lang="en-GB" sz="2600" noProof="0" dirty="0"/>
          </a:p>
        </p:txBody>
      </p:sp>
      <p:pic>
        <p:nvPicPr>
          <p:cNvPr id="5" name="Picture 1" descr="data:image/png;base64,iVBORw0KGgoAAAANSUhEUgAAAxAAAAD3CAYAAACNULJaAAAAAXNSR0IArs4c6QAAIABJREFUeJzt3Xt0E/edP/y3zdVGEBDGd4HB3JRgQpMJjUm2dpZEIsFulTYNleOGkBQT58Q5bpS2z67PeYzPPt7u/p4oxy2n6+JmH0725ycqZ5tWqekGqc9m7V5i2k6uzqmwwWDwnTgKqZ1wCaDnD2nGo5stG1sjS+/XOT4gaaT5jDTzne/ne5lJ8ng8HhAREREREUUgWe0AiIiIiIho7mACQUREREREEWMCQUREREREEWMCQUREREREEWMCQUREREREEZuvdgBERIni89Hr+N/157BUy6J3Nty4DmgzF+ChfVlqh0JEFNd4FiMiiqL01YvxlT3ZaocRl8YuXsOHbR+pHQYRUdzjECYiIiIiIooYEwgiIiIiIooYEwgiIiIiIooYEwgiIiIiIooYEwgiIiIiIooYEwgiIiIiIooYEwgiIiIiIooYEwgionjhssJotMI1qysZgbNGQI1zZOpvdVlhrGmBe+aDIiKiKGICQUQUM0bgrAlIANwtqGnsmOV1BiYEwXG4nVWs/BMREQAmEEREscPdjjbRhlZlzX24C6LdGVmvgt4Ch8MC/ZRWmgahqBBiW/t4cuBuR5vYg15FtjDc3Q6hqBBapMFQL6LekDaltRARUfxgAkFEFCuGuyAC6Osd7w1wtdoAjFfm3c4qGI2C/Cf3HLhbUGMUxocwuVtQY7TCqVg+3LAjrWCAIDohSusQnRDRjjZRWr4DrfZCFAlpcDX6f5arUUCNswWNckzKngtv74Ycb7XNf8Uuq2JbquB0S3H7/u9bd6OyB8a3XVen9s0SEdEMYgJBRBQj3L09gMmMXLk3oAOtdjNMpnZ0D3uX0RoOweEQvX8NZojWOm9lW1uK+gZzwCfa0IZa77K2WkBaNpC2EEWCtI4RiG2ApaEWkOJwOWEXDBC0gL7yOCyC/9tFaxeKfTE1mGyo9lX43c46WHOP+MUrc1lhrO6BxSa9lger2QqXXyy+dSt6YNyiE6LJgIXT/I6JiOjmMYEgIooRw93tEPL3ojjX1xvgcsJuMmBPfqFfr4RMb4Bpwk/09hoAALR5yIWiYu7HO4zJ3trhHb4EAwR9IYrgjcPVavMNXwrDZJCHTWXkFwJ9PXBjBGJbO0zFBSHf4mq1AaYKGKQP1Rtggg2tLkUsAFytPbBYgGbnCDDJZxIRUXQwgSAiigmj6O0DcnVp0BfnoU0cgbu3B6biAmh1eYo5CsphQftgD5sUTI1WMECwO+Ea7gJ8cx2EIqBN7EBvnyIRidggusWJlxDysxSPspAvBMTibkFznwGCweDtlXG3ow212DO1SR5ERDTDmEAQEcWEUXSLhcjPAKA3ILftFRxty0OxHkDGRghiF4YxAmfNLnSXi/KwJGGyj42UthBFQg+am3vkZEErGADrPljhHb4008TuQcUjRcKhLUSRYEOz1Ync8lJoUYDiXCeOHnX6khsiIlITEwgioljQ2wE78qDTAkABinNtsOf6hgZp85CLHvS6/Vv1XUedmLkMwtvjICqTBW0higQAuXnTqLQXoNgEeShSIH2xGVDObXA2wQ6zN2GSrgwl+hIoAPo9BvTZMY2eECIimmnz1Q6AiIiAsbGP/eYS6IvNMEEa65+FfKEd3cOHUNlghrFagB2AqUFEPawwNrdgT33pTbfMawUDTFC28Hsr8ibd9OYc6CuPw1KzC0aj4kmh1veiBTZLFcxGKQMyo0FxCVqtYIDJUjh+SVptIYpMmJWeECIimpokj8fjUTsIIqJE8PnodTj+9zC+sidb7VDi0tjFa/iw7SPsfjJr8oWJiGjaOISJiIiIiIgixgSCiIiIiIgixgSCiIiIiIgixgSCiIiIiIgixgSCiIiIiIgixgSCiIiIiIgixgSCiIiIiIgixhvJERFF0dgnX8D11idqhxExjwdISlI7ishcvXxD7RCIiBICbyRHRBQl1695cObDz9QOI2K//e1v8eabb+If/uEfsGzZMrXDiYjmlvnIWrtY7TCIiOIaeyCIiKJk3vwkbNimUTuMiP33iWH0fNSO1foFWLVq7sRNRESzi3MgiIiIiIgoYkwgiIiIiIgoYkwgiIiIiIgoYkwgiIiIiIgoYkwgiIiIiIgoYkwgiIiIiIgoYkwgiIiIiIgoYkwgiIiIiIgoYkwgiIiIiIgoYkwgiIiIiIgoYkwgiIiIiIgoYkwgiIiIiIgoYkwgiIiIiIgoYkwgiIiIiIgoYkwgiIiIiIgoYkwgiIiIiIgoYkwgiIiIiIgoYkwgiIiIiIgoYkwgiIiIiIgoYkwgiIiIiIgoYkwgiIiIiIgoYkwgiIiIiIgoYkwgiIiIiIgoYkwgiIiIiIgoYkwgiIiIiIgoYkwgiIiIiIgoYkwgiIiIiIgoYkwgiIiIiIgoYkkej8ejdhBERKS+xx57DENDQ0hKSgIAXLp0CZcuXYJWq0Vysre96dq1a3jzzTfVDJOIiFTGHggiIgIAlJWV4dq1a7h48SIuXryIK1euIDk5GRcvXoTb7Ybb7VY7RCIiigFMIIiICACwe/dupKenh3194cKFKC8vj2JEREQUi5hAEBGR7LHHHsOSJUtCvrZixQo8+eSTUY6IiIhiDRMIIiKSmUwmLF26NOj5hQsX4tFHH1UhIiIiijVMIIiIyM/TTz8d1AuRlpaGvXv3qhQRERHFEiYQRETkp6SkBDk5OfLjhQsX4utf/7qKERERUSxhAkFEREGUcyFSUlLwxBNPqBwRERHFCiYQREQUZPfu3cjKysL8+fNhNpvVDoeIiGIIbyRHRAnv8mc31A4hJr355pv40Y9+hNdff13tUGLSvAVJWLAwSe0wiIiijgkEESW8w/9HN1ZmL1Y7DJpDrl29gYw1i3HfN1epHQoRUdTNVzsAIiK1LdUuxH2P5Uy+IJHPx/2X0d85qnYYRESq4BwIIiIiIiKKGBMIIiIiIiKKGBMIIiIiIiKKGBMIIiIiIiKKGBMIIiIiIiKKGBMIIiIiIiKKGBMIIiIiIiKKGBMIIiLVjMBZI6DRpXYcccJlhdFoBb9OIqLZxQSCiGhSHWg0CjBKfzUtcEdlnVVwzv6KJhF5kuNqVHxHMxG7uwU1TAiIiGIO70RNRDShDjQa96HPchwOQxoAwO2swlFXKSr1KocWQ1yNAqr7amFzlEILeCv/RztgqCyIXhB6CxyO6K2OiChRsQeCiGgCrsZ9sJuOoN6XPACA1nBITh78W92VLfVSD4Kv90LqtXBZFcvvglWcekxuZ5XfOmucI75ggofwuJ1VMDZ2KF4P0UPgsgb0qoz3frgavTHaqwO3T/klWVFtN6Oh3pc8AIC2FPWK5MHve1Ksy9UooMbZoujhkeLvQKO5DiJsqFY8H3bb3S2oUb7f13vhVCwvLytvY4jPCfG7XY38pyEiSgjsgSAiCmsUvX2AqTx8K7q+UoSj0vt/t7MK5morih0WSJ0TbVYnyh0ivIt0oLG6BxabCIMW8A4P2oXuKUalNRyCw+B74LLCWF0Hp3AIBv1eWIRdaHVZoNd7P19sa4ep/JBvOcW6XVYYzVboFLGG3r7jsPTtQne5GLbHxd3bA5gqwn5OYO+Eq1GAuTEPDl+CIVq75O/I1SigutEAR2UBKm216DN3oVwZY7ht15aivqELxmrlmm1ow3E4HGnehMIsLevtVUKDCIcevtd2oVE3vo3+vxsRESmxB4KIKKxRdE+hh0ArGCD4PdOO3HJF5dflhF0wQNAGvXX69AaY5AdpEIoKYW/19Ti429EmmlGsB1ytNsBU4UtcpPfZ0DoDEwyGu9sneLUDrXbAVD7eO6EvNgN253hPickgf0cZ+YVAX09kc0z8tj2UQhQJvp4jbR5y0Y7uYcDtbIJdqMUeaaXaUpSbMP69Bf5uRETkhz0QREQ3xduabZcfF6LIDei13v/nZ4wv6e7tAbBxBtbp7blQDn8yDQPQ+pIYqxOuygJkiE6IpgrUA3ABEPKzFJ+RhXwBU+79mB7/7wEZGyGga5qfFX7bp0Ssg9lY5/+cnI0ExEtERH7YA0FEFFY2iv1apgN1oNHYhHybCIdDhKPBHIWYfMOeyn3rtNX693poC1EkeHsWhrvbYSoeH34ldg8qFhycUu/KRIJ6FIJ4W/5lw12Y3qon2fapMB3xfobyL5oTvomI5jAmEEREE9DvqYVg3+c/Addl9T5296BPfnIEztaeCSu0WsEAQXRCvKnLm/pX/F1HnfBfaRoM5WbYW61otXuHLwHBlXy3swl2+F7P2OgXl/c1f+GTKAD6vbAINlQHTsSuaYEbBQFJ2AiczTa/YUsTUw6zmmzbI6M1VMBk3+c3IdzlmmD7iIjID4cwERFNRFuKekceGo27YLRKTxbC1OB9zWJxwmwWYEUhLLZDsORXwXy0A4ZQs2+lib5mAVbF06bycCtvhzVw2QYRlQ1mGKsF2H2P62GFsbkFe6SrIOkNMFV7rx4lh6G3wGapgtko1bjNaJAmJ2tLUW6qQ7VvXYKlFiY4fculwWCpRZt5H4x2eFvug1rq02CoF6FrFPyGBQmmI95VVx6HpWYXjEZpI0J9Rujvy2JxwqzY1km3PSLeCdo1ZgFSSBBqYasvmPJIKCKiRJTk8Xg8agdBRKSmV/9XL4xP6dQOYwaND/XhvSpmx8f9l9HfOYr7vrlK7VCIiKKOQ5iIiOKN4upLREREM41DmIiI4kiv8wB+/FsDnnNYEE99KkREFDs4hImIEsbly5fR19eHoaEhDA4OYnh4GP39/dAvrcDuA2vVDo/mkI/7L6P12DsYQStyc3ORnZ2N3Nxc5ObmQqPRqB0eEdGsYg8EEcWNTz75BIODg/KflCh89NFH6O3txejoaNB7MjIysKmQ7Sg0dcPDw3j9j78Men7p0qXIycmRE4ucnBz5cWZmJubP56mXiOY29kAQ0Zzg8Xhw4cIFv8QgMFm4fPly0Pu0Wq1ciVP+m52dLVfm4m8SNc22j/sv4/xfLyJPGMPg4CAGBgb8/h0cHMTFixeD3pecnIz09HTk5ub67ZNSsqHV8jpQRBT72AxCRDHh2rVrIZMC6f8XLlzAtWvXgt6n0WiQnZ2Nu+++O2SSsHjxYhW2hhLBvHnzsH79eqxfvz7k61euXEFfX5+8DyuTi+7ubohi8O30UlJS5B4LZXIhPV60aNFsbxYR0aSYQBBR1PT19aG/vx8DAwMYGBhAX1+fPA/h448/DvmehQsXIjs7G9u3bw/qScjKysItt9wS5a0gisyiRYuQn5+P/Pz8sMucOXPGL2Hu6+vDhQsX0NHRgba2tqDlV65cKScYOTk5WLlyJbRaLTIyMrBly5bZ3BwiIhmHMBHRjHG73ejv7/f7GxgYQH9/PwYHB8O+Lysry6/XQNkCm5aWNutxv1xzBrmbOPE1kMdzAzdu3MC8eWxrCnT58+u4ZeX8Wb8PRE9PD4aHh+VkW9mjMTIyErT85s2b/Y4h5XG1YMGCWY2ViBIHEwgiitj169cxODiI/v5+9PX1yT0K0v8///zzkO9LS0sLmRzk5OQgPT0d8+bNi/KW+LvQe0XV9ceq1157Da+//jp+9KMfYcWKFWqHE3NSNPOwdIW6ydWFCxfgdrtx4cIFdHV14cMPP5R7+ALnBK1atcovsZCGR+Xm5mLlypUqbQERzUVMIIjIT29vL4aGhjA0NITh4WEMDAzILZ/9/f0h37N48WK5MqLT6ZCVlSVPCuW47bnrpz/9KV5++WW88cYbWLWKd1yeawJ7BKXeQGmY1I0bN+RlpbkXUkKh/MvKylI9ySei2MJ+aaIEMzQ0hPPnz+P8+fNyhUJKGMLNQwC8VzPaunUrcnJyoNPp/FowozHMiIimRqvVQqvVoqCgIOg16aIFUu+h9Nfb24sTJ0749V5IV47KzMz0+8vKykJmZiZycnJ4sQKiBMMEgihOffDBBzh//jzOnTsn/9vX1xfyUqcAkJubC0EQ/CoG0t+aNWuiHD0Rzab58+dDp9NBpwt9+eKPPvoI/f396O3tlYdEDQ0N4YMPPsDx48eDltdoNMjMzER2djbWrVsHnU6HNWvWYM2aNRz+RhSHmEAQzUEejwcfffSR3xwE5VyEwOvPp6amIisrC4IgICsrC9nZ2X5JAnsQiEhp1apVWLVqFbZt2xby9QsXLshDHKXLLUu9m7/73e/8lk1NTUV+fj5yc3PlpEKn0/Gu3URzGBMIohh15coV9Pb2yuOXpSShv78fPT09QctL45V37twpDzPKysripU6JaMalp6cjPT095PCoGzduYGBgQB4q2dPTg/Pnz+Pdd9/FG2+84besdNfuUH9ZWVm8azdRjOKRSaSizz77DL29vfKfNAa5t7c36BKNGo0Gubm5WL9+PYqLi/3mIGRmZiI5OVmlrSAiGpecnCw3aOzYsSPo9ZMnT/pN6u7v78epU6fw3//930HLZmZmyp8lzb2SejJSUlKisTlEFAITCKJZdvHixZAJQqihRmlpacjNzcXdd98tnzClkyd7EYgoHmzevBmbN28O+Zo0LEo5JLOvrw+tra1B5eXy5cuxevVq5ObmYvXq1fK8i7y8PE7qJpplTCCIZoDb7fbrSVD+jY2NycslJycjMzMTOp0OO3fuDEoSeNIjokSWkZGBjIwMfOlLXwp67fPPP8f58+f9rhjV19eHP//5z/iv//ovv2W1Wi1Wr14tJxbr16+HTqdDXl5etDaFKK4xgSCK0Mcff4ze3l6cP39eTg76+/tx9uzZoCsbSXMQtmzZIreK5eTk8ORFRDRNqampYXsvLl++jJ6eHvT19clzL/r6+vC73/0uqOdi9erVyMvLk3sr8vLykJ+fzwndRFPABIJIYWxsDD09PXKiIP0F9iTMmzcPWVlZ0Ol0+OpXv+rXjZ6dnc2Jf0REUbR48eKwycVnn32Gs2fPoqenx+/vrbfewrVr1+Tl0tLSsG7dOqxbtw5r167FunXrkJ+fj2XLlkVzU4jmBNZyKCH19PT4nVD6+vrQ09ODTz/91G+5zMxMrF69Grt27UJubi7Wrl0rT+AjIqLYt2TJEmzZsgVbtmwJeu3cuXPyUKiBgQH09fXhL3/5C+x2u9yzvGzZMrmRSDmhW6fTQavVRntziGICEwiKW1988QXOnTuHs2fP4syZMzh79izOnj2Lc+fOBbU66XQ63HffffJwI51Oh9WrV2PBggUqbgEREc0m6b4UobjdbvT39+PMmTM4c+YMurq68Kc//QmffPKJvExKSop8j4u8vDysXr1aHhq1aNGiaG0GUdQxgaC4IF0G8NSpU3C5XDh79ix6e3v9lsnMzMS6deuwY8cO5OXlyV3VS5YsUSlqIiKKVVqtFlqtNuheF59++ik6Oztx+vRpuVHqL3/5S9AdujMzM7F27Vrk5+cjLy9P/j/nWlA8YAJBc86HH36I06dPo6urC6dOncLJkydx6dIl+XWdToe1a9di586d8jjWtWvX8gpHRER002655RZs374d27dv93v+8uXLOHPmDM6dO4dz587JPd/t7e1+y61atQrr16/Hxo0bsW7dOqxfvx6bNm2K5iYQ3TQmEBSTLly4IBfC0l1Mz507h4GBAXg8HixevFi+esbdd98tt+6sXr2aE5iJiCjqFi9ejFtvvRW33npr0GvSENqzZ8/i1KlTOH36dFBisX79enki+KZNm7B582beLI9iFmtapLrOzk58+OGHcs9Cd3c3rl69Kr++bt06bNy4EQ8//DA2b96MvLw8ZGZmqhgxERFR5NauXYu1a9cGPX/y5EmcPn0ap0+fxsmTJ9Ha2opjx47Jr+fl5ckTwG+77Tbo9fpohk0UFhMIiqqPPvoIHR0deP/99/HXv/4V7777rvza4sWLUVBQgEceeQQbNmzA+vXrWVgSEVHcCnXp2f7+fpw8eVLuqfjwww/9koqNGzdiw4YNyM/Px6ZNm3DbbbdxXgVFHRMImjXXrl3DyZMn5YSho6MDw8PDALz3UVi/fj2+8Y1vyK0reXl5SEpKUjlqIiIi9eTk5CAnJwc7d+70e76npwenTp3Cu+++i7fffhu/+c1v5NfWr1+Pbdu2YcuWLdi2bRtyc3OjHTYlGCYQNGM++eQTvPfee+jo6MAHH3yA9957T35t+fLluP322/Hoo4/KCQMvcUdERBQZad7fAw88AMB749P33nsP7733Ht5//338+te/xi9+8QsA3nPutm3bsG3bNtx+++1BV5IiullMIGjarly5gnfeeQft7e04ceIEzpw5AwBITk7G+vXr8cgjj2Dr1q3YunUrW0OIiIhmkEajwb333ot7770XwHiv/wcffID3338f77//PlpbWwF4hwgLgoAdO3bgnnvuQU5OjpqhUxxgAkFTcvr0aZw4cQLt7e1499135cnOeXl52LNnD+666y7cddddvLcCERFRFM2fP1/u4S8rKwPgvdP2n/70J5w4cQJvv/02/vCHPwAAcnNzcc8996CwsBCCIPAy5zRlTCBoUl1dXXA6nXA6nRgYGADgvY71Aw88gO3bt+PLX/4y0tLSVI6SiIiIlKQ7bT/66KO4fv06Ojo65ITiP//zP3H06FEsXrwYX/nKV7Br1y7s2LGDl0KniHAvoZB6e3tx/PhxOBwO9PT0QKPRQBAEPPbYY9i+fXvIy9ERERFRbJo3b548L+LAgQP47LPP8Je//AUnTpzAiRMn4HQ6sWzZMtx///3YtWsXvvSlL/HCJhQWEwiSDQ0NweFwwOl0orOzE/Pnz8e9996LZ599Fvfeey9bJYiIiOLEkiVLUFxcjOLiYgDAmTNn8Mtf/hJvvPEGfvnLX2LNmjX49re/jZKSEp7/KUiSx+PxqB0EqWtoaAg/+clP8MYbbwDwXmO6tLQUu3fvxrJly1SOjojU8tOf/hQvv/wy3njjDaxatUrtcIgoCq5du4bW1la8/vrrOHHiBFauXImysjI88sgjSE1NVTs8ihFMKRPY559/jqamJjQ3NwMANm3ahO9+97sQBEHlyIiIiEgN8+fPx/3334/7778fPT09eOmll/DjH/8YL7/8Mr72ta9h//79bFwkJKsdAKnj9OnTeOyxx9Dc3AydTocf/vCHaG5uZvJAREREALxXWPzxj3+Mw4cPIz09HTabDWVlZejq6lI7NFIZE4gEdOLECXzrW99Cb28vKisr8atf/QoPPPAAJ0sRERFRkDvvvBO/+MUv8Pzzz2NoaAhlZWV466231A6LVMQEIsF8+OGHePbZZ5GSkoKf/vSneOqpp9QOiYiIiOaAsrIyvPzyy0hJScFzzz2Hv/71r2qHRCrhJOo49vDDD+P8+fPyY+mnVvY0LFiwACdOnIh6bEQUe775zW/Kd5SXBJYbCxcuRHt7e9RjIyL13X333fjiiy/kx0lJSVBWIz0eD7KysvCb3/xGjfAoitgDEceefvppaDQaJCUlISkpCcnJyUhOTpYfA0B2drbKURJRrHjmmWewZMkSuYwILDcA8GpMRAlMp9MBgF89QlleLFmyBM8//7yaIVKUMIGIY0ajEVqtNuzrGo0GBw4ciGJERBTL7rvvvgkTBI1Gg/3790cxIiKKJWVlZVi6dGnY19esWYOdO3dGMSJSCxOIOLd///6w123W6XQwGo1RjoiIYtkzzzyDlJSUkK/l5OSgtLQ0yhERUax4+OGHodFoQr6WmprKeZUJhAlEnHvooYdCDlNasmQJ9u7dq0JERBTLdu7cCZ1Oh8DpcRqNBmVlZSpFRUSx4umnn8aSJUuCns/Ly8N9992nQkSkBiYQCeCJJ54IOtizsrLwwAMPqBQREcWyioqKoFbG9PR0lJSUqBQREcWKkpKSoIbJ1NRU7Nu3T6WISA1MIBLArl275IlPgPdAf/zxx1WMiIhiWXFxMdauXSs/Tk1NZe8DEcnKy8vlhkmPx4P09HT2PiQYJhAJ4vHHH5cP9pUrV+Khhx5SOSIiimWPP/64PH9q2bJlMJlMKkdERLFi9+7dyMrKAuBtYKisrFQ5Ioo2JhAJwmAwYNWqVUhJSUFFRYXa4RBRjPv7v/97ZGdnY/HixfjOd76jdjhEFGPMZjNSUlKQk5PDKy8loPlqBxBvblz3YKT/qtphhPTtbz6LX//617jztr/HhfNX1A4nyOIl87BsJXdJSlxjF6/h879dVzsM2ZNl30VzczN23PFgTJUZaTkLkTwvafIFieaYWCsDJlL4pV1Ym/X/oexbZTFVPkxk/sIkaDMXqh1GXOCdqGfY6CfX8NqhPmTmhb50KoV29coNLE5JgqE8Q+1QiFTzh9dH8FH/VaRomEiHM9TzOb7+bC6WafkdUfz5vX0EHw1cRSrLgFnxyfAVmL+nm3xBmhT30FmgzVyEu3anqx3GnPLpR1dxWvxE7TCIVLfxruXIXMcGiHD++Nqg2iEQzarNX16BjLzQ92Khm+P49161Q4gbnANBREREREQRYwJBREREREQRYwJBREREREQRYwJBREREREQRYwJBREREREQRYwJBREREREQRYwIx17msMBqtcKkdxyRcjQJqnCNqh0GUwEbgrInx49Ddgpo5UJ4Rxbs5ec5m+RFVvA9ElLkaBTTnH0e9IU3lSDrQaNwHu+IZU4OISr1qARFRBFyNAqoVB+5sH7duZxXM1vbxJ4Ra2OpLoZ29VRJRSMHnbZiOwFFZMOtrnm7dJbC8ila8NPuYQMx1egscjum+uRAW2yEYtIDcOlkUC8kNEYXiahRQ3VcLm0OqwHeg0SigxhLJcZsGQ70Iw3RWrDzp+3o9GxwWsL2BKPrGGw28CUVNTDRKhicoyie3swrGGgMbIeIAhzDFEpcVRqPg+6uC0614qVFQvCbAWNMCt7sFNUZhfAiTr/vO6aySl4u8CzINQlEhxO5B7wGuWNf4Z3iTjEantF5fHMpNaAyIcUa+GCKCuwXNdjMa/E68BahsMEO0vuItA1zWgOOuA42+skQ6NmucI76yIqBMMQpojKTvX29mOhrUAAAgAElEQVSACT3odXuTl/H3K4YO+OJwNob57ID1R7ReIgpQgGITIHZLd2f3PybHz93+z3uPN9/5XHHsuZ1VMDZ2BK3F7axCtR0Qrbv8PtfvfB/ifaFoBQMEsQvDgWWQstxi+TEnsAciVrisMFb3wGITvT0CLiuMZit0DgsynFWKVkdvi0NfUSG02jTUN3TBWK38IBvacBwOR5r3IDPXwSlIvQyR0RoOwSE1U7qsMFb7f4a9DbA5RGgxAmfNLlidhag3pHlbR3EEDkcB4HvN3JjH7kqiGeAWnRAFAyyBL+gNMKEJvW5M2COgrzwOS98utAGAthT1jlL5NenYndpQqAJUOkRUApCO9+pGw/jxLtahu1yEoxK+csSKYocFencLasxOFNlE1EtlXXUV8m2Hptc7QpSwOtBqB0wNBZB6I9AgwqGH7/y/C406EXt6m2C/iaFDWsMhNHQHDGGSGjSm2xPpVwZ5Y5fqEgBYfswB7IGIEa5WG2CqGK/o6w0wwYZWFzDc3Q7k5vlaHQNbHAIVokjwHYDaPOSiHd3DkUQwArGtHabigAJGb4ApYEmhqNAXSxp0ub5Y3C1othfCskd6fxoM5WbA7uSEJqJY5rKi2m5GQ6SVC5cTdsEAwa9RwtuD6c+MYqlmkbERAnrQ6wZcR+sg+pV1e2ER2tEmzrEJm0QqsVdLre/ehKFSD7idTbALtdgjHXPaUpSbAHtrB7S6PMDe5Deq4aZp85ALG5qnONHaLTohmgwBSYe3XuOP5UesYw9EDBHysxSPspAvAN0AMvILAasTrsoC6H0tDoIlK9zHTEE7rGYBVmn9luOo1wNSa6JVHF/SNAxMPmDR//O8zDMQJxGF5e5BH4D8ab25A43VNpgaxIlbEe37YJQnQprRIM3BcFlhrLaNLycY4EbB5EWF3+f53lo0tciJEpV3DoSvx0FJrIPZWBewMLxzJRusMJoFWHETvQZ+ClDpOIJG4y4YrRNfzEG0epcB4LsIg7exIugCDaZBABHM5WD5EROYQMQQb6+CdPAMolsEUA5oDbWwtO1CtdF3ojYdgWNGJkwpJ1FLvMlDd7kIRz3kYVCRCV8wsReC6OZoBQMEqxOiu9T/mB3ugog8lGsBRNTbKBmBs2afd2jDZLWJUMMfXFYYmzf6hjNKE7wjW7MQbtI3J00RRcg7/0ka2pMBTHyFI70FDofFe5w2GuConIlGSN8wRuUQoxBLhTre3c4qmLsr4HAcgtxoGeFaWX7EBg5hihH6Yv/hPm5nE+xSF57rFVhzj8DhEL1/szqnwJe4+LiOOgEhgrdpS1FusqFaOZHK1eGXOIQfdkVEk9KWotzUDqtVMdnQ3YKaahsEy17viTtjIwTRCdG3gLccCc3trINVnMLQpcD39/YoHrSgtS9wCFNo+j21gLVOMZxiBC6XcviBd6gCEU1Cb0GD77yrNVTAZN/nN6HY5Qqe2JyRXwj09cDtG4Jsb5WW6cBRZW8Ags/ZYlt76Dq6YohRpIa7FetyvYI2sPyYa9gDoQK/7jzA12pggc1SBbNRqq0HtOYHdNmFzcBvmtSqIcAOb7dkPawwNrdgT/3EB7i+8jgsNbtgNErPeHs49FrvQS+Y98EIXgOaaLr0lSIaGgW/YQp+Qwe0pSg31aHaN5RQsNTCBGfwB7lbYLW2A2gf79nE1MoVqWfUbKzzDUuoRX7NLhx1lfomVod7Y6n34g/K4Y6mI3Do0xTxV0Hfcgi6hRGFQpSw9JVHYDLuQ2OxiEpbLWrMAuRTsDRcyG+oUCEsNu8QRK10XrYDgBkWS6F33DSCz9nSeuTj3QJYzXWQ2hsFy/EpXaxF+jyjHd7jvx5oNDbBuWeSydARlh8rXjuEuzSRx0NTl+TxeDxqBxFPRj+5hv/5z49wzzdmonswDJcVxmrE1XXYP/3oKk6Ln8BQnqF2KESq+cPrI1iRnYrMdakRLe8dQ5wXV2XBZP742iCKH1mFZVq2f1H8+b19BCt1S5CRl6J2KHHJ8e+9KPu+Tu0w4gKHMM0F7hbUKIYGuXt7AGEjWNUmSmxawyE4bBvRPMVrsRMREd0MNuHMAe7hLsBeF/oqKESU2ALu6UBERDTbmEDMAVq9BfWOoNtHERERERFFHYcwERERERFRxJhAEBERERFRxJhAEBERERFRxJhAEBERERFRxJhAEBERERFRxHgVpllw4fxl/M//2z/pclevXsGlS5ewdOlSJCfPi0Jk0fXZZ58BAFJSFk+6fde+8ECbsSAaYRHFrKQk4P3/+Riu9k/8nvd4buDy5Sv44ourWLbsFpWii45r177AZ599hpSUFCxcuCjo9YsXrqoQFVF0JCUB7785ggWLpte+K5UV169fh0YTP7divnr1Cq5cuYKUlBTMnz/9ukJS0gwGleB4J+oZ5vEAVy7dmHAZh8OBV155BUNDQ8jIyMAPfvADbNu2LUoRRs+//uu/wuFwAACMRiP27t2LzMzMsMvPm5+EBQt5dFPiuvaFB9e+GC+Sh4aG8Morr+CPf/wjxsbGcPvtt+MHP/jBhMfRXHf8+HH827/9G8bGxpCZmYm9e/fCaDT6LbMoJZkVAYpLgWVApMbGxvDaa6/htddek8uKf/qnf4qbJOIXv/gF/uM//gNjY2PYtm0bvv/970+rHExOBhYu5uCbmcAEIoqOHTuGw4cPY3BwEJmZmThw4ABKS+P7BlADAwNoamrCsWPHAAAlJSWoqKhAdna2ypERxa7A4+aOO+5ARUUFBEFQObLoGB0dxauvvgqbzYaxsTFkZWXhwIEDKCkpUTs0opgTWLc4ePBgXJYVrE/EFiYQUaA8uDUaDSwWS9wnDoF44BNNLtETh0Cjo6NobW3F4cOHMTQ0xESCSKG1tRVWqzWhGiWB4HLSbDajoqICS5cuVTmyxMIEYhaJooiXXnoJXV1d0Gg0MJvNKCsrS+idvLOzE1arFe+88w4AoKKiAmazOaG/E6JQCXZJSUnCJg6htLS0+CUSZWVlKCkpYdlBCUcURfzsZz/D22+/DY1Gg4qKCpSVlakdVtSJooimpia888470Gg0KCsrQ0VFhdphJQwmELMg8OBm4hAs1IHPRIISDXvmpk6ZSLDsoEQyMDCAl156Ca2traxbKIiiCKvVilOnTrGXMoqYQMygzs5OvPTSS0wcpoCJBCUiJg43LzCROHDgAMxms9phEc240dFRNDU1wWazAWB5EY6yTNi4cSOef/559uLOIiYQMyBUZcBisbASPAWtra148cUXOc6Z4hoTh5kXOLSJZQfFi9HRUdhsNrz66qsYGxvDHXfcgYMHD7K8mEDgBRjuvPNO1NbW8jubBUwgbgJbBWZeYGXAYrGguLhY7bCIbgoTh9nHRILiiXKC9IYNG2CxWNiaPgWjo6M4fPgwfv7znwPgROvZwARimmw2Gw4fPsxWgVnS0tICq9XKFgSa09iCGH2BiURtbS0rXjRnDAwMoK6uTh4KnYhXbZxJAwMDsFqtaGtrg0ajwQsvvMCGhRnCBGKKRFFEXV1d3F9vORawBYHmsqamJr/EIZEvxxptoYYx7N+/n98/xSypsaGpqQkA8K1vfQsHDhzg+W6GiKKIgwcPYmhoCHfeeSeef/55bNq0Se2w5jQmEBEKbBVI1MumqWFgYAAHDx6UJ1pzsiTFssBrs7ORQT2BiQSHjlEsUpYZd9xxBywWCyu3s+Tw4cNyecBGyZvDBGISgfMc2CqgHmULAocmUKwJvAobhx7EDuUcFF7tjWIFhyupI3BY08GDBznXchqYQExAOVyJY5djx6uvvoqmpia2IFBMCGxk2L9/Py/fHKOUl43mRRpITcp5fmyYVIeyUbK4uBi1tbX8DaaACUQIo6OjsFqtcmsVs9PYMzo6ioMHD6KtrY0VAVJNa2srDh48yAnScwwv0kBqGR0dRV1dHVpbWznEMQYo51qyvjc1TCACKCsERUVFOHjwIDPSGKb8vdiCQNGivCNsZmYmXnjhBZ505pjAigPnVtFsU56v2OsQW9gbMXVMIHyUvQ6sEMwtgRWBF198kS06NGs49CC+dHZ24uDBgzh16hR7I2jWHDx4UK5fsNchNgWObHjxxRc5mX0CTCDgbU184YUX0NXVxbtIz2GiKOKFF17A2NgYKioqUFFRoXZIFEc49CC+HT58GD/72c84mZVm1OjoKA4cOMD6xRwi9RQBYFkwgYRPIJRdirW1tdxR5rjR0VFUVFTg1KlT7IakGdPZ2YkXXngBg4OD7HWIY52dnbBYLBgaGkJJSYlciSCajs7OThw4cABjY2N4/vnneen3OUTZM8kGydASOoF49dVX8dJLL0Gj0eDw4cPsqoojL774In7+859j48aNePHFFzkkgaZNGrIEsDUqESiHs27cuBGHDx9mskhTpiw3ODF3bhodHYXFYsE777zDBoUQ5h1M0G+kpaUF//Iv/4INGzbAZrOxghlnduzYgaysLPzyl7/E22+/DYPBgEWLFqkdFs0xLS0tqKurg1arxaFDh7Bjxw61Q6JZtmjRIhQXF0Oj0eDYsWNob29n+UFT0tnZiX/8x3+ERqPBoUOHONRxjlq0aBFKS0sxMDCAY8eOYWBggImgQkImEFKlYMOGDWhqamLrUpzatGmTnESwEkBTJYoivve97yEzM5ONDAmooKCA5QdNmTRsCQAOHTrEkQ1xoLi4WE4i/va3v7EhySfhEggmD4mFSQRNR2dnJ5577jksXLgQhw4dYvKQoFh+0FRIE6avXr3KYdFxpri4GKIo4re//S2ysrL42yLBEojR0VFUVVVBq9XilVdeYfKQIDZt2iQPR1i4cCG7k2lCo6Oj8mRHVgKI5QdF6oc//CHeeecd/PM//zP3kzhUXFyMt956C06nEwaDIeHrkMlqBxBN0rXbeXO4xFNWVoY77rgDP/vZzzAwMKB2OBTDDh8+LJcTTB4I8C8/Ojs71Q6HYpAoijh27BhKSko4Tj5OLV26VL5q50svvaR2OKpLmARCOriLiorYMpCgpM62uro6lSOhWCWKIn7+85+jqKiIlQDyc/DgQWg0GpYfFJJ0RUeLxaJ2KDSLNm3ahJKSErS2tkIURbXDUVXCJBDSwZ1AI7YoQHZ2Nvbv34+3334bra2taodDMaiuro7lBIWUnZ2NiooKdHV1oaWlRe1wKIa0tLSgq6sLZrOZoxsSgMVigUajSfheiIRIIAYGBuS7QPLgTmzS2HYmEBSos7MTg4ODLCcorLKyMmg0GthsNrVDoRginU94o7jEsHTpUpSUlKCrqyuhh0QnRAIhHdy8ARQtXboURUVFaG1txejoqNrhUAyRWpVZCaCJFBcXJ3zFgcaNjo6ira0NRUVFbHhIIFJ9MpEbIxMigbDZbMjMzOSESALgrQCMjY0l9IFPwdra2rBhwwZespUmZDabASR2xYHGSfsB50wllk2bNiEzMxPHjh1TOxTVJEQCMTg4yIObZNK+wKupkEQavsRygiYjVRyYQBAwfh5h2ZF4pN7IRJXk8Xg8agcxk5544gl0dHQAAJKSkuDxeJCUlIQbN24gKSkJSUlJWLBgAdrb21WOlKKppKQEAwMD8j6RnJwMaddPSkoCAKSkpOD3v/+9mmFSlJhMJpw/f14uE27cuAEAfvuFRqNBW1ubmmFSDLnjjjv89g/p3CLtP4sXL8Zbb72lcpQ02/7u7/4Oly5d8qtT3Lhxw2/fWLVqFY4fP65ypDQbtm/fjuvXr8v1BmUVWtoX3nnnHbXCi6q464H47ne/ixUrVsg/rvRvcnKy/P/Vq1erFh+p4+mnn8bSpUuRlJSE5GTvbi8V/oC3ELjzzjvVDJGiqLq6GkuWLPErH5T7BQDo9XrV4qPYs2LFCgDj5YbynJKUlASdTqdmeBQlW7ZskRuhlOUH4N0PNBoNnnvuOTVDpFm0bNkyv8dSeSDtCzk5OWqEpYq4SyBuv/12rFu3DuE6VjQaDZ544okoR0VqKykpwS233BL29bS0NHznO9+JYkSkpuLiYqSnp4d9PT09HU8++WQUI6JYt2HDhrDnlaVLl+Lb3/52lCMiNTzzzDNYvnx52NdzcnLw0EMPRTEiiqaysjIsWrQo7Otf/vKXoxiNuuIugQCAZ599FitXrgz5Wk5ODh588MEoR0SxoLKyEkuWLAl63uPx4NZbb8WWLVtUiIrU8txzzyElJSXoeY/Hg3Xr1mH79u0qREWxqqqqClqtNuRr2dnZKCkpiXJEpIaCgoKw5wqNRoPHHnssyhFRND355JNhE8js7GyUl5dHOSL1xGUCsXXrVtx2221BrUVLlixJqB+X/D344IPIzc0Nen7lypXYt2+fChGRmoqKirB27dqg51etWsVKAAW57bbbsHXr1qDzCiuNiefAgQMhk8mMjAzs3r1bhYgomsrKyrBw4UK/5zweDwRBQF5enkpRRV9cJhAA8NRTTyEtLc3vuRUrVrD3IcGVl5f79UJ4PB7k5+dj69atKkZFavnOd76D1NRUv+eys7OxY8cOlSKiWBbqvLJs2TJWGhNMqB7r1NRUJpIJory8HKtWrfJ7btWqVdi7d69KEakjbhOILVu2YPPmzfLj1NRUjnEnPPjgg37X+V+xYgUOHDigYkSkpq985StYs2aN3Kqs1Wrx1FNPqRwVxapbb70Vt956q/w4NTWV+0uCevLJJ/16IZYvX46vfvWrKkZE0fSNb3wDCxYskB/feeedWLNmjYoRRV/cJhCAt7VIunJGeno6x6gSAG/rgdTqvHnzZmzbtk3liEhNTz31lLw/rFmzBvfcc4/KEVEse+qpp+Qx0Glpafja176mckSkhi1btsgT65csWYL9+/erHRJF0eOPPy5fkSkjIyMhf/+4TiC2bt2K/Px8LFq0iFdUIdnu3buxfPlyrFixgr1SJF+RSavVcn+gSUkVR55XqKKiArfccguys7NRWlqqdjgUZY8++iiSk5NRWFiYUHMfJPPDvXDq3bFoxjFrvlXyXSy+ZseGrK/ExTbdsnIB0leHv4SY2ubKd1xu+h7ee+89LPGsnxMxr96UikWpsZnvXxq7jr5Tl9QO46Y8/vUf4I9//CO0C2+bE/tDOKnL5iEnP/jKUrGiv/sSPv/bdbXDuGnm0uex8Opr2JRTPKf3F8mq3EVYvmrB5AuqwOMBTr8Xm99xKvJRWPB1bNmyJWb3g5gvE05fwuejc7NM+Mode/D25gEY73kiZn//ySxKTcbqTamTLxhC2DtR//v/eRab7gp/rWOKvs9Hr2Fekgc7zeGvX6+2/6f2LDYK3G9mUu/JMez8VjrSdbGZOPZ1XcIff/MxctYHXyKXoufaFx58MnQJDz8Tuzcy+tVP+rEiKwXzFySpHQr5uAevYPWmxdhWFJvl9vVrHvzH/3UOG+4Mfx8fCu2Lqzfw6fBlmFgmUBi9J0dh/t70bq4ctgciRTMP+h0rph0UzTz34BWc7/hU7TAmxP1m5n128Qu1Q5jUyuzF/N1VduXSDfzp17HfE7TxruUx25uWiM5+MAogtluAU5fNZ/kyDVc+v44/twypHcakNm1fjoUpLBPUcN41Ou338hcjIiIiIqKIMYEgIiIiIqKIMYEgIiIiIqKIMYEgIiIiIqKIMYEgIiIiIqKIMYEgIiIiIqKIMYGYCe4W1Bir4HRPvqirUUCNcyTMqyNw1ghodM1odPFrCt87JTiXFUajFeofWt5jPHwZEJ7bWQVjY8csxERE6mGZQHPTtBKIkDttzJygZ4m7BTVGAcaAv+kc9Ikqlgo7V2PAbxlpXO4W1ATt50z8JuWyTu/7nu66alow+3llBxqZwM4Kt7NqzhxPLEtUFnhuVvUcwzJhRoWod91MnWviBtyZ+owONAbEHPHxHOrcFbKciA1hbyRHoZjR4LBAH/R8KeodpSrEk+C0N/e9C5bjqDekwXvS3oUap/SYZpTLCmN1Dyw2EQat76lGAcaaWtjqS6GNRgx6CxyOaKyIbl4HjlrbYTd1oFJfoHYwEWFZopZROK11gOU4HIY0wN2CRjFL7aBoRhXCYjvkPXe4W1Bj3oVGnYjK4IpYDAmMuQpO6XEcmaUhTP4Z2Hj25f+8MouTsjpva04VnG5fS4xTkYEqMrPAVh95He4W1NS0wOWs8r3my9wULaB+2WBAhjv1lh9pm5StDuG3M4hfy+wuWMWprj9eeH/vUK1Ibvm3FBS/aeD3PvH+MrE06HIBsXsQQIgWBrlVoAON5jqIsKFasW+5Gr2/m706YB/y+20V+4fv85yNN7PfzRWjcDbbYGrwLzz1lUdgEutw1IUQLSyBrbDhjqcQ5Yy7BTXVNkCsg1naB+RjXLGOcMe9LxanYp+b9tCCCcoA0bpr/PWA/dT/vbHZ8jSrXE7YTWaY7E2KMnXi49vvO5N/84AyWdkyHbDP+Z1PAs4z/uelyYKPobLEbx+P11bxUXSLQK7Ol6xpS1GpTNwmPM7D1VGq4HT7yhZ5X5jCOT0MlgkzQFuIIgHo6/V9dxH9vt593+2sQrV9/Hv2fv+BvQXK7zZ4XzgT8jMmizkPuWhH9zAQqodRHpkR6twVppwAJiuzWhTbNXv7y6z0QLidTbCbjsBRqWw96kCjcR/QIMKhR+hMsq0OreUiHJUAMAInAHsbYHOI0PpadqzOQtQb0qCvlJbz/gDmaiuKpd4BsQ7NRcfhcKR5C9hGK0wwwOGweJdtbsGe+lJo3S2oMTtRZBNRr4WvpbQK+VPKFAtQaatFn9kZ+XYqvxO/llnvNnZP6duOB77fNvcIHPUF8GvF070CszUPDY5D0MvLGaBHAfR+37tXuP1lYh1otQOmhslaO6Xfugvlyp6oyuOw9O1Cd7niNw5sdXdZYTRboVPso93Svu6ywqjcf+OJ+220iYUosgS+UIBiE9DcOwJkTPQB4Y+nPb2hyplS1Dd0wdi80a93o76hC8ZqKaYW1JjrkNsgol7+TF8LEQDAhjb4yg/fsk5haq1HWsMhOAy+By4rjNX+nzHeYu0t8M2NeXBUFnjLpzYDbI5D0Ppeq67xbktiGIGzuQcWyyHoIKBZHIFBcfyGPr4HcdQKvx4uYARFQp33pK2FNymxA8WVBdADcItOiKYK1MP3HeMIHI7xskf6PQAEnJcmEztlCY4qWubjVjaKTUB1qPO2uwU15i6UO0TUA5CTyIye8Me/7/1tVifKHSIqpfdFfE4Pj2XCDHC3+84nUtkcuv6mC7XvGw6hoVtAc76ydzANlfLv7D32qxsNfucU/32hNMRnTMLlhB1mNEy2r2hDn7tClROuRgHVfbWwOUrlfUJZZonWLjlmV6MQtE0zZVZ6ILS6PMCv9ciXVAi12CN9A9pSlJsAe+t4q5CYWxF0QApFhb4v0r9lx299ggGC3zOFKBJ8P27GRgi+E4ccm9iFYQCuo3UQTRXjhY5+LyxCO9rEcFmllAWGbzWOZDtlLifsggFCnHVrTZmvULDskXbwNAhFhRDb2nGmtwcQNvrqmN7n0dcTtmchkv1FMt7i04R828x2ibpabYDfvmWACTa0yvuMGcXS+jI2QkAPeuOyhfDmTHQ8hSpnIvpM0QnR7zMLUeR33CvKD7/Wo2nSG2Ca6OU9tRDsTrh8Q3dM5eMnD/2eWgiiE2Ki7BvudrTBWybqi80Q29r9jvXQx3cW8oV2WI8qy1hvWSGVu67WHlgsQLNzBMAIxLZ2mIoLAHcLmu3+ZY+h3AzYnXKrXajzUqBYLEsy8gshWl+J+9ZqfaUImwWwmv17Wrznd4OiUaYAlZUFERz/7cgtH6+sTemcHnHQLBMi1+77bQUYzU4U+RK9iepv09v3ffWLgHUr94Vpxdy8EbYZbRz0NVIo94li/zILiv0+I99bZxqbsfWPm505EHoLHA1WGM0CrL55AxmAr2umzn9ZxVEk5E9l7KK3VcAuPy5EkRtT/5Hs+2C0+z8lFIVbONwciACTbKfE3dsDYGNEYca/POgUiZRWlwcAWK7LA0QnRHcpDFrviR+5FTMybt5/3LIAI2pntFXHf3/OQr6ABOxdCmcEvX0A8iNYNNzxFKKcifj4z81T7EPeyujM8rWQK4YkmqTW8JDGE0h7tQD/IqkQYYukOOM6WgcUHfd+Tfq9sGAXjrpKJ6mQp8FQfxyo2QWjcfy41goGCFYnXHt60NxngKUyD9017XALQBtqYdED3uzEe7K3+n2mWf5fJOelWCxLtIZDsKEKZqMACFGcb6QCqXXf7ayC2dc7A0zw2014/BciP7BXNMJz+sRYJkyPbz4BvD0OfsLU36a077usMFbbFB9ggBsFvuVD7AtTiVmaA2EUAMtx1BsmfWPEn+8XV8ZGCOiaqQ+P2OxNotZb4HBY5O4TWz6AoOEG09WBRl9Lj0PuuuqZ1icpuw1nzIxtZyLxFpZ631EuJ1d6CxpMAqqlE7xQC9uMf7dpMNQfQbexCaK7FLoZ+lRv66i0bw2iWwRQPkMfPldo70SR8ALaAoaiSN9HbnkEx95Ex1NAORPxcdfXozhJTCGZiYhvKGK5CEc95GFQE/Mm0N3KE0+A+G9w9LasidgFo7I2n9uBSv1klfg0GOpFGPyGnBWiSKhDs7UQueXe4R/FuU04ehRAUa2iQhE++Zx6631slSXeivVUhnPObVpDBUzWJvS6AR0CvzeFqR7/N31OZ5lw07SlsFicMFtbIPiS84nqbxHt+y6rr4dAHB8e1jfzcXuHJrXDbQjs4Ziu9vHhmQAw3AU1qhfTGsLkHTrg9Ctc3b09ft0mEqn7BIYKmOz7/Ib9uFzT7AJ092D8Nx6Bs7UnYAhTZPR7agFrnd9EPZfr5i7xpY1gO6VhNVrBkGBdkWEEdSF7u22FokJo3S1o7quFzSHC4RDhmK1WNJcTdl+BnZFfqBg6MQJnsy1gYeXwgXHKLu3ALkW3swl25VCDhLEUhnIzxIDjzFmzb3xYgDYPucrv1PWK3EoXyfEEjJcz8iomOC/cwjIAAARySURBVK6CjjvXK7CKimFLN81XwZM+/qgTExVQ3vH43nk9eyyA1aqYQOnugEu5HRMM35vr5Llz0rHuEOGwSUM5IuQ35Mw3FFLMk487/R4D+uxQDFErRbnJhmrlBGtXx80N+4m5smTy4ZxzmatRMUlU8d0HDevwzYGY6vEfaRk0MZYJM0FrqIUFdbA6RyKsvwXv+8phkd6GSulBC1r7IqvgBw6tnIyr1ebr9fLGM358e+s6/h8e6tylLCe88wfHP8NXroSof8+26fVASEMHjIojQKiFrd6bobudVTDLX0ohLDZvpa/SVosaswBjwHumXCGUMlGzAKsvO7fkV8F8tAOGPVP7nPqGLt8QCB/TETj0N1ORKJhwO/V7aiGY98GII3BUhlg/AFM8t1IHdjn6uhe9rXbjLY9yy4Ibwd3HM9TDI1qVLZ3e/UgPeJNd6z7fOgthsZiBNt9i0r7n61I2NYio1KfBYKlFm9m3baYjcFRaYLP4ulABRDz8LR75DTXy8fsNC7DHUih/pzDVwiIP0Qh/PCFMOePfayV1fysEHffK7uapblzw8BdTg4jKBjOMin2kHlYYm1uwp74QQCHQptj3FN+F1jfRT7m/mxpE6LVS6+o+mGuA1+pLoZlqqDFt1DvWu+GQ/9NSL4KzdIIhGwHDWU1HvJNd4U0WTZbC8eNOW4giE/zmnekrj8PiG/7k5SsLpnBiisWyxNUooFr+UsxocMRjr/goevtssBqlxEzx3Yeop5gaREBbEP74D2nic3owdcqElvpSLIz0a5uzpOOjDk7bobD1t3D7vr7yCExG3/Eo1MJWXwtL2y6/x/k1Ew+bDP6MUI2aAfuAon4s1wHt3tgslsLx8Yihzl2hyonAMkulUS9JHo/HE+qFV//XeRifWh3teGgC7sErON/xKXaa09UOJSzb/30ehidncb+Rr7wQf9dUDkf8rwv4UvEtSNctUjuUkPq6LuHku5/hS/dHmHgrroIU29fynluuXLqBP/16EA8/k6N2KGH96if9+PJXs7AodZauIE5TdvaDUcxPvo5tRcvVDiWk69c8+MWP+3H/3hmfqBT3rnx+HX9uGYIpxsuEu7+WhYUpLBPU4Pj38yj7/vTqbPzFKMZ1oFF5TezhLogBE65pjtGWot5xHPnNvK45ERHRXMQ7UVNsc/WgD8ohTIouaprDfJNe1Q6DiIiIpowJBMU2fSnqE/GGOUREREQxikOYiIiIiIgoYkwgiIiIiIgoYkwgiIiIiIgoYkwgiIiIiIgoYkwgiIiIiIgoYmGvwpSU5L3BBMWW/K2xf/9Z7jczb/6C2LzJEwAsWJyMC+c+5+8eA7LyUtQOYUK3pC1Aq61P7TAogLBzhdohhJWUlIQb12+wfJmmrLWxXyb8z6ssE9SyIn369y8PeydqIiIiIiKiQBzCREREREREEWMCQUREREREEWMCQUREREREEWMCQUREREREEWMCQUREREREEWMCQUREREREEWMCQUREREREEWMCQUREREREEfv/AVMUFy/P1g83AAAAAElFTkSuQmCC">
            <a:extLst>
              <a:ext uri="{FF2B5EF4-FFF2-40B4-BE49-F238E27FC236}">
                <a16:creationId xmlns:a16="http://schemas.microsoft.com/office/drawing/2014/main" id="{84D37F1C-76E2-37EA-84D1-4E2D57DBBE94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3053457"/>
            <a:ext cx="9942373" cy="31409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88790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4763-AC6D-1F11-75AD-63562738E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94715-C022-4208-8446-FDFB9293C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40" y="9599"/>
            <a:ext cx="11222734" cy="657151"/>
          </a:xfrm>
        </p:spPr>
        <p:txBody>
          <a:bodyPr>
            <a:noAutofit/>
          </a:bodyPr>
          <a:lstStyle/>
          <a:p>
            <a:r>
              <a:rPr lang="en-GB" sz="4400" noProof="0" dirty="0"/>
              <a:t>Main Class</a:t>
            </a:r>
            <a:endParaRPr lang="en-GB" sz="40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AB2210-FCE3-8319-2EFA-8A55E028907D}"/>
              </a:ext>
            </a:extLst>
          </p:cNvPr>
          <p:cNvSpPr txBox="1"/>
          <p:nvPr/>
        </p:nvSpPr>
        <p:spPr>
          <a:xfrm>
            <a:off x="679840" y="666750"/>
            <a:ext cx="10960742" cy="621708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javax.swing.JFrame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java.awt.CardLayout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javax.swing.JPanel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endParaRPr lang="en-GB" b="1" dirty="0">
              <a:solidFill>
                <a:srgbClr val="007020"/>
              </a:solidFill>
              <a:latin typeface="Courier"/>
            </a:endParaRP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public class </a:t>
            </a:r>
            <a:r>
              <a:rPr lang="en-GB" dirty="0" err="1">
                <a:latin typeface="Courier"/>
              </a:rPr>
              <a:t>Main_Panel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{    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0702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public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902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static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902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void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6287E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main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(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String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[]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args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Courier"/>
                <a:ea typeface="+mn-ea"/>
                <a:cs typeface="+mn-cs"/>
              </a:rPr>
              <a:t>)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{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       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JFrame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dirty="0">
                <a:latin typeface="Courier"/>
              </a:rPr>
              <a:t>frame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= new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JFrame</a:t>
            </a:r>
            <a:r>
              <a:rPr lang="en-GB" dirty="0">
                <a:latin typeface="Courier"/>
              </a:rPr>
              <a:t>("</a:t>
            </a:r>
            <a:r>
              <a:rPr lang="en-GB" dirty="0" err="1">
                <a:latin typeface="Courier"/>
              </a:rPr>
              <a:t>Quizz</a:t>
            </a:r>
            <a:r>
              <a:rPr lang="en-GB" dirty="0">
                <a:latin typeface="Courier"/>
              </a:rPr>
              <a:t> app")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dirty="0">
                <a:solidFill>
                  <a:srgbClr val="008000"/>
                </a:solidFill>
                <a:latin typeface="Courier"/>
              </a:rPr>
              <a:t>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CardLayout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CardLayout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dirty="0"/>
            </a:br>
            <a:r>
              <a:rPr lang="en-GB" dirty="0"/>
              <a:t> 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  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LoginPanel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cardLayout,mainPanel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"Login"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    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QuizPanel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cardLayout,mainPanel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"Quiz"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    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ResultsPanel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cardLayout,mainPanel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"Results"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    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"Login"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//we switch to the Login view</a:t>
            </a:r>
          </a:p>
          <a:p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GB" dirty="0"/>
              <a:t>        </a:t>
            </a:r>
            <a:r>
              <a:rPr lang="en-GB" dirty="0" err="1">
                <a:latin typeface="Courier"/>
              </a:rPr>
              <a:t>frame</a:t>
            </a:r>
            <a:r>
              <a:rPr lang="en-GB" dirty="0" err="1"/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setDefaultCloseOperation</a:t>
            </a:r>
            <a:r>
              <a:rPr lang="en-GB" dirty="0"/>
              <a:t>(</a:t>
            </a:r>
            <a:r>
              <a:rPr lang="en-GB" dirty="0" err="1"/>
              <a:t>JFrame.EXIT_ON_CLOSE</a:t>
            </a:r>
            <a:r>
              <a:rPr lang="en-GB" dirty="0"/>
              <a:t>);</a:t>
            </a:r>
          </a:p>
          <a:p>
            <a:r>
              <a:rPr lang="en-GB" dirty="0"/>
              <a:t>        </a:t>
            </a:r>
            <a:r>
              <a:rPr lang="en-GB" dirty="0" err="1">
                <a:latin typeface="Courier"/>
              </a:rPr>
              <a:t>frame</a:t>
            </a:r>
            <a:r>
              <a:rPr lang="en-GB" dirty="0" err="1"/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setSize</a:t>
            </a:r>
            <a:r>
              <a:rPr lang="en-GB" dirty="0"/>
              <a:t>(400, 300);</a:t>
            </a:r>
          </a:p>
          <a:p>
            <a:r>
              <a:rPr lang="en-GB" dirty="0"/>
              <a:t>        </a:t>
            </a:r>
            <a:r>
              <a:rPr lang="en-GB" dirty="0" err="1">
                <a:latin typeface="Courier"/>
              </a:rPr>
              <a:t>frame</a:t>
            </a:r>
            <a:r>
              <a:rPr lang="en-GB" dirty="0" err="1"/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/>
              <a:t>(</a:t>
            </a:r>
            <a:r>
              <a:rPr lang="en-GB" dirty="0" err="1"/>
              <a:t>mainPanel</a:t>
            </a:r>
            <a:r>
              <a:rPr lang="en-GB" dirty="0"/>
              <a:t>);</a:t>
            </a:r>
          </a:p>
          <a:p>
            <a:r>
              <a:rPr lang="en-GB" dirty="0"/>
              <a:t>        </a:t>
            </a:r>
            <a:r>
              <a:rPr lang="en-GB" dirty="0" err="1">
                <a:latin typeface="Courier"/>
              </a:rPr>
              <a:t>frame</a:t>
            </a:r>
            <a:r>
              <a:rPr lang="en-GB" dirty="0" err="1"/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setVisible</a:t>
            </a:r>
            <a:r>
              <a:rPr lang="en-GB" dirty="0"/>
              <a:t>(true);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4112279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1DC6B-C8CC-65E5-31C3-86DBB324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1DF10-4BC4-A142-2C6C-04C7894DE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40" y="9599"/>
            <a:ext cx="11222734" cy="657151"/>
          </a:xfrm>
        </p:spPr>
        <p:txBody>
          <a:bodyPr>
            <a:noAutofit/>
          </a:bodyPr>
          <a:lstStyle/>
          <a:p>
            <a:r>
              <a:rPr lang="en-GB" sz="4400" noProof="0" dirty="0"/>
              <a:t>Step 1: Login Screen</a:t>
            </a:r>
            <a:endParaRPr lang="en-GB" sz="40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77DDB-5F14-B3B6-68BB-DB6DD1AA8C3C}"/>
              </a:ext>
            </a:extLst>
          </p:cNvPr>
          <p:cNvSpPr txBox="1"/>
          <p:nvPr/>
        </p:nvSpPr>
        <p:spPr>
          <a:xfrm>
            <a:off x="679840" y="666750"/>
            <a:ext cx="11512160" cy="6186309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javax.swing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.*; 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.*; 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java.awt.event.ActionListener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endParaRPr lang="en-GB" b="1" dirty="0">
              <a:solidFill>
                <a:srgbClr val="007020"/>
              </a:solidFill>
              <a:latin typeface="Courier"/>
            </a:endParaRP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public class </a:t>
            </a:r>
            <a:r>
              <a:rPr lang="en-GB" dirty="0" err="1">
                <a:latin typeface="Courier"/>
              </a:rPr>
              <a:t>LoginPanel</a:t>
            </a:r>
            <a:r>
              <a:rPr lang="en-GB" dirty="0">
                <a:latin typeface="Courier"/>
              </a:rPr>
              <a:t> extends </a:t>
            </a:r>
            <a:r>
              <a:rPr lang="en-GB" dirty="0" err="1">
                <a:latin typeface="Courier"/>
              </a:rPr>
              <a:t>JPanel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{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private </a:t>
            </a:r>
            <a:r>
              <a:rPr lang="en-GB" dirty="0" err="1">
                <a:solidFill>
                  <a:srgbClr val="007020"/>
                </a:solidFill>
                <a:latin typeface="Courier"/>
              </a:rPr>
              <a:t>CardLayout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dirty="0" err="1">
                <a:latin typeface="Courier"/>
              </a:rPr>
              <a:t>cardLayout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private </a:t>
            </a:r>
            <a:r>
              <a:rPr lang="en-GB" dirty="0" err="1">
                <a:solidFill>
                  <a:srgbClr val="007020"/>
                </a:solidFill>
                <a:latin typeface="Courier"/>
              </a:rPr>
              <a:t>JPanel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dirty="0" err="1">
                <a:latin typeface="Courier"/>
              </a:rPr>
              <a:t>mainPanel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   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public 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LoginPanel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(</a:t>
            </a:r>
            <a:r>
              <a:rPr lang="en-GB" dirty="0" err="1">
                <a:solidFill>
                  <a:srgbClr val="007020"/>
                </a:solidFill>
                <a:latin typeface="Courier"/>
              </a:rPr>
              <a:t>CardLayout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>
                <a:latin typeface="Courier"/>
              </a:rPr>
              <a:t>,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dirty="0" err="1">
                <a:solidFill>
                  <a:srgbClr val="007020"/>
                </a:solidFill>
                <a:latin typeface="Courier"/>
              </a:rPr>
              <a:t>JPanel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dirty="0" err="1">
                <a:latin typeface="Courier"/>
              </a:rPr>
              <a:t>mainPanel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) {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  </a:t>
            </a:r>
            <a:r>
              <a:rPr lang="en-GB" dirty="0" err="1">
                <a:latin typeface="Courier"/>
              </a:rPr>
              <a:t>this.cardLayout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= </a:t>
            </a:r>
            <a:r>
              <a:rPr lang="en-GB" dirty="0" err="1">
                <a:latin typeface="Courier"/>
              </a:rPr>
              <a:t>cardLayout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  </a:t>
            </a:r>
            <a:r>
              <a:rPr lang="en-GB" dirty="0" err="1">
                <a:latin typeface="Courier"/>
              </a:rPr>
              <a:t>this.mainPanel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= </a:t>
            </a:r>
            <a:r>
              <a:rPr lang="en-GB" dirty="0" err="1">
                <a:latin typeface="Courier"/>
              </a:rPr>
              <a:t>mainPanel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loginPanel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dirty="0"/>
            </a:br>
            <a:r>
              <a:rPr lang="en-GB" dirty="0"/>
              <a:t>         </a:t>
            </a:r>
            <a:r>
              <a:rPr lang="en-GB" dirty="0" err="1">
                <a:latin typeface="Courier"/>
              </a:rPr>
              <a:t>loginPanel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FlowLayout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dirty="0"/>
            </a:br>
            <a:r>
              <a:rPr lang="en-GB" dirty="0"/>
              <a:t>  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JTextField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usernameField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JTextField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A070"/>
                </a:solidFill>
                <a:latin typeface="Courier"/>
              </a:rPr>
              <a:t>20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loginButton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"Login"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   </a:t>
            </a:r>
            <a:r>
              <a:rPr lang="en-GB" dirty="0" err="1">
                <a:latin typeface="Courier"/>
              </a:rPr>
              <a:t>loginButton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addActionListener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e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-&gt;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{</a:t>
            </a:r>
            <a:br>
              <a:rPr lang="en-GB" dirty="0"/>
            </a:br>
            <a:r>
              <a:rPr lang="en-GB" dirty="0">
                <a:latin typeface="Courier"/>
              </a:rPr>
              <a:t>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"Username: "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+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usernameField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getText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dirty="0"/>
            </a:br>
            <a:r>
              <a:rPr lang="en-GB" dirty="0"/>
              <a:t>                 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“Quiz"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 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//we switch to the Quiz view</a:t>
            </a:r>
          </a:p>
          <a:p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   } ) ;</a:t>
            </a:r>
          </a:p>
          <a:p>
            <a:endParaRPr lang="en-GB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r>
              <a:rPr lang="en-GB" dirty="0"/>
              <a:t>         </a:t>
            </a:r>
            <a:r>
              <a:rPr lang="en-GB" dirty="0" err="1">
                <a:latin typeface="Courier"/>
              </a:rPr>
              <a:t>loginPanel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JLabel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"Username:"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));</a:t>
            </a:r>
            <a:br>
              <a:rPr lang="en-GB" dirty="0"/>
            </a:br>
            <a:r>
              <a:rPr lang="en-GB" dirty="0"/>
              <a:t>         </a:t>
            </a:r>
            <a:r>
              <a:rPr lang="en-GB" dirty="0" err="1">
                <a:latin typeface="Courier"/>
              </a:rPr>
              <a:t>loginPanel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usernameField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   </a:t>
            </a:r>
            <a:r>
              <a:rPr lang="en-GB" dirty="0" err="1">
                <a:latin typeface="Courier"/>
              </a:rPr>
              <a:t>loginPanel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loginButton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</a:p>
          <a:p>
            <a:r>
              <a:rPr lang="en-GB" dirty="0">
                <a:latin typeface="Courier"/>
              </a:rPr>
              <a:t>   </a:t>
            </a:r>
            <a:r>
              <a:rPr lang="en-GB" dirty="0" err="1">
                <a:latin typeface="Courier"/>
              </a:rPr>
              <a:t>this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loginPanel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1978270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93F92-DD75-6F96-33AD-99C481420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9A82-26E9-22BA-0B24-77813CF1C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40" y="9599"/>
            <a:ext cx="11222734" cy="657151"/>
          </a:xfrm>
        </p:spPr>
        <p:txBody>
          <a:bodyPr>
            <a:noAutofit/>
          </a:bodyPr>
          <a:lstStyle/>
          <a:p>
            <a:r>
              <a:rPr lang="en-GB" sz="4400" noProof="0" dirty="0"/>
              <a:t>Step </a:t>
            </a:r>
            <a:r>
              <a:rPr lang="en-GB" sz="4400" dirty="0"/>
              <a:t>2</a:t>
            </a:r>
            <a:r>
              <a:rPr lang="en-GB" sz="4400" noProof="0" dirty="0"/>
              <a:t>: Quiz Screen</a:t>
            </a:r>
            <a:endParaRPr lang="en-GB" sz="40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A8C081-F4EB-8AD3-43F0-BC54D9B0864C}"/>
              </a:ext>
            </a:extLst>
          </p:cNvPr>
          <p:cNvSpPr txBox="1"/>
          <p:nvPr/>
        </p:nvSpPr>
        <p:spPr>
          <a:xfrm>
            <a:off x="679840" y="666750"/>
            <a:ext cx="11378810" cy="6093976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javax.swing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.*; 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.*; 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java.awt.event.ActionListener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endParaRPr lang="en-GB" b="1" dirty="0">
              <a:solidFill>
                <a:srgbClr val="007020"/>
              </a:solidFill>
              <a:latin typeface="Courier"/>
            </a:endParaRP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public class </a:t>
            </a:r>
            <a:r>
              <a:rPr lang="en-GB" dirty="0" err="1">
                <a:latin typeface="Courier"/>
              </a:rPr>
              <a:t>QuizPanel</a:t>
            </a:r>
            <a:r>
              <a:rPr lang="en-GB" dirty="0">
                <a:latin typeface="Courier"/>
              </a:rPr>
              <a:t> extends </a:t>
            </a:r>
            <a:r>
              <a:rPr lang="en-GB" dirty="0" err="1">
                <a:latin typeface="Courier"/>
              </a:rPr>
              <a:t>JPanel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{    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private 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private 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JPanel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mainPanel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   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public 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QuizPanel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(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cardLayout</a:t>
            </a:r>
            <a:r>
              <a:rPr lang="en-GB" sz="2000" dirty="0">
                <a:latin typeface="Courier"/>
              </a:rPr>
              <a:t>,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JPanel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mainPanel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) {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 </a:t>
            </a:r>
            <a:r>
              <a:rPr lang="en-GB" sz="2000" dirty="0" err="1">
                <a:latin typeface="Courier"/>
              </a:rPr>
              <a:t>this.cardLayout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= </a:t>
            </a:r>
            <a:r>
              <a:rPr lang="en-GB" sz="2000" dirty="0" err="1"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 </a:t>
            </a:r>
            <a:r>
              <a:rPr lang="en-GB" sz="2000" dirty="0" err="1">
                <a:latin typeface="Courier"/>
              </a:rPr>
              <a:t>this.mainPanel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= </a:t>
            </a:r>
            <a:r>
              <a:rPr lang="en-GB" sz="2000" dirty="0" err="1">
                <a:latin typeface="Courier"/>
              </a:rPr>
              <a:t>mainPanel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pPr lvl="0" indent="0">
              <a:buNone/>
            </a:pPr>
            <a:r>
              <a:rPr lang="en-GB" b="1" dirty="0">
                <a:solidFill>
                  <a:srgbClr val="007020"/>
                </a:solidFill>
                <a:latin typeface="Courier"/>
              </a:rPr>
              <a:t>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quizPanel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dirty="0"/>
            </a:br>
            <a:r>
              <a:rPr lang="en-GB" dirty="0"/>
              <a:t>       </a:t>
            </a:r>
            <a:r>
              <a:rPr lang="en-GB" dirty="0" err="1">
                <a:latin typeface="Courier"/>
              </a:rPr>
              <a:t>quizPanel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GridLayout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A070"/>
                </a:solidFill>
                <a:latin typeface="Courier"/>
              </a:rPr>
              <a:t>3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A070"/>
                </a:solidFill>
                <a:latin typeface="Courier"/>
              </a:rPr>
              <a:t>1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));</a:t>
            </a:r>
            <a:br>
              <a:rPr lang="en-GB" dirty="0"/>
            </a:br>
            <a:endParaRPr lang="en-GB" dirty="0"/>
          </a:p>
          <a:p>
            <a:pPr lvl="0" indent="0">
              <a:buNone/>
            </a:pPr>
            <a:r>
              <a:rPr lang="en-GB" dirty="0"/>
              <a:t>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JLabel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questionLabel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JLabel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"What is 2 + 2?"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latin typeface="Courier"/>
              </a:rPr>
              <a:t> option1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"3"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latin typeface="Courier"/>
              </a:rPr>
              <a:t> option2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"4"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>
                <a:latin typeface="Courier"/>
              </a:rPr>
              <a:t>option1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addActionListener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e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-&gt;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System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println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"Wrong Answer!"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>
                <a:latin typeface="Courier"/>
              </a:rPr>
              <a:t>option2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addActionListener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e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-&gt;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"Results"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latin typeface="Courier"/>
              </a:rPr>
              <a:t>quizPanel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questionLabel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latin typeface="Courier"/>
              </a:rPr>
              <a:t>quizPanel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option1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latin typeface="Courier"/>
              </a:rPr>
              <a:t>quizPanel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option2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>
              <a:buNone/>
            </a:pPr>
            <a:r>
              <a:rPr lang="en-GB" dirty="0">
                <a:solidFill>
                  <a:srgbClr val="666666"/>
                </a:solidFill>
                <a:latin typeface="Courier"/>
              </a:rPr>
              <a:t>  </a:t>
            </a:r>
            <a:r>
              <a:rPr lang="en-GB" dirty="0" err="1">
                <a:latin typeface="Courier"/>
              </a:rPr>
              <a:t>this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quizPanel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6018719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56395-166E-1FC7-9DD9-EB5BCBD42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349D-C299-27D3-AD9A-10CD8D466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840" y="9599"/>
            <a:ext cx="11222734" cy="657151"/>
          </a:xfrm>
        </p:spPr>
        <p:txBody>
          <a:bodyPr>
            <a:noAutofit/>
          </a:bodyPr>
          <a:lstStyle/>
          <a:p>
            <a:r>
              <a:rPr lang="en-GB" sz="4400" noProof="0" dirty="0"/>
              <a:t>Step 3: Results Screen</a:t>
            </a:r>
            <a:endParaRPr lang="en-GB" sz="40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F46C84-718F-BC68-EAC7-8001AF520740}"/>
              </a:ext>
            </a:extLst>
          </p:cNvPr>
          <p:cNvSpPr txBox="1"/>
          <p:nvPr/>
        </p:nvSpPr>
        <p:spPr>
          <a:xfrm>
            <a:off x="679840" y="666750"/>
            <a:ext cx="11378810" cy="581697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javax.swing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.*; 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.*; import </a:t>
            </a:r>
            <a:r>
              <a:rPr lang="en-GB" b="1" dirty="0" err="1">
                <a:solidFill>
                  <a:srgbClr val="007020"/>
                </a:solidFill>
                <a:latin typeface="Courier"/>
              </a:rPr>
              <a:t>java.awt.event.ActionListener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endParaRPr lang="en-GB" b="1" dirty="0">
              <a:solidFill>
                <a:srgbClr val="007020"/>
              </a:solidFill>
              <a:latin typeface="Courier"/>
            </a:endParaRP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public class </a:t>
            </a:r>
            <a:r>
              <a:rPr lang="en-GB" dirty="0" err="1">
                <a:latin typeface="Courier"/>
              </a:rPr>
              <a:t>ResultsPanel</a:t>
            </a:r>
            <a:r>
              <a:rPr lang="en-GB" dirty="0">
                <a:latin typeface="Courier"/>
              </a:rPr>
              <a:t> extends </a:t>
            </a:r>
            <a:r>
              <a:rPr lang="en-GB" dirty="0" err="1">
                <a:latin typeface="Courier"/>
              </a:rPr>
              <a:t>JPanel</a:t>
            </a:r>
            <a:r>
              <a:rPr lang="en-GB" dirty="0">
                <a:solidFill>
                  <a:srgbClr val="06287E"/>
                </a:solidFill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{    </a:t>
            </a:r>
          </a:p>
          <a:p>
            <a:r>
              <a:rPr lang="en-GB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private 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private 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JPanel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mainPanel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   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public </a:t>
            </a:r>
            <a:r>
              <a:rPr lang="en-GB" sz="2000" dirty="0" err="1">
                <a:solidFill>
                  <a:srgbClr val="06287E"/>
                </a:solidFill>
                <a:latin typeface="Courier"/>
              </a:rPr>
              <a:t>ResultsPanel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(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cardLayout</a:t>
            </a:r>
            <a:r>
              <a:rPr lang="en-GB" sz="2000" dirty="0">
                <a:latin typeface="Courier"/>
              </a:rPr>
              <a:t>,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solidFill>
                  <a:srgbClr val="007020"/>
                </a:solidFill>
                <a:latin typeface="Courier"/>
              </a:rPr>
              <a:t>JPanel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 </a:t>
            </a:r>
            <a:r>
              <a:rPr lang="en-GB" sz="2000" dirty="0" err="1">
                <a:latin typeface="Courier"/>
              </a:rPr>
              <a:t>mainPanel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) {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 </a:t>
            </a:r>
            <a:r>
              <a:rPr lang="en-GB" sz="2000" dirty="0" err="1">
                <a:latin typeface="Courier"/>
              </a:rPr>
              <a:t>this.cardLayout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= </a:t>
            </a:r>
            <a:r>
              <a:rPr lang="en-GB" sz="2000" dirty="0" err="1">
                <a:latin typeface="Courier"/>
              </a:rPr>
              <a:t>cardLayout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r>
              <a:rPr lang="en-GB" sz="2000" b="1" dirty="0">
                <a:solidFill>
                  <a:srgbClr val="007020"/>
                </a:solidFill>
                <a:latin typeface="Courier"/>
              </a:rPr>
              <a:t>  </a:t>
            </a:r>
            <a:r>
              <a:rPr lang="en-GB" sz="2000" dirty="0" err="1">
                <a:latin typeface="Courier"/>
              </a:rPr>
              <a:t>this.mainPanel</a:t>
            </a:r>
            <a:r>
              <a:rPr lang="en-GB" sz="2000" dirty="0">
                <a:latin typeface="Courier"/>
              </a:rPr>
              <a:t> 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= </a:t>
            </a:r>
            <a:r>
              <a:rPr lang="en-GB" sz="2000" dirty="0" err="1">
                <a:latin typeface="Courier"/>
              </a:rPr>
              <a:t>mainPanel</a:t>
            </a:r>
            <a:r>
              <a:rPr lang="en-GB" sz="2000" b="1" dirty="0">
                <a:solidFill>
                  <a:srgbClr val="007020"/>
                </a:solidFill>
                <a:latin typeface="Courier"/>
              </a:rPr>
              <a:t>;</a:t>
            </a:r>
          </a:p>
          <a:p>
            <a:pPr lvl="0" indent="0">
              <a:buNone/>
            </a:pPr>
            <a:r>
              <a:rPr lang="en-GB" b="1" dirty="0">
                <a:solidFill>
                  <a:srgbClr val="007020"/>
                </a:solidFill>
                <a:latin typeface="Courier"/>
              </a:rPr>
              <a:t>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resultsPanel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latin typeface="Courier"/>
              </a:rPr>
              <a:t>resultsPanel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setLayout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FlowLayout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());</a:t>
            </a:r>
            <a:br>
              <a:rPr lang="en-GB" dirty="0"/>
            </a:br>
            <a:endParaRPr lang="en-GB" dirty="0"/>
          </a:p>
          <a:p>
            <a:pPr lvl="0" indent="0">
              <a:buNone/>
            </a:pPr>
            <a:r>
              <a:rPr lang="en-GB" dirty="0"/>
              <a:t> 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JLabel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scoreLabel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JLabel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"Your Score: 1/1"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restartButton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=</a:t>
            </a:r>
            <a:r>
              <a:rPr lang="en-GB" dirty="0">
                <a:latin typeface="Courier"/>
              </a:rPr>
              <a:t> </a:t>
            </a:r>
            <a:r>
              <a:rPr lang="en-GB" b="1" dirty="0">
                <a:solidFill>
                  <a:srgbClr val="007020"/>
                </a:solidFill>
                <a:latin typeface="Courier"/>
              </a:rPr>
              <a:t>new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solidFill>
                  <a:srgbClr val="008000"/>
                </a:solidFill>
                <a:latin typeface="Courier"/>
              </a:rPr>
              <a:t>JButton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"Restart"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endParaRPr lang="en-GB" dirty="0">
              <a:solidFill>
                <a:srgbClr val="008000"/>
              </a:solidFill>
              <a:latin typeface="Courier"/>
            </a:endParaRPr>
          </a:p>
          <a:p>
            <a:pPr lvl="0" indent="0">
              <a:buNone/>
            </a:pPr>
            <a:r>
              <a:rPr lang="en-GB" dirty="0">
                <a:solidFill>
                  <a:srgbClr val="008000"/>
                </a:solidFill>
                <a:latin typeface="Courier"/>
              </a:rPr>
              <a:t>  </a:t>
            </a:r>
            <a:r>
              <a:rPr lang="en-GB" dirty="0" err="1">
                <a:latin typeface="Courier"/>
              </a:rPr>
              <a:t>restartButton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addActionListener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>
                <a:latin typeface="Courier"/>
              </a:rPr>
              <a:t>e 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-&gt;</a:t>
            </a:r>
            <a:r>
              <a:rPr lang="en-GB" dirty="0">
                <a:latin typeface="Courier"/>
              </a:rPr>
              <a:t> </a:t>
            </a:r>
            <a:r>
              <a:rPr lang="en-GB" dirty="0" err="1">
                <a:latin typeface="Courier"/>
              </a:rPr>
              <a:t>cardLayout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show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mainPanel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,</a:t>
            </a:r>
            <a:r>
              <a:rPr lang="en-GB" dirty="0">
                <a:latin typeface="Courier"/>
              </a:rPr>
              <a:t> </a:t>
            </a:r>
            <a:r>
              <a:rPr lang="en-GB" dirty="0">
                <a:solidFill>
                  <a:srgbClr val="4070A0"/>
                </a:solidFill>
                <a:latin typeface="Courier"/>
              </a:rPr>
              <a:t>“Login"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latin typeface="Courier"/>
              </a:rPr>
              <a:t>resultsPanel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scoreLabel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>
                <a:latin typeface="Courier"/>
              </a:rPr>
              <a:t>resultsPanel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restartButton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>
              <a:buNone/>
            </a:pPr>
            <a:r>
              <a:rPr lang="en-GB" dirty="0">
                <a:solidFill>
                  <a:srgbClr val="666666"/>
                </a:solidFill>
                <a:latin typeface="Courier"/>
              </a:rPr>
              <a:t>  </a:t>
            </a:r>
            <a:r>
              <a:rPr lang="en-GB" dirty="0" err="1">
                <a:latin typeface="Courier"/>
              </a:rPr>
              <a:t>this</a:t>
            </a:r>
            <a:r>
              <a:rPr lang="en-GB" dirty="0" err="1">
                <a:solidFill>
                  <a:srgbClr val="666666"/>
                </a:solidFill>
                <a:latin typeface="Courier"/>
              </a:rPr>
              <a:t>.</a:t>
            </a:r>
            <a:r>
              <a:rPr lang="en-GB" dirty="0" err="1">
                <a:solidFill>
                  <a:srgbClr val="06287E"/>
                </a:solidFill>
                <a:latin typeface="Courier"/>
              </a:rPr>
              <a:t>add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(</a:t>
            </a:r>
            <a:r>
              <a:rPr lang="en-GB" dirty="0" err="1">
                <a:latin typeface="Courier"/>
              </a:rPr>
              <a:t>resultsPanel</a:t>
            </a:r>
            <a:r>
              <a:rPr lang="en-GB" dirty="0">
                <a:solidFill>
                  <a:srgbClr val="666666"/>
                </a:solidFill>
                <a:latin typeface="Courier"/>
              </a:rPr>
              <a:t>); </a:t>
            </a:r>
          </a:p>
          <a:p>
            <a:pPr lvl="0" indent="0">
              <a:buNone/>
            </a:pPr>
            <a:r>
              <a:rPr lang="en-GB" b="1" dirty="0">
                <a:solidFill>
                  <a:srgbClr val="007020"/>
                </a:solidFill>
                <a:latin typeface="Courier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018027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GB" noProof="0" dirty="0"/>
              <a:t>Best Practices for GUI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839450" cy="4351338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GB" sz="3200" noProof="0" dirty="0"/>
              <a:t>Keep the interface simple and intuitive.</a:t>
            </a:r>
          </a:p>
          <a:p>
            <a:pPr marL="0" indent="0">
              <a:buNone/>
            </a:pPr>
            <a:br>
              <a:rPr lang="en-GB" sz="3200" noProof="0" dirty="0"/>
            </a:br>
            <a:r>
              <a:rPr lang="en-GB" sz="3200" dirty="0"/>
              <a:t>2. </a:t>
            </a:r>
            <a:r>
              <a:rPr lang="en-GB" sz="3200" noProof="0" dirty="0"/>
              <a:t>Use consistent layouts and styles.</a:t>
            </a:r>
            <a:br>
              <a:rPr lang="en-GB" sz="3200" noProof="0" dirty="0"/>
            </a:br>
            <a:endParaRPr lang="en-GB" sz="3200" noProof="0" dirty="0"/>
          </a:p>
          <a:p>
            <a:pPr marL="0" indent="0">
              <a:buNone/>
            </a:pPr>
            <a:r>
              <a:rPr lang="en-GB" sz="3200" noProof="0" dirty="0"/>
              <a:t>3. Handle user input gracefully (e.g., validation).</a:t>
            </a:r>
            <a:br>
              <a:rPr lang="en-GB" sz="3200" noProof="0" dirty="0"/>
            </a:br>
            <a:endParaRPr lang="en-GB" sz="3200" noProof="0" dirty="0"/>
          </a:p>
          <a:p>
            <a:pPr marL="0" indent="0">
              <a:buNone/>
            </a:pPr>
            <a:r>
              <a:rPr lang="en-GB" sz="3200" noProof="0" dirty="0"/>
              <a:t>4. Test GUIs on different screen sizes and resolutions.</a:t>
            </a:r>
          </a:p>
          <a:p>
            <a:endParaRPr lang="en-GB" sz="3200" noProof="0" dirty="0"/>
          </a:p>
        </p:txBody>
      </p:sp>
    </p:spTree>
    <p:extLst>
      <p:ext uri="{BB962C8B-B14F-4D97-AF65-F5344CB8AC3E}">
        <p14:creationId xmlns:p14="http://schemas.microsoft.com/office/powerpoint/2010/main" val="35255787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01EF-7B6E-398A-431C-86045A407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4A80E-1DDD-FDBB-8D3D-F27CD0C4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325563"/>
          </a:xfrm>
        </p:spPr>
        <p:txBody>
          <a:bodyPr/>
          <a:lstStyle/>
          <a:p>
            <a:r>
              <a:rPr lang="en-GB" noProof="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4711C-3C4A-767A-5CBD-A1B2B034C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650"/>
            <a:ext cx="10515600" cy="47212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3200" b="1" noProof="0" dirty="0"/>
              <a:t>Key Takeaways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noProof="0" dirty="0"/>
              <a:t>Advanced GUIs enhance usability and interactivity.</a:t>
            </a:r>
            <a:br>
              <a:rPr lang="en-GB" sz="3200" noProof="0" dirty="0"/>
            </a:br>
            <a:endParaRPr lang="en-GB" sz="3200" noProof="0" dirty="0"/>
          </a:p>
          <a:p>
            <a:r>
              <a:rPr lang="en-GB" sz="3200" noProof="0" dirty="0"/>
              <a:t>Layout managers and multi-screen navigation improve organization.</a:t>
            </a:r>
            <a:br>
              <a:rPr lang="en-GB" sz="3200" noProof="0" dirty="0"/>
            </a:br>
            <a:endParaRPr lang="en-GB" sz="3200" noProof="0" dirty="0"/>
          </a:p>
          <a:p>
            <a:r>
              <a:rPr lang="en-GB" sz="3200" noProof="0" dirty="0"/>
              <a:t>Styling with CSS (JavaFX) makes GUIs visually appealing.</a:t>
            </a:r>
            <a:br>
              <a:rPr lang="en-GB" sz="3200" noProof="0" dirty="0"/>
            </a:br>
            <a:endParaRPr lang="en-GB" sz="3200" noProof="0" dirty="0"/>
          </a:p>
          <a:p>
            <a:r>
              <a:rPr lang="en-GB" sz="3200" noProof="0" dirty="0"/>
              <a:t>Building GUIs for the Quiz Manager System (or your project) provides hands-on experience with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827119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3775</Words>
  <Application>Microsoft Office PowerPoint</Application>
  <PresentationFormat>Widescreen</PresentationFormat>
  <Paragraphs>340</Paragraphs>
  <Slides>42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Aptos</vt:lpstr>
      <vt:lpstr>Aptos Body</vt:lpstr>
      <vt:lpstr>Aptos Display</vt:lpstr>
      <vt:lpstr>Arial</vt:lpstr>
      <vt:lpstr>Calibri</vt:lpstr>
      <vt:lpstr>Consolas</vt:lpstr>
      <vt:lpstr>Courier</vt:lpstr>
      <vt:lpstr>Office Theme</vt:lpstr>
      <vt:lpstr>Week 11:   Advanced Graphical User Interfaces</vt:lpstr>
      <vt:lpstr>Objectives</vt:lpstr>
      <vt:lpstr>GUI Basics: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 Event Handling Process</vt:lpstr>
      <vt:lpstr>PowerPoint Presentation</vt:lpstr>
      <vt:lpstr>PowerPoint Presentation</vt:lpstr>
      <vt:lpstr>PowerPoint Presentation</vt:lpstr>
      <vt:lpstr>Layout Managers: Organizing GUI Components</vt:lpstr>
      <vt:lpstr> Common Layout Manager Classes</vt:lpstr>
      <vt:lpstr> Common Layout Managers (java.awt)</vt:lpstr>
      <vt:lpstr> Common Layout Managers (java.awt)</vt:lpstr>
      <vt:lpstr>Choosing the Right Layout Manager</vt:lpstr>
      <vt:lpstr> Layout Managers in javafx.scene.layout</vt:lpstr>
      <vt:lpstr>Building Multi-Screen GUIs</vt:lpstr>
      <vt:lpstr>Example Multi-Screen Navigation</vt:lpstr>
      <vt:lpstr>Styling GUIs with CSS (javafx)</vt:lpstr>
      <vt:lpstr>PowerPoint Presentation</vt:lpstr>
      <vt:lpstr>PowerPoint Presentation</vt:lpstr>
      <vt:lpstr>PowerPoint Presentation</vt:lpstr>
      <vt:lpstr>Result of Styling GUIs with CSS</vt:lpstr>
      <vt:lpstr>Adding Menus and Toolbars (javax.swing)</vt:lpstr>
      <vt:lpstr>Adding Menus and Toolbars (javafx)</vt:lpstr>
      <vt:lpstr>Adding Dialogs (swing and javafx)</vt:lpstr>
      <vt:lpstr>Adding Charts</vt:lpstr>
      <vt:lpstr>Adding Tables</vt:lpstr>
      <vt:lpstr>Tables: swing vs javafx</vt:lpstr>
      <vt:lpstr>Discussion Break: Enhancing User Experience</vt:lpstr>
      <vt:lpstr>Quiz Manager Example</vt:lpstr>
      <vt:lpstr>Main Class</vt:lpstr>
      <vt:lpstr>Step 1: Login Screen</vt:lpstr>
      <vt:lpstr>Step 2: Quiz Screen</vt:lpstr>
      <vt:lpstr>Step 3: Results Screen</vt:lpstr>
      <vt:lpstr>Best Practices for GUI Development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 Parslow</dc:creator>
  <cp:keywords/>
  <cp:lastModifiedBy>Pat Parslow</cp:lastModifiedBy>
  <cp:revision>3</cp:revision>
  <dcterms:created xsi:type="dcterms:W3CDTF">2024-12-31T16:51:16Z</dcterms:created>
  <dcterms:modified xsi:type="dcterms:W3CDTF">2026-05-19T12:49:39Z</dcterms:modified>
</cp:coreProperties>
</file>