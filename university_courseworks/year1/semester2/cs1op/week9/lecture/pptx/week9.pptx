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312" r:id="rId4"/>
    <p:sldId id="313" r:id="rId5"/>
    <p:sldId id="274" r:id="rId6"/>
    <p:sldId id="275" r:id="rId7"/>
    <p:sldId id="276" r:id="rId8"/>
    <p:sldId id="277" r:id="rId9"/>
    <p:sldId id="278" r:id="rId10"/>
    <p:sldId id="279" r:id="rId11"/>
    <p:sldId id="281" r:id="rId12"/>
    <p:sldId id="280" r:id="rId13"/>
    <p:sldId id="282" r:id="rId14"/>
    <p:sldId id="283" r:id="rId15"/>
    <p:sldId id="284" r:id="rId16"/>
    <p:sldId id="311" r:id="rId17"/>
    <p:sldId id="314" r:id="rId18"/>
    <p:sldId id="315" r:id="rId19"/>
    <p:sldId id="316" r:id="rId20"/>
    <p:sldId id="317" r:id="rId21"/>
    <p:sldId id="318" r:id="rId22"/>
    <p:sldId id="285" r:id="rId23"/>
    <p:sldId id="286" r:id="rId24"/>
    <p:sldId id="288" r:id="rId25"/>
    <p:sldId id="289" r:id="rId26"/>
    <p:sldId id="290" r:id="rId27"/>
    <p:sldId id="292" r:id="rId28"/>
    <p:sldId id="293" r:id="rId29"/>
    <p:sldId id="294" r:id="rId30"/>
    <p:sldId id="295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4A4A"/>
    <a:srgbClr val="8F8B90"/>
    <a:srgbClr val="A8A8B4"/>
    <a:srgbClr val="CBBDF1"/>
    <a:srgbClr val="ECECFF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9805" autoAdjust="0"/>
  </p:normalViewPr>
  <p:slideViewPr>
    <p:cSldViewPr snapToGrid="0">
      <p:cViewPr varScale="1">
        <p:scale>
          <a:sx n="110" d="100"/>
          <a:sy n="110" d="100"/>
        </p:scale>
        <p:origin x="108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7365-76FE-722B-3747-82D69C34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BB81-431E-5372-BC22-E88E661B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31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C6D2-1452-FFE3-F686-D4474294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D82F2-0A99-C758-DAD3-23456E83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D3536-6F9D-AD1E-C7BE-BC1A13E9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2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219B-A48B-EBC2-7BED-7983B9FD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91D-1610-FFFD-CA34-71DE7E2B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12294-61DD-CE5F-9662-4DFA1622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3FA14-B386-1B50-24C5-F285F512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1256-6592-CE02-F4FF-9F68F81C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9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BE11-75D3-BB83-6581-BC89F8CA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7A38-8E31-52B1-D248-49CFA5333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CA8E-AC9E-028A-B7FE-642C14A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F291D-1A7A-F866-020C-3A18A74C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15174-C233-7E5E-8811-00FD2734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FEC1F-A0F8-FD65-6F35-9A420353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99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76FF-C881-9814-16DA-24A93DE2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B6636-C85B-A538-8278-89CC7258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7DDA-DFC2-3D12-7626-7C439867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5F6-12F4-2304-9EE5-7F1367DCB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986A4-DCC2-F048-03D9-094EFEE7F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5DF56-4096-AD30-9A5B-454BF6E5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60076-ECB6-7037-3C21-9470FEBD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A6700-D9EA-AADA-BC81-8950A294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85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A072-ED7B-C4A1-AD3B-DF8AFB7B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1D42A-CC3E-8D19-FC81-58D37B74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F21E7-D4DA-D75F-09A8-91FCFF82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35EA6-FDD0-BCEF-2D3C-DF866410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57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010CA-BEC5-BCCD-5D0A-D084C863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94880-1B1C-B110-2B8B-EB517B0C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AC0EE-93BA-D761-F40D-9EFD1FFD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56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EBCC-FD01-3523-D01F-D21EA14C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4624-7A6A-F9ED-6441-C509CFCF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A65EA-535F-1884-B7B7-99CDF5C5D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16BA-B2F9-E1AA-5E96-9D65F1F9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A3197-E6E8-4062-819F-A9CEE2C5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C604D-B860-6D30-B232-FEF702B8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2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7339-793A-0B0D-2884-EF26A21B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40EB-E3CE-A2F8-ABCC-CB05E578D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EB3E2-3ED6-3054-0844-B4791A3D0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728F5-3640-D687-1F2A-29CA1CE1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6CE5A-2089-63A6-C6A3-39AE94CB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55546-C3D5-64AE-6C19-6E832E3D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0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97F2-421C-A5BB-8429-840BFD6D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03952-889B-4028-6CA8-95DB74F33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7CCDC-2CD0-AB8B-8780-5B1E6636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E417C-6F57-4C1A-CF1D-FB76C200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A891-52F3-8517-4F42-AC079B04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45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92B387-151A-69F2-E2B3-267F087D2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F1254-D26B-42EA-7647-BC400431D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C3F1-8BFB-45E7-3CA0-0F5A032E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9AF28-C5CC-1375-E00A-7D82CE1E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1FFF-57AA-8BE7-E89F-FD43D9C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4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7AD31-4150-7044-62D7-696A9B37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511E1-C06D-5A40-194C-6B685CAAA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4FA09-2997-C212-2149-9AE12768E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0C328-394C-4CA4-9C90-9BD8EF1E4A8F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215D1-7E4B-60BF-EA45-036D83169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4DEBC-21DB-7C0D-C04E-3A8216A7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C6E04-804D-4EA2-ACCF-137AA4E48EA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2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03249"/>
            <a:ext cx="10363200" cy="1362075"/>
          </a:xfrm>
        </p:spPr>
        <p:txBody>
          <a:bodyPr>
            <a:normAutofit fontScale="90000"/>
          </a:bodyPr>
          <a:lstStyle/>
          <a:p>
            <a:r>
              <a:rPr dirty="0"/>
              <a:t>Week 7</a:t>
            </a:r>
            <a:r>
              <a:rPr lang="en-GB" dirty="0"/>
              <a:t>: </a:t>
            </a:r>
            <a:r>
              <a:rPr dirty="0"/>
              <a:t> </a:t>
            </a:r>
            <a:br>
              <a:rPr lang="en-GB" dirty="0"/>
            </a:br>
            <a:r>
              <a:rPr dirty="0"/>
              <a:t>Build Tools in Software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275938-F492-69B7-A945-58368BBFD7C4}"/>
              </a:ext>
            </a:extLst>
          </p:cNvPr>
          <p:cNvSpPr txBox="1"/>
          <p:nvPr/>
        </p:nvSpPr>
        <p:spPr>
          <a:xfrm>
            <a:off x="914400" y="4150750"/>
            <a:ext cx="60971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Automating Builds</a:t>
            </a:r>
          </a:p>
          <a:p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Managing Dependencies</a:t>
            </a:r>
            <a:endParaRPr lang="en-GB" sz="2800" dirty="0">
              <a:solidFill>
                <a:srgbClr val="0E2841">
                  <a:lumMod val="75000"/>
                  <a:lumOff val="25000"/>
                </a:srgbClr>
              </a:solidFill>
              <a:latin typeface="Aptos" panose="02110004020202020204"/>
            </a:endParaRPr>
          </a:p>
          <a:p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Streamlining Development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6481"/>
            <a:ext cx="10515600" cy="3651631"/>
          </a:xfrm>
        </p:spPr>
        <p:txBody>
          <a:bodyPr>
            <a:normAutofit lnSpcReduction="10000"/>
          </a:bodyPr>
          <a:lstStyle/>
          <a:p>
            <a:r>
              <a:rPr dirty="0"/>
              <a:t>Understand the purpose of build tools</a:t>
            </a:r>
            <a:r>
              <a:rPr lang="en-GB" dirty="0"/>
              <a:t>.</a:t>
            </a:r>
          </a:p>
          <a:p>
            <a:r>
              <a:rPr dirty="0"/>
              <a:t>Explore different types of build tools: </a:t>
            </a:r>
            <a:endParaRPr lang="en-GB" dirty="0"/>
          </a:p>
          <a:p>
            <a:pPr lvl="1"/>
            <a:r>
              <a:rPr b="1" dirty="0"/>
              <a:t>command line </a:t>
            </a:r>
            <a:endParaRPr lang="en-GB" b="1" dirty="0"/>
          </a:p>
          <a:p>
            <a:pPr lvl="1"/>
            <a:r>
              <a:rPr b="1" dirty="0"/>
              <a:t>batch files </a:t>
            </a:r>
            <a:endParaRPr lang="en-GB" b="1" dirty="0"/>
          </a:p>
          <a:p>
            <a:pPr lvl="1"/>
            <a:r>
              <a:rPr b="1" dirty="0" err="1"/>
              <a:t>makefiles</a:t>
            </a:r>
            <a:r>
              <a:rPr b="1" dirty="0"/>
              <a:t> </a:t>
            </a:r>
            <a:endParaRPr lang="en-GB" b="1" dirty="0"/>
          </a:p>
          <a:p>
            <a:pPr lvl="1"/>
            <a:r>
              <a:rPr b="1" dirty="0"/>
              <a:t>Gradle </a:t>
            </a:r>
            <a:endParaRPr lang="en-GB" b="1" dirty="0"/>
          </a:p>
          <a:p>
            <a:pPr lvl="1"/>
            <a:r>
              <a:rPr b="1" dirty="0"/>
              <a:t>Maven</a:t>
            </a:r>
            <a:endParaRPr lang="en-GB" b="1" dirty="0"/>
          </a:p>
          <a:p>
            <a:pPr lvl="1"/>
            <a:r>
              <a:rPr b="1" dirty="0"/>
              <a:t>Rake</a:t>
            </a:r>
            <a:endParaRPr lang="en-GB" b="1" dirty="0"/>
          </a:p>
          <a:p>
            <a:r>
              <a:rPr dirty="0"/>
              <a:t>Learn how to automate builds and manage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9150E-274A-E837-BD30-567E958E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40699-81EC-29B6-8478-F536C37B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32666"/>
            <a:ext cx="8292859" cy="715963"/>
          </a:xfrm>
        </p:spPr>
        <p:txBody>
          <a:bodyPr>
            <a:normAutofit/>
          </a:bodyPr>
          <a:lstStyle/>
          <a:p>
            <a:r>
              <a:rPr lang="en-GB" sz="4000" dirty="0"/>
              <a:t>Source Code vs Compiled Code</a:t>
            </a:r>
            <a:endParaRPr sz="40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0AD0C2E-78D1-FE7B-7A6E-AFE573034D51}"/>
              </a:ext>
            </a:extLst>
          </p:cNvPr>
          <p:cNvSpPr txBox="1"/>
          <p:nvPr/>
        </p:nvSpPr>
        <p:spPr>
          <a:xfrm>
            <a:off x="6426678" y="1799236"/>
            <a:ext cx="5250931" cy="306853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GB" sz="1600" dirty="0">
                <a:solidFill>
                  <a:srgbClr val="569CD6"/>
                </a:solidFill>
                <a:latin typeface="Consolas" panose="020B0609020204030204" pitchFamily="49" charset="0"/>
              </a:rPr>
              <a:t>Êþº¾   A        </a:t>
            </a:r>
            <a:r>
              <a:rPr lang="en-GB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FarmAnimal</a:t>
            </a:r>
            <a:r>
              <a:rPr lang="en-GB" sz="1600" dirty="0">
                <a:solidFill>
                  <a:srgbClr val="569CD6"/>
                </a:solidFill>
                <a:latin typeface="Consolas" panose="020B0609020204030204" pitchFamily="49" charset="0"/>
              </a:rPr>
              <a:t> &lt;</a:t>
            </a:r>
            <a:r>
              <a:rPr lang="en-GB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init</a:t>
            </a:r>
            <a:r>
              <a:rPr lang="en-GB" sz="1600" dirty="0">
                <a:solidFill>
                  <a:srgbClr val="569CD6"/>
                </a:solidFill>
                <a:latin typeface="Consolas" panose="020B0609020204030204" pitchFamily="49" charset="0"/>
              </a:rPr>
              <a:t>&gt; (</a:t>
            </a:r>
            <a:r>
              <a:rPr lang="en-GB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Ljava</a:t>
            </a:r>
            <a:r>
              <a:rPr lang="en-GB" sz="1600" dirty="0">
                <a:solidFill>
                  <a:srgbClr val="569CD6"/>
                </a:solidFill>
                <a:latin typeface="Consolas" panose="020B0609020204030204" pitchFamily="49" charset="0"/>
              </a:rPr>
              <a:t>/lang/String;)V	  	     java/lang/System out </a:t>
            </a:r>
            <a:r>
              <a:rPr lang="en-GB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Ljava</a:t>
            </a:r>
            <a:r>
              <a:rPr lang="en-GB" sz="1600" dirty="0">
                <a:solidFill>
                  <a:srgbClr val="569CD6"/>
                </a:solidFill>
                <a:latin typeface="Consolas" panose="020B0609020204030204" pitchFamily="49" charset="0"/>
              </a:rPr>
              <a:t>/io/</a:t>
            </a:r>
            <a:r>
              <a:rPr lang="en-GB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PrintStream</a:t>
            </a:r>
            <a:r>
              <a:rPr lang="en-GB" sz="1600" dirty="0">
                <a:solidFill>
                  <a:srgbClr val="569CD6"/>
                </a:solidFill>
                <a:latin typeface="Consolas" panose="020B0609020204030204" pitchFamily="49" charset="0"/>
              </a:rPr>
              <a:t>;  Moo!       java/io/</a:t>
            </a:r>
            <a:r>
              <a:rPr lang="en-GB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PrintStream</a:t>
            </a:r>
            <a:r>
              <a:rPr lang="en-GB" sz="1600" dirty="0">
                <a:solidFill>
                  <a:srgbClr val="569CD6"/>
                </a:solidFill>
                <a:latin typeface="Consolas" panose="020B0609020204030204" pitchFamily="49" charset="0"/>
              </a:rPr>
              <a:t>  </a:t>
            </a:r>
            <a:r>
              <a:rPr lang="en-GB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println</a:t>
            </a:r>
            <a:r>
              <a:rPr lang="en-GB" sz="1600" dirty="0">
                <a:solidFill>
                  <a:srgbClr val="569CD6"/>
                </a:solidFill>
                <a:latin typeface="Consolas" panose="020B0609020204030204" pitchFamily="49" charset="0"/>
              </a:rPr>
              <a:t>   Cow Code </a:t>
            </a:r>
            <a:r>
              <a:rPr lang="en-GB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LineNumberTable</a:t>
            </a:r>
            <a:r>
              <a:rPr lang="en-GB" sz="1600" dirty="0">
                <a:solidFill>
                  <a:srgbClr val="569CD6"/>
                </a:solidFill>
                <a:latin typeface="Consolas" panose="020B0609020204030204" pitchFamily="49" charset="0"/>
              </a:rPr>
              <a:t> 	</a:t>
            </a:r>
            <a:r>
              <a:rPr lang="en-GB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makeSound</a:t>
            </a:r>
            <a:r>
              <a:rPr lang="en-GB" sz="1600" dirty="0">
                <a:solidFill>
                  <a:srgbClr val="569CD6"/>
                </a:solidFill>
                <a:latin typeface="Consolas" panose="020B0609020204030204" pitchFamily="49" charset="0"/>
              </a:rPr>
              <a:t> ()V </a:t>
            </a:r>
            <a:r>
              <a:rPr lang="en-GB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SourceFile</a:t>
            </a:r>
            <a:r>
              <a:rPr lang="en-GB" sz="1600" dirty="0">
                <a:solidFill>
                  <a:srgbClr val="569CD6"/>
                </a:solidFill>
                <a:latin typeface="Consolas" panose="020B0609020204030204" pitchFamily="49" charset="0"/>
              </a:rPr>
              <a:t> Cow.java !               "     *+· ±                      %     	²  ¶ ±                   </a:t>
            </a:r>
            <a:endParaRPr sz="1600" dirty="0">
              <a:solidFill>
                <a:srgbClr val="569CD6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50AB6E-FE82-970A-6708-BD6CF69AB2B5}"/>
              </a:ext>
            </a:extLst>
          </p:cNvPr>
          <p:cNvSpPr txBox="1"/>
          <p:nvPr/>
        </p:nvSpPr>
        <p:spPr>
          <a:xfrm>
            <a:off x="278202" y="1981851"/>
            <a:ext cx="4336930" cy="22546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GB" sz="16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Cow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FarmAnimal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lnSpc>
                <a:spcPts val="1425"/>
              </a:lnSpc>
              <a:buNone/>
            </a:pP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Cow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GB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makeSound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GB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"Moo!"</a:t>
            </a: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GB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DC970-08B2-BC54-C587-32A60C33A433}"/>
              </a:ext>
            </a:extLst>
          </p:cNvPr>
          <p:cNvSpPr txBox="1"/>
          <p:nvPr/>
        </p:nvSpPr>
        <p:spPr>
          <a:xfrm>
            <a:off x="278202" y="1598357"/>
            <a:ext cx="1136530" cy="401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solidFill>
                  <a:schemeClr val="tx1"/>
                </a:solidFill>
              </a:rPr>
              <a:t>Cow.java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C454C58-D18C-31E5-6AFE-493616AD9024}"/>
              </a:ext>
            </a:extLst>
          </p:cNvPr>
          <p:cNvSpPr/>
          <p:nvPr/>
        </p:nvSpPr>
        <p:spPr>
          <a:xfrm>
            <a:off x="4848045" y="2915728"/>
            <a:ext cx="1247955" cy="3364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EA0D13-EBA6-5477-498C-B532F1B857EC}"/>
              </a:ext>
            </a:extLst>
          </p:cNvPr>
          <p:cNvSpPr txBox="1"/>
          <p:nvPr/>
        </p:nvSpPr>
        <p:spPr>
          <a:xfrm>
            <a:off x="6305190" y="1419373"/>
            <a:ext cx="1303308" cy="401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 err="1">
                <a:solidFill>
                  <a:schemeClr val="tx1"/>
                </a:solidFill>
              </a:rPr>
              <a:t>Cow.class</a:t>
            </a:r>
            <a:endParaRPr lang="en-GB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3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BAD8-2443-71F3-7241-F74A1515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A66F-B5B3-ED84-E6D8-C25A6F105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49"/>
            <a:ext cx="8292859" cy="715963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Java JAR libraries: source or compiled code?</a:t>
            </a:r>
            <a:endParaRPr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1E030-D352-4684-8CF8-7AEAD2B1BD67}"/>
              </a:ext>
            </a:extLst>
          </p:cNvPr>
          <p:cNvSpPr txBox="1"/>
          <p:nvPr/>
        </p:nvSpPr>
        <p:spPr>
          <a:xfrm>
            <a:off x="502489" y="1690124"/>
            <a:ext cx="11187022" cy="452431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PK    A             	  META-INF/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þÊ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   PK            PK    A                META-INF/MANIFEST.MF•SËnÛ0¼</a:t>
            </a:r>
            <a:b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</a:b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Ð?96zØU¬À»94ˆ‹ 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vs§Å•K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‡"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U’r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¿ï*’;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UöD`vf¸œ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]®˜XG^ÀX¡UD4ô½E-$'_˜ƒ,ˆÃ8!á„ÄŸOø3DKÞò”‡I1R^ä,I“°Øò(NòiÁ'|²MÃYFñ,8I7¢DËð6‹Ó,žÑi]‡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qØÝèÈâ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-</a:t>
            </a:r>
            <a:b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</a:b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¾+á‚</a:t>
            </a:r>
          </a:p>
          <a:p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°²A—@V]—}“q_úÆÃVó$™+´)ƒ¥VVKÖŽ)Î¤VÐó×oåVK‘·º}:Ru:’·:bÿÔå3£‰ï-</a:t>
            </a:r>
          </a:p>
          <a:p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`:ü½ã(¥!£H¹Ö…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ë€ë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[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ò¸Y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}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ï^í„ê-H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{é¾®„“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ÓÖptÊ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±ô¤¯e%¡]CÚ'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ÿí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„/ ¸6’j³`\¾ËÚ8òÄò×÷†^µ“BÝÀ«êF‘ÍuÕœLÞ´5šk)!o0{âù^0HÝJZÔê’üW¦PèƒÙ!&lt;ÌÝ³;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Òc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)©Â1ÛŠåp†UÌX|]ƒ O Z‡-ÏXÎ0e›&lt;‡0ÊõŽ&gt;}	c?Þ`¤ôW’7&lt;ß[1¡ÈR2k³ )´©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ŸæE»yÑnk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ñêjéþ6	ÌbäÎÔ8ÉgøY</a:t>
            </a:r>
            <a:b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</a:b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dÉ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*¶R8\@mw‚Üø‡p¥æW£O£›?`—ëûñèÐt&gt;¯|o]A.</a:t>
            </a:r>
          </a:p>
          <a:p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‘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ÿï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]êÖè#ár‹|ï7PK 8ï“³</a:t>
            </a:r>
          </a:p>
          <a:p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  q  PK    A                LICENSE-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junit.txtÅZK“Û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¸µ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ÞãW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 ¼±»JÖMr“Üª™•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FM»y#KQm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—µ0æC!¨–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õïó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€)µ3É&amp;®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šš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–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œçwÀÿ?U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¦"É</a:t>
            </a:r>
            <a:b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</a:b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s´Z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&gt;ž¶…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ÉåÂäºÂÇ÷òEþqú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 !6‰œÍç«O³å×tùQ&gt;®W×³O2ÍèÏÏé}r/Ÿ–÷ÉZÒÒM²þ”ÉÕ |À‚d¾H³D&gt;&gt;ý²Hçÿ%K||÷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föq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$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Ÿ’åæÍÝT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‚°|Ê’‰\' xÿ4ß¤«¥\­å}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šmÖé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/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Oîó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 &gt;À/æ«e¶I7O›$Ã¾yú˜‚ÚÛŒxM7³å&lt;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é¸è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›</a:t>
            </a:r>
          </a:p>
          <a:p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ñÇ©¼O&gt;¤Ë”hfB¼™×UÛ˜í©5uõF–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ZUö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'!$ÿSwÒT²=h™+è¤Þóßz3ªÝÎº™~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Èë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–ª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Úy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*ø·«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óS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©«VÑ)rg¬Û¨wòTítƒÝÆÊÙs£5­šD›·W,h•¤=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m­þÇ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	‹c6:ÆÍÌªzÖV¶5ï~lêçF•ŽtX…ej·3ÄÔxáÏaÑù 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óph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 	ÿS7¯n•ucžM¥Z-÷M]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Òr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©-b±·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ìP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­&lt;ª¦5ù©PM, \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BÆv‘o;’ö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­'*¢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õÒì¥iåYYb</a:t>
            </a:r>
            <a:endParaRPr lang="en-GB" sz="12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äG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á4`°¥µºØK’£ºÔ•*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oMõ,qÚxí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[+·ú 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ŠýtÀ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•…YeU·0P^œÈä‘BD|þù`òÃOòé›”©!6©§¬w§</a:t>
            </a:r>
          </a:p>
          <a:p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…Um½oÏôc¬%S‰¼®~;U9kálÚÃ@®à&lt;Ú4²&gt;W²ðÁ«ž„sÝÁ‚˜Åó?|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Ñò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\7ßlðjOs*ã˜¨¤$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yÔ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PH›Ö›°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gØ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Ž “|„´Uk¥£«ÓG™Ê”Ös­¶…&amp;C©•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XsŽwkkUcŠ</a:t>
            </a:r>
            <a:b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</a:b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ô²o`«àGZž(4iUÁ!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ÛýG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°°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dzštZnM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…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Ýc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…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ÏþÏ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 7ý:2úÀ@RåyÝìT•ë@.e¢¸Ö¹9|ˆ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tIìœ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µl 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Laošu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€	Ây¹¨*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àcqÈŸ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¦¨¸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Üæ­Ó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›,Â°ì´ýMçmˆŠV7¥7ûuYbíSèCÃ`</a:t>
            </a:r>
          </a:p>
          <a:p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Æ°QUWïõw0dÁý„&lt;©ØÍ6õEíåýd„Ç</a:t>
            </a:r>
            <a:b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</a:b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"÷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Ðv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®‰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Èhô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±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ãçX|l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(ô-§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Äœ</a:t>
            </a:r>
            <a:r>
              <a:rPr lang="en-GB" sz="1200" dirty="0">
                <a:solidFill>
                  <a:srgbClr val="569CD6"/>
                </a:solidFill>
                <a:latin typeface="Consolas" panose="020B0609020204030204" pitchFamily="49" charset="0"/>
              </a:rPr>
              <a:t>‘`</a:t>
            </a:r>
            <a:r>
              <a:rPr lang="en-GB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nhüX¨Kô</a:t>
            </a:r>
            <a:endParaRPr lang="en-GB" sz="1600" dirty="0">
              <a:solidFill>
                <a:srgbClr val="569CD6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F0632-5FCF-FB80-7797-642C8D436509}"/>
              </a:ext>
            </a:extLst>
          </p:cNvPr>
          <p:cNvSpPr txBox="1"/>
          <p:nvPr/>
        </p:nvSpPr>
        <p:spPr>
          <a:xfrm>
            <a:off x="502489" y="1288367"/>
            <a:ext cx="5678855" cy="401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solidFill>
                  <a:schemeClr val="tx1"/>
                </a:solidFill>
              </a:rPr>
              <a:t>junit-platform-console-standalone-1.9.3.jar (extract)</a:t>
            </a:r>
          </a:p>
        </p:txBody>
      </p:sp>
    </p:spTree>
    <p:extLst>
      <p:ext uri="{BB962C8B-B14F-4D97-AF65-F5344CB8AC3E}">
        <p14:creationId xmlns:p14="http://schemas.microsoft.com/office/powerpoint/2010/main" val="88470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5998233" cy="715963"/>
          </a:xfrm>
        </p:spPr>
        <p:txBody>
          <a:bodyPr>
            <a:normAutofit/>
          </a:bodyPr>
          <a:lstStyle/>
          <a:p>
            <a:r>
              <a:rPr sz="4000" dirty="0"/>
              <a:t>Understanding Build Tools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3524" y="1237891"/>
            <a:ext cx="3932237" cy="3811588"/>
          </a:xfrm>
        </p:spPr>
        <p:txBody>
          <a:bodyPr>
            <a:normAutofit/>
          </a:bodyPr>
          <a:lstStyle/>
          <a:p>
            <a:r>
              <a:rPr sz="2000" b="1" dirty="0"/>
              <a:t>What Are Build Tools?</a:t>
            </a:r>
          </a:p>
        </p:txBody>
      </p:sp>
      <p:pic>
        <p:nvPicPr>
          <p:cNvPr id="3" name="Picture 1" descr="data:image/png;base64,iVBORw0KGgoAAAANSUhEUgAAAlAAAADaCAYAAABpVnzSAAAAAXNSR0IArs4c6QAAIABJREFUeJzt3XtclHXe//HXCHgoU0NMTS1bNpO9s5NTym27qdsy2q4btd2rs55Xs/CQuKNuRka4kmWNkaiomYqh6F0Wv3VbhS0P1d5oTq1FhbraeiBRU7IEBTnM7w9OA3Jm4Brg/Xw8eCgz1+E9XNdc12e+3+91jcnpdDoRERERkRprZXQAERERkaZGBZSIiIhILamAEhEREaklFVAiIiIitaQCSkRERKSWVECJiIiI1JK30QFERKrzyY4MLl7IMzqGR+sdcA3+d7Y3OoZIi6ECSkQ83r8PZNIr4DraXedldBSPdProJU4fz1YBJdKIVECJSJPQq++1dPBrbXQMj3TlcgHkq4VOpDFpDJSIiIhILamAEhEREaklFVAiIiIitaQCSkRERKSWVECJiIiI1JIKKBEREZFaUgElIiIiUksqoERERERqSQWUiIgRUu1YLDNIyjA6iIjUhQooEWl0ZrOZgQMHMnz4cLZt2+behWdsI8xixlL0E5Pq3sXXWards/KISL2ogBIRQ+Tm5nL27FkiIyMZPnw4f/vb3+q9zNQYMxbrYcYkOkhMdJCYuAP/OA8pWrr2wWx0BhFxGxVQImIIk8mEyWQqKaQWLlxYr0IqI2kGoQlWohJtBJQ86kdQpIOQgCpmbCy+I4hM9JAsIlJvKqBExFAVFVIPPfRQLQupFLbYkzHbxlNtfVKui88Sto3SYUgpxFjMxKQW/ls4TfE4pXMkhVXUNVg4bViMvexyY1JK11nUfVeTLryMpBmlyyi/HBHxGN5GBxARgcJCCgq79s6cOcPChQtZsWIFISEhwJ1Vz5y6mwQguJdfNdPZsYTGY7btIDHIj8KiaBhWy+EyLVcJoUlEJToIKZ7HagcbYHOQ6FvYVRgaOgP/+GiCfAvncaT1IT7RQeGvKcRYJmJJCyc+cgS+ATYSo8ASGl91vBhzUStadFGW0uVsixxB6yrmPXv2LA7HsZLf27ZtS7du3fDzq+ZvIiJ1ogJKRBpNUlIS//rXv6qcxrWQOnv2LBEREcx67B03rP0cSXHxYA7HFlRcVPgRZAtnjzWC3ak2AooqqDItWQFBBDORPewgsqhYChgZjjkhgqNnoKhiwvxAYPF/gX6ERFlJCE3CkTGipMiqUsY24hICscW7dkGWLifjygi6VVFB7d69m3+uXFvhc927d6dr165069aNG2+8kTvuuAOz2Uzbtm1rEExEKqICSkQa1JdffklCQgLvv/8+mZmZNZrH6XTi7e1Nfn4+FovFTUnSOeoAs8210AF8e9MTSDt5jur7/2qhax/MxJcpsqqS4UjCQTIOqxn7Vc8GVjt/ly43cM8195T8fuXKFb799lu+//570tPTSU9Pv2qee++9l8DAQAYOHEifPn2qDykiJVRAiYjbZWRk8Ne//pX/9//+HydPnix5/NZbb+WXv/wlK1eurHA+18LpwQcfZNq0adx4441sfPFE1SssusKtsAhqyl1WgdhcugVrY8iQwQz67WMVPnf8+HHS09M5ffo0aWlpHDhwgAMHDrB//37279/P0qVL6dSpE4MHD+bBBx9k4MCB9XwdIs2fCigRcZu8vDxef/11YmNjycvLA+D6669n+PDhPPLII9xyyy0AVxVQlRVONebbnwfMYLfHkhpkq6QhqTv+ZkjYk0xG0IjSRqGMY6QBPXv5AVe30tRVYYtSIA90rdn0vr16Qy1arGrj5ptv5uabby7zWHZ2Np9//jmffvopDoeDr7/+moSEBBISErjpppv43e9+x29/+1uuu+4694YRaSZ0FZ6IuMXXX3/NqFGjeOONN8jLy6N9+/bMnDmT7du386c//amkeHLldDrx8vLCZDLx4IMP8te//pXIyMjaFU9A8VgmM/GEWuy4XuiWGmMmLOlc4TRjrOCIYEvJBOdIskfgMIczsp7dd46jLsVXxjbs9mQInlJ5a1LXPphJZo/jXOHvATaigiEhtOzdyVNjGuZu5W3btmXAgAFMnTqVtWvXsmvXLl555RXMZjMnTpzg1VdfZciQIURERHDo0CH3BxBp4tQCJSL1kp2dzYoVK4iPjy8piB599FFCQkLo0KFDpfN5eXnVvcWpIr4jiEwMJClsGKEW16vdrNii0snAz+VqODMJxU+bi66Uq9/aMaetxmJJLn0geB2JIf2qzht1GEvoMCxHC6cNCHEQhZlQ13FQZitR9cxWE+3atWPw4MEMHjyYb775ho0bN7J9+3a2bdvGtm3b+NnPfsZjjz2GxWKhTZs2jZBIxLOZnE6n0+gQItI0paWlMXPmTI4fPw7A/fffz6xZs67qLirPbDZjsVhqXDhtfPEE//1INzr4VXUhv1EKbzWQZttBZJAx468O7r0A+XkM+q1713/hwgXefvtt3n77bc6dK2wp8/X15cknn+Thhx/Gy8vLresTaUrUAiUidfLRRx/x7LPPkpWVRe/evZk3bx79+/ev0bwOh6OB04k7dOrUicmTJzNhwgSSkpLYtGkTBw8e5IUXXmDz5s3MnDmTQYMGGR1TxBAaAyUiteJ0Olm5ciWzZs0iKyuLUaNGsWXLlhoXT9L0eHt789BDDxEXF4fdbuemm27im2++YebMmUyZMoUjR44YHVGk0akLT0Rq7OLFi8ybN4+9e/fi4+NDREQEQUFBDb5ez+7CM15DdeFVJi8vj7feeovVq1dz8eJFTCYTv/nNb5g+fTqdO3dulAwiRlMLlIjUyNGjR7Farezdu5fOnTsTGxvbKMWTeB5vb2+sVisJCQlYrVacTifbtm1jxIgRvPHGG0bHE2kUKqBEpFoOh4Px48dz+vRpbr/9djZv3qw7VwsdO3bEZrPxzjvv8POf/5wrV64QExPDyJEj+frrr42OJ9KgVECJSJU++OADnnzySbKzs/nNb37D+vXruf76642OJR7kpptu4tVXX2XZsmXccMMNHD16lPHjx2O327l8+bLR8UQahAooEanUu+++y5///GcAxo0bx/PPP29wIvFkAwcOZOvWrYwaNQqA+Ph4HnvsMQ4cOGBwMhH3UwElIhXasmULkZGRAMyZM4ennnrK4ETSFLRr147Zs2cTGxuLv78/Z86cYfLkybzyyivk5OQYHU/EbVRAichV3nzzTV5++WVMJhORkZGMHDnS6EjSxPzsZz9j48aNTJ48GS8vLzZv3szIkSP58ssvjY4m4ha6jYGIlPHmm2/y2muv4eXlxYsvvsiQIUOMjsTGF09gHn4D13XWbQwqcuTTH/Ay5TfabQxq66uvvuLZZ5/l5MmTmEwmxo4dS0hICD4+PkZHE6kzFVAiUmLlypWsWbMGLy8v7HY7999/v9GRAHgnOo3zp3ONjuHR7vxFR+6z1Pcb/RpOTk4Oy5cvZ9OmTQD85Cc/YdGiRfj7+xucTKRuVECJCABr1qxh5cqVHlc8SfPy2Wef8dxzz3H69Glat25NaGgov//9742OJVJrKqBEhC1btvDyyy/TqlUrFi9ezODBg42OJM3YpUuXWLBgAe+//z4AgwYNIiIigk6dOhmcTKTmVECJtHDvvvsukZGRJQPGdXdxaSzbt2/nxRdfJCsrC19fXxYsWMDAgQONjiVSIyqgRFqw9957j/DwcAAiIiL49a9/bXAiaWlOnTrFM888U3J13rhx45g6dSre3t4GJxOpmgookRbqgw8+4Omnn8bpdBIWFsYjjzxidCRpofLz83n99ddZu3YtBQUF9O3bl1deeYVu3boZHU2kUiqgRFqgvXv3MnPmTPLz85kzZ47u8yQe4cCBA/z5z3/m/PnzXHvttURERGg8nngsFVAiLcznn39OSEgIV65cYcqUKUyZMsXoSCIlfvzxR+bNm8e+ffsAeOyxx/jTn/5E69a6B5h4FhVQIi3I4cOHmTx5MpcuXeLRRx/lmWeeMTqSSIU2btxIdHQ0eXl5/OQnP2HJkiX07NnT6FgiJVRAibQQaWlpjB8/nh9++IGgoKCSK+9EPFVqaipz584lPT2dtm3b8uyzzzJs2DCjY4kAKqBEWoTvvvuOCRMmcObMGQYMGMDSpUvx8vIyOpZItS5dusT8+fPZs2cPAI8++iizZ89Wl54YTgWUSDN38eJFJkyYwPHjx7njjjuIiYmhTZs2RscSqZW3334bu91Obm4u/v7+LFmyhB49ehgdS1owFVAizVhOTg5Tpkzhq6++wt/fn7Vr13LttdcaHUukTg4ePMjcuXM5deoU11xzDX/5y1944IEHjI4lLZQKKJFmKj8/n9DQUJKTk+natSsbNmygc+fORscSqZesrCzmz5/Phx9+CMCoUaOYOXMmPj4+BieTlkYFlEgzNX/+fLZv307Hjh2JjY3VFUzSrLhepXfbbbdht9t1401pVK2MDiAi7rdy5Uq2b99O69atWb58uYonaXZGjx7NmjVr6NKlC4cOHWLkyJEl944SaQwqoESamb///e+sWbOGVq1a8corr9C3b1+jI4k0iNtvv53Nmzdzzz33kJWVxbRp01i1ahXqWJHGoC48kWZk//79TJs2jYKCAhYsWMBDDz1kdCSRBldQUMDq1atZs2YNAPfddx+LFi2iY8eOBieT5kwFlEgzcfDgQSZPnkx2djYhISFMmjTJ6EgijWrfvn3MnTuXrKwsunTpwquvvqoWWGkw6sITaQZOnz7NtGnTyM7OZvjw4SqepEUaMGAAW7Zswd/fn++++46JEyfy7rvvGh1Lmim1QIk0cRcvXmTMmDF8++23BAYGEhUVpbuMS4t25coVFi9eTEJCAgAWi4Xw8HDdvVzcSgWUSBOWm5vL5MmT+eqrr7jttttYu3at7jIuUmTHjh1ERESQm5vLrbfeypIlS+jevbvRsaSZUAEl0kQ5nU5sNhsffvghXbt2ZePGjXTq1MnoWCIe5fDhw4SGhnL27Fnat2/Pyy+/zL333mt0LGkGNAZKpImKioriww8/pH379qxatUrFk0gF+vTpw6ZNmzCbzWRmZjJ16lTWr19vdCxpBtQCJdIEvfPOO7zwwgt4e3vz+uuv069fP6MjiXi0goICli9fTmxsLAD3338/ixYtol27dgYnk6ZKBZRIE7Nv3z6mT5+O0+nk5ZdfZsiQIUZHEmkydu7cyXPPPUd2djY333wzdrud3r17Gx1LmiB14Yk0IUeOHMFms+F0OgkJCVHxJFJLQ4cOJS4ujh49enD8+HHGjBnDRx99ZHQsaYJUQIk0EefPn2fq1KlkZ2fzq1/9Svd6Eqmj3r17s3HjRu6//36ys7OZNWsWy5cvp6CgwOho0oSoC0+kCbh8+TITJkzg6NGj3H333cTExODt7W10LJEmb+3atcTExOB0OrnvvvtYvHgx7du3NzqWNAEqoEQ8XEFBAdOnT+eTTz6hZ8+exMXF6QAv4kb79+9nzpw5ZGZm0rNnT6Kjo+nVq5fRscTDqQtPxMMtWrSITz75hI4dOxITE6PiScTN7r33XuLj4/nJT35CWloaY8aM4Z///KfRscTDqYAS8WBxcXG8++67tGnThuXLl+suyiINpHv37mzYsIEhQ4aQlZVFaGio7hclVVIXnoiH+uc//8nMmTMBeO211xg0aJDBiURahvXr17N8+XKcTie//OUvWbBggb4iSa6iAkrEAx08eJBJkyaRk5NDaGgoY8aMMTqSSIviOi7qtttuw263061bN6NjiQdRF56Ih0lPT2fatGnk5OTwyCOPqHgSMYDruKhDhw4xevRoPv/8c6NjiQdRASXiQTIzMwkJCeGHH37gv//7v5k3b57RkURarO7duxMbG8vQoUP54YcfmDRpElu2bDE6lngIdeGJeIi8vDxCQkL417/+hb+/P7GxsbRt29boWCJC4bioZcuWAfDwww8zf/58gxOJ0VRAiXiIefPm8Y9//IMuXboQFxdH586djY4kIi7279/P7NmzycrKom/fvkRHR3P99dcbHUsMoi48EQ+wbt06/vGPf3DttdcSExOj4knEA917771s3LiRm2++mYMHDzJq1ChSU1MrnLZ///5MnDixkRNKY1IBJWKwXbt2sXz5cgB9M7yIhyv+NoCBAwdy/vx5Jk6cSFJSUplpBg4cCEBKSgoOh8OImNIIvJ5//vnnjQ4h0lL9+9//5qmnniI/P5/nnnuOIUOGGB1JRKrh4+PD8OHDycvL47PPPuODDz4gMzOTAQMGMGjQIK5cuYLJZMLb25vz588zfPhwoyNLA9AYKBGDnDt3jtGjR3P+/HmsVis2m83oSCJSSzt37mT+/Pnk5ORgMpkoKCjAZDIB4HQ6MZlM/PWvf+XGG280OKm4m7rwRAyQnZ3N9OnTOX/+PPfddx+zZs0yOpKI1MHQoUPZsGEDQJniCcBkMuHl5cXq1auNiicNSAWUSCNzOp08/fTTHDlyhN69e2O322nVSm9FkabK39+/pLWpvLy8PP72t79x8eJFA5JJQ9JRW6SRLV++nI8//piOHTuyfPly2rVrZ3QkEamHgQMHVlg8QWErVOvWrdm0aVMjp5KGpgJKpBHt2LGD9evX4+PjQ3R0NF27djU6kojUw8CBA8nLy6tympycHDZs2KBWqGZGBZRII/niiy8IDw8HYOHChfzsZz8zOJGI1IfZbAYKu+WLfypSPLh89+7djRlPGpiuwhNpBKdOnWL06NFcvHiRyZMn8+STTxodSUTcYNWqVXz99dd8+umnZGdn4+Pjw5UrV0qed70iz8/Pj8TERKOiipupgBJpYJmZmYwdO5aTJ08ydOhQFi9ebHQkEWkAp06d4tNPP+XQoUP83//9HydOnACgdevWJbc5CA8PZ8SIEQYnFXeosoD6bOf3fJOS1Zh5pIYC7uvAfwV2MDpGnWX9mM/2delGx2gUBQUFnDlzhvz8fHr06FHpYNOG0qmLDw/+oWWOtTp7MocP3/nO6Bg15uVt4pFpPYyOYYjLmfm890bzOyZcvnyZnJyckn/1TQOew/+O9tw9pFOd5/eu6skLZ3Px7dGOHrdeW+cViPsdS7nIjxm5Rseol/zcAn7MyGPQo92MjtJIbjBkrZkXcjmY/L0h6/YEOZcLyMt1cvevuhgdpVpOJ3zwZprRMQyTn+fkh3O53P9Yd6OjSAvw7b+z+P7sleonrEKVBRRA+04++PVsW6+ViHt9d/IyUGB0jHrz9jFp32pgrdt6GR3BcK3bejWN/UyDKfDy1jFBGscP310h83x+vZahq/BEREREakkFlIiIiEgtqYASERERqSUVUCIiIiK1pAJKREREpJZUQImIiIjUkgooERERkVpSASUiIiJSSyqgGlOqHYtlBkkZRgdp6VKIsZgJSzpX9WQZ2wizmIlJbZxUVztHUpgZS0yKUQFEpDHV5Jij84jHqPZO5NU7R1LYMOwOl4fM4cRHjsC3/gs3ULnXFbyOxJB+hibydP3798fHx4frr7+eqVOnuuELM1OIsUwkodyjZtsOIoP8ar8ct27DirOV0SzeB56neD/r27cv06dPx2w212Np54ixDNN2bCBmsxkvLy86duzIjBkzGuyYULgybadaSbVjCY0v96CVqEQbAYYEanrqXUClxgzD7nD5o6faCTsZ2LR34qIdKzjKQWJk4UMZSTOwxExREVWN3Nxczp49S2RkJCtWrHBPIeVa+KTasYQOI6aXg5Aav8u741+fc2yF+hGS6CCk+NdUO5bQY9jiowlq0jt/05Cbm0tKSgrTp0+vZyHl16DbMSNpBlZ77xZ7UnI6neTl5XH+/HkWLlxIdHS0ewopj/9AW1jopdX6w17jC44qPZamxpgJtcSXeUwqV88uvGPsTgCzbXzpwSHA5vE7TJUythEWevUO5BsU7eFvWM9gMpkwmUxlCqnhw4fzt7/9zT0rCAgiGEg7WU33Wxl+BEU6tP2aEdf9rLiQmjBhAg6Ho/qZpVEVbyvXQiooKMh9xwRxm4CQdQQDCbs1bKAm3DIGynE0vcrnU2PMWCylP679u6kxZixh2yjTnVumj7d4HMi2wn8t5jL9vxlJM8osu/x4keqevyrrlggc5nBGVlt9n3PJY66kT7pwrE3xNGFxx65aSm3zNRXlC6mFCxe6pZDKSFpNAoE8YC4q0iscM+A6dshlG1T7ty23Te1J9coKVe/7rvlLpin/Xiiv/PQWOyfrnbLpaqxCqvx2LDN+roJtkkpx61MyEE9oZdu/BSlfSP3lL39xfyFVvC3KvNeLjgGuj1WyzVxVts0Lj9nlpi9zHCrtZnTYh131vq5yXyq22171caOq117Fa6peUWt92jEySsaKbnM5jxUvs/rzX/nXWdHfMMnl/Ff4XPnlln3tGUkzsIRtI9X1vFm8XVNd/mbVHUfdpJ5deL0ZaQskwT4RS0JFfafF44jKdvFZQs21b9pMiGCPbQeJkaXzpMaYCU0IxBbvKGpuL1xfTGph61Hh81aiEqOLchXu2Ja0yvrKU9idAAT3rqYLsugNYg4nPrFwORlJM7BazRwtbrnK2EaYNQKHS1NzRtIMrC7H9drnK/X555/zRdq/q/+7GcxkMgGUKaSWL1/OE38MBfrWbCEJE7EUD3oIXkdiYm1akvoRkrgOqhuvVME2JdWOxZFMz1qsrVQN9v2irmKzbQeJQX4l81gthyvp8jlHkr3sPlUT2dnZrFq1qk6voqlw3c9cu/bGPjYL6FKPJRdtR1z2i4xthFmHYTm6jsSQ7pVvk6Bo4ql9F15L2VauhdTSpUuZOuVP1PiYUBnfEUTGQ5h1IjGDi88DRe/rMsMACnsZIst0XRV33Vbw3iWFGEsESeZoqu8oLj3mXHWeS7UTissxrJIhCQkEkZhoA4rOG9WdM6t9TTX9A6Zz1EGZc6DDHkHPKAeJJfmqP/+lxpgJTSv3vB169nJdVzz2PeHEJ0aXrCsjaQZ7Hig9zxe+9hn4u74GRwRxD+wgMbH0mBmWFE7Po0V/s6JzrzWmd4P3OtR7DJRvUDSJvQo3XqglnjKD0FJjsTsgOMpWposvKjie0D3JZATVoh/cHI7NdefJ2EZcAgRHue4chV01pc8HYot3PXD1IyTKSkJoEo6MEXUe41DcCmKzlRY5vkHh2PYMw747hZCAfiUtWfEuG9C3V2/gmFvyffHFF3xyJK5uL8AA5Qup1157jYnDYmo2c/kxUJaJdRhIXrXCbWolyrVw7dqnBgfLSlS77wfiiIsvt1/7EWQLZ481gt2pNgIqO+OmHSODfjUeZ5idncO611+v6ytpUsoXUlFpUUwMjqz7AlNji06kLvuF7whstiSs9iRSQ8YXPlbLbVIZp9PJ6y1sWxUXUq+++ioTg2pYPLp+qKLsOJ6S7RNqZ3AURR+yi7ffOZLiCj+0uBYsASHrCE6YyB7HOYJ6xWJ3VHBsTowGqF/LRoDNpRABAsZjM8eXnDdKXs9gl/NGUDRRR82E2mNJDarkg1V1r6mGx8rUmImF57aR/YCilp3gdWWWW/35j6KhPaVjoX3NQZiJIO0klL6Asssofq2RZX6fQrC9/GuwMsblmGl+IBC7/TBjEovqCd8RjAmOwOGm92RV3HAVHoU7hUvlF2qBqEQbXU8eA6wMLrfFu/oHQsJhztRmHT3LtgplOJJwEMgDXSuevPD5ZBxWM/arng2szZqvcuZoMpjDMZfZMn706knRgfTqHcjd+e644w7uHPJ4HdI3nNWrV1f6nNPpBCi5Sm/KxKe4eLgOKwmwEW87htVe+GkwqI5ZyzqHY08yBE9x20DfjGr3/d4cdVSwj/j2pidFY7yuClNaYFktSTX+ZNm2bRsef9yz9pX6qOl+VtgCFcoPV/ec11jq7sKrlAo/HJbXm7puk8qYTKYWt628vLzo1KkTIY+H8sPXNVxwNa2wxSf00NDC4qpkm2Qks8cBDscwLFcfeDFTvM2t9GqoM29FV79V08wdMNgKCcc4mVHBYaEGr6kqCaFml9b5q3uSzP7dy0xf/fmvdzVrLNa7wr9xade3S4YaLrGxuaeAKuY7gsiow1hC49mdamOkWxdekYo3QKnAWh7QXPt/G7ZyLVTbfKXuvPNOAn891P2R6qGig2X5wqn4qrwfz+eScPhUndZT2JIXz9EzQCUFdLPlO4LIxBGFB2GrGbs5nK2RI2hfxSxt27Zl9BNPNFrEhlbdfuZ6Vd7Jw5fZf+z7eq6xmku7K9gm9bmc/okWsq2KC6fiq/IyL+Tx9tdp7llxUVEBkBC3jZHltkdVLdipMYC5T4McWoqLg9IWs+Iu4vqra6u8+6+468fgYEp6mXwpbfCwmavOd/WwnKKrGd0Zz43cfyNNl26P4hPd7nIj2Qor2PrtoJUtu+zzyYUn2RorbA7EEcGWKkbfdfUPBEcSjjJtuec4mUZRS1lhIVbV4Pq65Ws6nE4nTqcTHx8fbrjhBsLCwti+fbsb7gNT3LoTiL/bjnBlWw/dofp9v2gf2ZNcdp0Zx0gDevaq5kAYYCMxPhyzI4It+y+6KXXT47qf9evXj2XLlrF+/fp63huqVFf/QKDwk3+1XLaJvbqbtLZAxdvKy8uLzp07M3/+fJKSktxyTCjLZaxg+e1R1MJb1bG54uO7e3IVtnS7dIm5FHpVKTzmVdJgUIPX5E7Vn/+Kug8dEViLBnVb7dSgsSClqOcmvHS61KRqxq4aq94FVGqM6+j7oh23uOsiYDw2c+EngJJJUu2EJkDwmMLK9OqNkULMVTf3qkDxskPLjv4vyRNgIyq4iucr4RsUXrTcclc+pNpLRvb7Bk0hmGTsW0qv6shIiijsNx/Zj5JCLGFimSssCt8Exfnrls/TNWThBEDGNuz2wu62IF9KDh6ul90WbouqFnJ18RIw2AqOCKyuV+qcOUydr+Wqdt/3I2iMtVyxXvT+KbkKtKiwS0iqw9U0zVtDF07FCo8Hyditrlc0nSMprGZXOFX3Qa8laLzCqVCZY7HvCGy2QBz2iKLjauE40/LHZlLtJb+XHN8r2eZXb9Pi856rij7Fg7O9AAAXE0lEQVQglf+gdo4k+2F6BnPVh7cyt2kpOuaV3C6oax/MJLPHUTxN9a/Jnao//xWNkwpeR2Kio+inJj0t5RseUoiJg+BqGiOMVM8uvGPsTkgmIcFlHI/rVUz4ERS5A8KGYbVElMzl2mRYMkCuZCyQlagoKwmh1Q1cKBww3ivGdV4gOJzi8isgxEEU5Z43W4mqwXLNRVc+uFa/wbZ1nMkAX9/SqyxKBzKW7Y4rHVxf2i9tNpcd21S3fJ7NvXciL1JuwGjpVWsA/QiJDyfNWjqN2bau8KRX6QL9CIpcx1HLxNIr3gJsJMb3IcxlOZgD69H3Xv2+T4CNxCiwuO5n5bp/AkJ2YEsbVnQ1TTjYy931P3gdkfdeV+eUTZX77kRendLtWGYcVHA48RmAbwXfxBC8rnT/LL5woHgbm8PZFjmC1g2Y2JOYTCY334m8SLljAlD43hlzGKs9GbNth8uxuGiAs9VOr+L3ehRljs0QSHDJgbcfIYk78C+3zc22ddiKPpzH2465nB8CsUUVtnSVch0bV/h4cJSDkJB1BFsmFj1WeM4IoQ9p1gi2pI4gpCuAlQeIwGIpHQdUfpB84VCZ4itB+7kcSyp7Te5U/fkPqGAbVTdkpfhvVjxfUdd5KiSEriZpZE2ugGxcJmdxh3QFdm4+S3u/tvjf3aExM0k1UpO/x8tUQOCvOxsdpc5+PJ9LQswpfh1ys9FRmrUfz+Xyf++mM/rpm4yOYoiThy+zP+l7HrDeaHSU6jlh86IjTLP/1Ogkhsi8kMfbr6UxYnpNByFLU1JyawMP+bqdo//6kczz2QwdeUOdl6EvExYRERH3SbVfdXPjk546Erwe3HsVnoiIiLRghfelSnDElx0A7vHfX1h7KqBERETETQrHEbvnHn2eTV14IiIiIrWkAkpERESkllRAiYiIiNSSCigRERGRWlIBJSIiIlJLKqBEREREaqna2xhkXsjlXFp2Y2SRGsq6kEeH65t+7ZuX69S+1cAyL+QaHcFwV7Lzm8R+Vvl3QrQc+Xk6JkjjcMexscoC6vqurTmakknGqcv1XpG4V8+fNu2v1/HyaUWHzt6k7Gn+31pfUFDAmTNnyMvLo0ePHrRq1bjFb9eb2zTq+jxJm3at8G5tajL72Y0/aWd0BMN4eZvo2MWnyWyrmrp8+TKXL18mOzuHnJxsbrnlFqMjSRH/fu3rNX+V34UnIvWXmZnJuHHjOHHiBL/4xS9YsmSJ0ZFEpAGcOnWKzz77jEOHDvHPf/6TEydOANC6dWtycnIwmUyEh4e770uVxVAqoEQawbfffsuYMWO4ePEikydP5sknnzQ6koi4werVq/nqq6/49NNPyc7OxsfHh9zcXIpPrSaTCQCn00nnzp1JSkoyMq64kQookUZy4MABnnjiCfLz83nxxRd58MEHjY4kIvVgNpvx9vYmN7d0PE1xwVSej48PzzzzjFqfmpGmPxJZpIm46667CA8PB2D+/Pl89dVXBicSkfpwOBxAYdFU/FMRp9OJl5cXgwcPbsx40sBUQIk0ooceeogJEyaQm5vLzJkzOX36tNGRRKQe9u7di5eXV5XTtG7dmrFjx3Ldddc1UippDOrCE2lkTqcTm83Ghx9+yC233EJsbCzXXHON0bFEpB769+9fYQuU0+nEZDKxa9cuFVDNjFqgRBqZyWTihRdeoE+fPvznP/9h7ty5FBQUGB1LROro6NGjmEwmKmqP8Pb2xmKxqHhqhlRAiRigbdu2LF26lM6dO7N3716ioqKMjiQidfDRRx8xbtw4gKuKKKfTSX5+PtOmTTMqnjQgFVAiBvHz82Pp0qW0adOGTZs2kZCQYHQkEakhp9PJihUrmDVrFjk5OfzhD39g3759tGnTpqSI8vHxYdCgQdx4440Gp5WGoDFQIgbbuXMnc+fOBSAmJoZ7773X4EQiUpXLly8zZ84c9u7di7e3NwsWLCAoKKjk+QEDBpCXl4fJZGLlypWYzWYD00pDUQuUiMGGDh1KSEgIALNnzy65e7GIeJ60tDTGjBnD3r176dy5M+vWrStTPAHs27cPgNtvv13FUzOmFigRDxEWFkZiYiLdu3dn48aNdOjQtL/vUKS52b9/P7NnzyYrK4u+ffsSHR3N9ddfb3QsMYgKKBEPkZeXx+OPP05KSgr9+vVj1apVtG7d2uhYIgKsX7+eZcuWAfDwww8zf/58gxOJ0VRAiXiQH3/8kdGjR5Oens7QoUNZvHix0ZFEWrTLly8THh7Ozp07AZgzZw4jR440OJV4Ao2BEvEgHTp0YPny5Vx77bXs3LmTNWvWGB1JpMVKT09n/Pjx7Ny5k44dO/L666+reJISKqBEPMxNN93EkiVLaNWqFStXruSDDz4wOpJIi7N//36sVivffPMNt956K5s2beLuu+82OpZ4EBVQIh6of//+PPvsswA8++yzfP311wYnEmk51q9fz9SpU8nMzORXv/oVsbGxdO3a1ehY4mE0BkrEg0VFRREXF0fHjh3ZtGmTDuIiDSg7O5v58+eza9cuvLy8CA0NxWq1Gh1LPJQKKBEP5nQ6mTVrFh9//DG9e/dm/fr1tG/f3uhYIs1Oeno6M2fO5JtvvqFjx4688sor6rKTKqmAEvFw2dnZTJgwgSNHjnDPPfcQExODl5eX0bFEmo39+/czZ84cMjMzufXWW4mKilJrr1RLY6BEPFzbtm1ZtmwZN9xwA5999hkLFy40OpJIs6HxTlJXaoESaSL+85//MGHCBLKyspg+fToTJkwwOpJIk3X58mXmzZvHxx9/jJeXF0899RSjR482OpY0ISqgRJqQTz/9lJCQEAoKCnjppZf45S9/aXQkkSbn2LFj2Gw2jh8/TqdOnbDb7dx5551Gx5ImRl14Ik2Ibm8gUj8fffQRY8aM4fjx49x2221s3rxZxZPUiQookSbmt7/9LRMnTiQ3N5cZM2Zw6tQpoyOJeDyn08mKFSuYNWsW2dnZBAcHs379evz8/IyOJk2UuvBEmqi5c+eyc+dOevbsyYYNG+jQoYPRkUQ80sWLF5k3bx579+7F29ub559/nmHDhhkdS5o4FVAiTVRubi6PP/44X375Jbfffjuvv/46Pj4+RscS8ShHjx5l5syZnD59mi5duvDqq6/St29fo2NJM6AuPJEmysfHh6VLl9KzZ0++/PJL5s2bR0FBgdGxRDzGjh07GDduHKdPn+aOO+5g8+bNKp7EbdQCJdLEpaenM2bMGH744QceeeQRwsLCjI4kYqjc3Fxefvll3nnnHQDGjRvHtGnTdANacSsVUCLNwMGDB5k0aRI5OTnMnDmTsWPHGh1JxBCnT5/GZrNx6NAhrrnmGhYtWsSgQYOMjiXNkLrwRJqBvn37snjxYlq1asVrr73Grl27jI4k0uj27dvHyJEjOXToEL179yY+Pl7FkzQYFVAizcSgQYN47rnnAJg3bx4HDhwwOJFI43A6naxcuZLp06eTlZXF0KFDiYuLo0ePHkZHk2ZMXXgizcyyZctYv34911xzDWvXruWnP/2p0ZFEGswPP/zAvHnz+OSTT/D29sZms/E///M/RseSFkAFlEgzNH/+fLZv346vry8bNmygW7duRkcScbsvv/ySOXPm8N133+kWBdLoVECJNEP5+fmEhoaSnJxMjx49iI2NpVOnTkbHEnGbuLg4li1bRl5eHvfddx+LFi2iY8eORseSFkQFlEgzlZOTwx//+EcOHTrEbbfdxtq1a2nTpo3RsUTqJSsri/nz5/Phhx/SqlUrnnjiCf74xz9iMpmMjiYtjAookWbswoULjB8/nm+//ZbAwECioqJ0Lxxpsg4ePMjcuXM5deoUnTt35oUXXqB///5Gx5IWSlfhiTRjnTp1YtWqVfj6+pKcnMz8+fPRZyZpit566y0mTpzIqVOnuOeee9i8ebOKJzGUWqBEWoAjR47wxz/+kUuXLvHoo4/yzDPPGB1JpEYuXbrE/Pnz2bNnDyaTiUmTJjFlyhRatdLnfzGWCiiRFuLzzz8nJCSEK1euMGXKFKZMmWJ0JJEqHT58GJvNRnp6Op06dSIyMpIBAwYYHUsEUBeeSItx5513smTJEry8vFi9ejVbt241OpJIpeLi4hg3bhzp6enceeedbNmyRcWTeBS1QIm0MB988AFPP/00TqeTyMhILBaL0ZFESvz444/MmzePffv2YTKZmDx5Mo8//ri67MTjqIASaYG2bdtGREQErVq1YvHixQwePNjoSCKkpKQwe/Zszp8/j6+vL4sXL+auu+4yOpZIhVRAibRQ8fHx2O12vLy8WLJkib50VQyTn5/PmjVreOONNygoKGDAgAFERkbq5q/i0VRAibRgK1euZM2aNXh7e7NixQruueceoyNJC5Oens6f//xnvv76a7y9vZk2bRpjx441OpZItVRAibRwUVFRxMXF0aZNG1auXEm/fv2MjiQtxHvvvcdLL73EpUuX6NGjBy+99JK+y06aDBVQIsLixYv53//9X9q1a8fq1asJCAgwOpI0Y5mZmURERLBr1y4AHn74YebMmUPbtm0NTiZScyqgRASAhQsXkpCQwLXXXsuKFSv4r//6L6MjSTP0+eef8/TTT/Pdd9/Rvn17FixYwC9+8QujY4nUmgooEQHA6XTy4osvsnXrVtq1a8eyZcu48847jY4FgOMf3/Ov3d8bHcOj/faJHnS9yXO/LDo3N5fly5ezceNGnE4nd999N4sWLcLPz8/oaCJ1ogJKRMpYtGgRW7dupU2bNqxYscIjiqjk986Tk2Oiz326KqsiH791ip8H+9H9Fs/sAktNTeXZZ5/l+PHjtGnThmnTpmG1WjGZTEZHE6kzb6MDiIhnmTdvHq1btyY+Pp6pU6eydOlSj/jSVi9vE23a6WaKFTG18sxCJC8vj1WrVhEbG0tBQQF9+/Zl0aJF9OrVy+hoIvWmo5GIXMVms2G1WsnJyWHatGkkJiYaHUmamJSUFEaNGsW6deto1aoV06ZNY8OGDSqepNlQC5SIVMhms9G5c2eWLVtGWFgYJ06c4PHHHzc6lni4rKwsli5dWvJdi7feeisLFy7E39/f4GQi7qUWKBGp1IQJE1i4cCEAq1at4plnniE7O9vgVOKp3n//fX73u9+xdetWvL29efLJJ4mLi1PxJM2SWqBEpErDhg2jS5cu/OlPfyIpKYkjR47w2muv0b17d6OjiYc4cuQIixcv5rPPPgMgICCAyMhIbrrpJoOTiTQctUCJSLX69+/Pxo0bufnmm/nmm2+wWq0kJycbHUsMdvbsWcLDwxk1ahSfffYZbdu2ZdasWbz55psqnqTZUwElIjXSs2dP4uLiGDJkCJmZmTz11FO88cYbRscSA2RlZbFs2TIeeeQR3nvvPby8vPjd737Htm3bGD16tNHxRBqFuvBEpMbatWvHyy+/zJtvvkl0dDQxMTGkpKSwcOFC2rdvb3Q8aWB5eXm88847rF69mgsXLgDw85//nNDQUG6++WaD04k0LhVQIlJrY8eO5fbbb2f27Nl8/PHHjBo1itmzZzN48GCjo0kD2bVrF9HR0Zw4cQKAPn36MHfuXO666y6Dk4kYQ114IlInd999N5s2baJv376cPn2a2bNnM336dE6dOlWj+SdMmIDD4WjglO6TkTQDi8VOqtFBGlFWVhZvvfUWo0aNYs6cOZw4cYJu3brxl7/8hY0bN6p4khZNLVAiUmddu3Zl/fr1bN68mdWrV7N3714ee+wxJkyYwIQJE2jdunWl86akpDB9+nQCAgKYNm0aZrO5fmFS7VhC48s9aCUq0UZA/Zbc4hw5coS33nqLv//971y+fBmAvn37YrVasVgseHvr1CGid4GI1Iu3tzdjxozhoYceIioqir///e+sXr2abdu28cwzzxAYGFjpvLm5uXzxxRduLaSCoxyEFFVMqTFmQi3xZR6Til25coX333+ft99+my+++AIALy8vHnzwQUaNGqXWJpFyVECJiFv4+vqyYMECfv/73xMZGcm///1vZsyYwa233sqwYcOwWCx069atzDzFXybbEIUUQEDIOoITJpKwO4WQgH71Xl5zc/r0aT766CP27t3L/v37uXTpEgAdOnTgkUceYdSoUXTp0sXglCKeSQWUiLjV7bffzqZNm9i3bx9bt27lww8/JDo6mujoaO666y6GDRvGr371qzLzNFwh1R1/M5B2jAz6cSbGTGhC6bNm2w4ig/zKzJFag2kAyNhGmDUChzmc+MgR+NZk3uJ5yiyobDdjjddfS6dPn+bChQucPn26pGA6fvx4mWl69+7N6NGjeeihh2jTpk291ynSnKmAEhG3M5lMDBw4kIEDB3Lu3DkSEhJ45513OHDgAAcOHODFF1+sdD4oW0j17duXJ/7HXsck6Rx1AMG98U21Y2UdiYlFLVGpdiyhw4jpVdy9d46ksGHYHa4FTQoxlgiSzNGULePOkWSPwBG8jsSQ0uWFVrX8ouKpZ5SDyIDiZU8kIbgPXTMA36L1E058YmFBVjjPMCxHXdZTgfz8Al566SUuFXxb8tilS5e4cOECFy5cqPTrd9q1a0f//v0ZMGAA9913n75yRaQWVECJSIPy8/Nj8uTJTJo0ib1797J161Y++ugj8vLyKp3HtZD68ssv4X/qtu7UmIkkEIhtZD/w7Uei6ziogPHYzPHYi7v3UmOxOwKxxbsOOu9HSGI0ABlllltU6LgWNQG2Kpef4UjCgZUxJdP0Y3AwJCQc5kwI+KbGFhVvRcUTgO8IbLYkrPYkTof0o2wHqCsnhw8f5uyPhyqdwtfXl44dO+Ln58ddd93FgAEDNK5JpB5UQIlIozCZTAQGBpYMKu/fv3+l0zqdTry8vGjdujVjx46t1XoSQs2U9oCVuwqvoiv1ehY9tTsesNLLl6ql2gu72IJ7c9WkVSy/OoXrh1BL+SsJAXpXOW+rVl7MmTOH67qUFqXt2rWjY8eOdOrUSTc5FWkAKqBExGOUL5z+8Ic/cN1115H83vkaL6OyK+4ykmZgtSe7PF/cZebC3IeuVS49ntC4cOKjrFhDJxIzuHRd1S3f1xyEmQh2p9oIKOrC250ABAcRAEX3l6rbbRdMpsLbDHS/pW0t5xSRulIBJSKGq6xwcp9zOPYkQ/C60uIqI5k9DkpaiLr6B0JCEo6MEQRV2gplJapowHhUcDyhoXYGJ9oIqMHyS7rjXFvIXMZQdfUPBI5xMgMCqmsFExHD6U7kImIYp9NJq1ataNeuHZMmTWL79u088cQTbi6eAPzo1ZOiq/GgcBD4YXoGlz7mGzSFYJKxW13vNn6OpLCK7z4eELKOYOIJjUmp0fIhhS12sMU7SEws+nEZQ+UbFI7NXPP1i4ix1AIlIoZo1aoVbdq0aaAWp6sFhKwj2DIRqyUCCMQWH00IfUizRrAldQQhAf0ISdyBf9iwMuOQzLZ12DIqWmI/QqKsJIROJMx/B5HVLh8gGbvVXLbbsKQVyo+gyB1Qbv0EhxOfAVcPuBIRI5mcTqfT6BAiIlVJfu88efmt+Nmg642O4l4utzaoz53Sd8Z9y/2/7awxUCKNSF14IiKN4hxJMdvK3A6BM4dpOl+nLCKu1IUnItIYUmOxJ8RDQoTLg4HY4h1VDFoXEU+lAkpEpDEE2EhMtBmdQkTcRF14IiIiIrWkAkpERESkllRAiYiIiNSSCigRERGRWlIBJSIiIlJLKqBEREREakm3MRCRJiEjPZtvPv/R6Bge6fLFPKMjiLQ4KqBExON1vaktly/mc/FsttFRPFLPn7bjmuu8jI4h0qLou/BEREREakljoERERERqSQWUiIiISC2pgBIRERGpJRVQIiIiIrWkAkpERESkllRAiYiIiNSSCigRERGRWlIBJSIiIlJLKqBEREREaun/Az+zqIT9hAsyAAAAAElFTkSuQmCC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75450" y="2247341"/>
            <a:ext cx="7830229" cy="28827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2727" y="1051560"/>
            <a:ext cx="10218475" cy="4865730"/>
          </a:xfrm>
        </p:spPr>
        <p:txBody>
          <a:bodyPr>
            <a:normAutofit/>
          </a:bodyPr>
          <a:lstStyle/>
          <a:p>
            <a:pPr lvl="0"/>
            <a:r>
              <a:rPr b="1" dirty="0"/>
              <a:t>Definition</a:t>
            </a:r>
            <a:r>
              <a:rPr dirty="0"/>
              <a:t>: Build tools automate the process of creating an executable program from source code.</a:t>
            </a:r>
            <a:br>
              <a:rPr dirty="0"/>
            </a:br>
            <a:endParaRPr dirty="0"/>
          </a:p>
          <a:p>
            <a:pPr lvl="0"/>
            <a:r>
              <a:rPr b="1" dirty="0"/>
              <a:t>Purpose</a:t>
            </a:r>
            <a:r>
              <a:rPr dirty="0"/>
              <a:t>:</a:t>
            </a:r>
          </a:p>
          <a:p>
            <a:pPr lvl="1"/>
            <a:r>
              <a:rPr dirty="0"/>
              <a:t>Compile source code into binaries.</a:t>
            </a:r>
            <a:br>
              <a:rPr dirty="0"/>
            </a:br>
            <a:endParaRPr dirty="0"/>
          </a:p>
          <a:p>
            <a:pPr lvl="1"/>
            <a:r>
              <a:rPr dirty="0"/>
              <a:t>Manage dependencies.</a:t>
            </a:r>
            <a:br>
              <a:rPr dirty="0"/>
            </a:br>
            <a:endParaRPr dirty="0"/>
          </a:p>
          <a:p>
            <a:pPr lvl="1"/>
            <a:r>
              <a:rPr dirty="0"/>
              <a:t>Package code for deployment.</a:t>
            </a:r>
            <a:br>
              <a:rPr dirty="0"/>
            </a:br>
            <a:endParaRPr dirty="0"/>
          </a:p>
          <a:p>
            <a:pPr lvl="1"/>
            <a:r>
              <a:rPr dirty="0"/>
              <a:t>Run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8088446" cy="1162051"/>
          </a:xfrm>
        </p:spPr>
        <p:txBody>
          <a:bodyPr>
            <a:normAutofit/>
          </a:bodyPr>
          <a:lstStyle/>
          <a:p>
            <a:r>
              <a:rPr sz="4000" dirty="0"/>
              <a:t>Build Tools</a:t>
            </a:r>
            <a:r>
              <a:rPr lang="en-GB" sz="4000" dirty="0"/>
              <a:t> and Code Development </a:t>
            </a:r>
            <a:endParaRPr sz="4000" dirty="0"/>
          </a:p>
        </p:txBody>
      </p:sp>
      <p:pic>
        <p:nvPicPr>
          <p:cNvPr id="3" name="Picture 1" descr="data:image/png;base64,iVBORw0KGgoAAAANSUhEUgAAAwUAAACNCAYAAADmbtZRAAAAAXNSR0IArs4c6QAAIABJREFUeJzt3X1wU3W+P/B32gLyVEooULCVJ4Vml6oXjg8V1+IKSaWWpota47Iid/d27QrzK2bnzp3pOPw6u507O3ey9jfo1q16i1c06wMaaItNFpWqa5WNiLLeVLDQtZW2UNMCBfpE8/vjJGmSpm2aJjl5eL9mMtIk55xvk+PpeZ/v5/s9MpvNZgMREREREcWsOKkbQERERERE0mIoICIiIiKKcQwFREREREQxjqGAiIiIiCjGMRQQEREREcU4hgIiIiIiohjHUEBEFKU+q/tB6iYQEVGEYCggIopCdS+3Y+r0KfikmsGAiIjGx1BARBRl6l5uR8qKWbhhdSJssjgGAyIiGpeMdzQmIooe7+5tx6IbZyFNMcv5XGNDFzB0Des2J0vYMop1V3uuoeXkFambEdaumxGPG9JnSN2MiNV5th/W9j6pmyEZeco0JC+e6vfyCQFsCxERSchbIACA9My5aPy0C3872MlgQJLp6ujHh293ImU5T3q96b96Df1XrzEUTMKpLy7h9D8uY878aVI3JeQudvZjqWIGkhfP83sdDAVERFFgtEDgkH4ngwFJL2nBVGTmLZS6GWGpq6Mf5kMdUjcj4t2gmI0frZsrdTNCrvHTbmDo2qTWwTEFREQRru7lsQOBQ/qdc4H4ePztYGeIWkZERJGCoYCIKILVvdyOFB8CgYMYDBIYDIiIyA1DARFRhKrbaw8E6b4FAof0O5OA+AR8fIDBgIiIRAwFREQRyN9A4JB+ZxLipjAYEBGRiKGAiCjCOAOBjyVDo1l1B4MBERGJOPsQEVEEebeqHYtumnwgcFh1RxK++awbHxs6cbeasxL5amBgICjrjY+PR1wcr9cRUegxFBARRYh3q9qxaKX/JUOjYTCYOKvVGpT1zpo1CzNnzgzKuomIxsLLEUREESBYgcBh1R1JiJuagI8MLCUiIopFDAVERGHuUJADgcOqO5KQMI3BgKLZCVSoBJSYuI9TCFh0UKl2whScjsWAYyggIgpjh6racX0IAoHDytsZDHzRWJmDnJxKNI54pQuHn85BztOH0SVBu0JNEARs2rQJ1dXVAVqjeNKu8nhUWAK0eoo4giCgpKQEZ8+eDcwKLboR+5dKpQN3MYYCIqKwdei/xUCQGqJA4OAMBu8wGIwmvXAfdq05AG2leyzoOvxHPHMsD7rfbcBcidoWSjabDR0dHSgrK8P9998fuHCgroLRaBYf5RoYigWoKk4EZt0UUWw2G9577z1s3rwZv/rVr2A2mwOyXnW52bmP6bXNKGb4ZCggIgpHh/67Hdenhz4QOKy8PQkJ1zEYjG4uNjy1C2sOaOHMBV2H8cdnjiFPV4h0SdsWWjKZDAMDAzh37lzgwwEAKLQoVwMwmHg1N0YNDg7CZrPhH//4B5544omAhgMAkCv3QK/NhKE4ckp9goGhgIgozDgDwSppAoGDIxh8yGDg3dwNeGrXGhzQVqIRXTj8x2dwLE+HQkci6DqMp3NykON8uJcbiSVIw4+nD0duwZFMJvMaDmpqagKy/oUrMgE0o8WKkeUfJdXwPI+zmna6v2eMXgZLhUeJkrUaJeOUljiWcX24jVPwYR00MTKZbEQ4+OUvfxmwcCAXlBDQgHqzj9+j/bWKCt3o+8FoPPdh5/7ZCVOJt/1VLKv7v0eCeyzmlKRERGEkXAKBw8rbk3Dy79348J1O3JPP6Uo9zd3wFHbVb4U25wCAPOh+Z08EjZXI0R5Anq4Ww0/lQJvTgl37focNHZXQHlgj/juK6oxkMhkAOMPB73//ezz33HP4zW9+g7U/2uD3ejuaGgBokCY/gQoNUG40QwFAPFnaDk3FUhiLMgCIJ+zFhkxo9WYo5YB4opWNCosZRQqPFVt09vfuGX6vzoQsvRllLssWl6yEviwXcsf6W3dDbxR/tpp2QqMDUtOG16kq1kNdbkaZfXuWCgHFqmaX7ZC/XMPB119/jSeeeAK33HILioqKACzzf8XypUgFYGhqA5A8/vdoX8wAJYxGrfiDtRolmmyomqqc+6MncX9pgLrcsT+K+7CqdTf0ZbkQsjIBnQmWogw4d1eLCQZoUL4+uMdghgIiojARboHAYeVtDAajE8uI6rc+gzRn2VAXDr96AGt27RvuNQCQXqhD3gEt6j/vwoZUADiG0x2Av4MPent70dPTg0uXLrk9enp6MG/ePFy5cgVXr15Fb2+v89+eP/f19WFgYAADAwMYHBwc89Hb2+tz2zzDQVlZGW683gR11n9M/Be16FBsAATtNiiQDIXR9WQrAwXaTBgcJ1HWauwzAOpy15PvZCjLvFxNtlajxH7S5/7ePS5vSoZyqwa6YhPM1lwo5SdwxAAI2kw4FhGvMJeitQWAohOmfXoI2jq3AKIoqoLasB315k4olaP/P/TDDz9AEPIn+AHFJm/hYE+pMUBr9+F7FMTn1Otd9kd5LrRaEzSeJ/VOJ/C6rgFQV7msNwNF5RoYHPuYshBq3XYcsWihcISRI3pAXeVlfYHFUEBEFAZqX2pHqiL8AoGDMxi8fR73/Gy+1M0Jb12fo/4YcOzYVuQ8M/LlNQCQXghd3gFotTk4kKdDbaH7KISOjg60trbi3Llz6OzsxPnz53H+/Hnnvzs7Oyd0ki61wcFBJCUl+b6AYTtUhuEfh6+qAo4rqwa3BZYCAKxmE8zIRNbC8TbQBpOudJT3ir0DOrcckelbu60NqDcDZnM2VLqRLwu+rYUmaGhoKLArnMT3KE9bCkep24iTeGszWuERJABg4UoI0KOpA4A8A+vVQPGREyhSZAAQg6i63HvPQyAxFBARSaz2pXak/WgWrl8ZnoHAYeVtSTjFYOCzNbv24Xdj1AalF9aitrALh5/eipwcIE9Xi0Wn9KiqqkJfX59P25g7dy5mz57tfMyaNQuzZ8+G1WrF9OnTnY8ZM2bguuuuc/57+vTpzp8TEhK8PqZMmeL284wZM0Zsf+3atV7bZbPZAIhXc1evXo0dO3Zg8dwf45NaH0dxqkcpv7BWo0RTCrPL647ynWFLkTZOiY5Ztx2p5XXQIhs6XTUEe2mQM3AIw+VBYhlJs31J+wlbfQOsSnv5kD2IaIXhHgBBW4eyMXoERjNv3ryADqCNBmPtY/Hx8RgaGsLGjRvx5JNP4p9fTGJDbifs4vc95vcYxAHJivUaoLgSpoI9UHaYxP0x2N0EYCggIpJUpAQCh5vswaB+/3lkbWEw8GpuKtIAHPCpNmguNvyuFqmVOdBqK6F6aCr6+vqQmJiIJUuWYMGCBZg/fz6Sk5Mxf/58LFiwwPnvWbPCb5/xFgYEQbyuerbp6qTXL56Aa1DuDAydMNc3wNFTIF6l1buVXngjloUkA9rdqNeUQmfKFE/+LCYYkAmtNtdZHmQ5oodrT4GiqApq1XZoVKX2Z1zHJHjUpVPAeQsDixcvBgD884sf/F6vY9/aqgAm8z2K+4tGDKYdHi86xi04ewHsOk6691optkErZKPe3Im0Jj2ErDqEYigKZx8iIpJI7YttERUIHG66LQnTZk1F/f7zUjclTKWjUJcHHNC6zyjUWDnuDEPKLVtw5MgRvP/++6iqqsIf/vAH/Pa3v8Xjjz+OnJwc3HbbbVi2bFnYBQLXMJCRkYHnn38ee/fudQaCQHEtzQAAq6kUTama4ecU26AVMGJqSUvFKFNNynOh1WbCrCsVX1+4EgIaxDIOALDosA8at+espkoYXO+jYHQdvyDWh8Ow3X0WGouOd1GeJJvNhri4OMhkMmzcuBEHDx5EWVmZMxBMikVnH/yrtZf8+P49tra4vz48/gXO/Wl4RiNxDAwMlS774wlUFOsBdaHb2BYhKxPm+lLsM2QiSwhNwGRPARGRBGpfbEPaj2dHXCBwuEmYg1PmC+wxGE16IWp1QI7WdVzBGuQ5ylzssxMNW4Nd+wohLJqFmTNnhratkyCTyWCz2bz2DASFQotytYBijQAd7OUdRcCK1mzoXj8BZVEGlGVmpFUMvwcAoN4N/SirlCt3Q1ufDZ1GhzSjVhwoWiyIYxbsZUoW6FG8rxoFZbniQh5jHtx6CxRaGMsBVbFrPXom1OUB/ixiSFxcnNeegckwOL5jABB2Q280u1+N9/V7rC+FStfg/NGt5Eiei7Lyk+I67DMSyZV7oMdOaNz2z5HlcnJBCUEnlsqVhWjGKpnNEe+JiCgkal5sww0RHAhcnTJfQF9Pf8wFg44Oz7qAwJg1K7JCgSAIPoeBs01X8UmtFff+/PoQtS50nNOUluX6XebR1dEP86EOPPLbtPHfHEMEQYBKpfIpDDTU/oDBa3H40boQzPNrH9+SWu5lqtuAEMe3wMf1N37aDdnQNdyVO8/vLbKngIgohGpebMMNqxNx/U2Rc+I3lljqMejp6cHHH3+Mjz/+GDt37pS6OWEhJgfFWnSogNblRK0TLa1SNii6xeQ+BnuZGjQoD8EAYweGAiKiEIm2QOAQzcHg+++/xwcffICPPvoIx48fx7Vr1yCTyRgKYpY4f73BrHefEnW02ZKIJsoxw5brDFghwlBARBQCNS+04YaM6AsEDs5g8NZ5ZD0YucHg2rVrOH78OD766CN8+OGH+O6775yvKRQKZGVlISsrS8IWkrTEG6Epx38jRTt5LsqMuZGzXh8wFBARBVnNC21YkpGIxVEaCBwiORg0NjaipqYGdXV16O7uBgBMmTIFmZmZyMrKwr333ot584ZrdQN+syQ7x52AiYhCjaGAiCiIYiUQODiCwZG3zmN9mAcDq9WKmpoa1NbWoqmpCQCQmJiITZs24Z577sG6deswffp0r8vGxXFGbyKKLgwFRERBUl3ZhiU3x04gcLhJmINvPw/PYNDX14cPPvgANTU1OHr0KIaGhpCQkIB7770XDzzwAO6++27Ex8dL3UwiopBjKCAiCgJHIIjWMQTjuXFteAWDY8eOoba2FocPH8bly5cBAOnp6XjggQewadMmJCYmStxCIiJpMRQQEQVYrAcCB2cwePM81j8U+mBw4cIFVFdXY//+/WhpaQEAzJs3D/n5+cjPz8eSJUtC3iYionDFUEBEFEDVlW1YeksiFt8Y24HAQYpg8NVXX2H//v3461//iv7+fkyZMgX33XcfHnjgAdx1110sDyIi8oKhgIgoQBgIvHMEgw/ePId7H1oQlG1cvXoVhw4dwltvvYVTp04BAFJSUvDggw8iPz8fc+bMCcp2iYiiBUMBEVEAHPxzG5bdykAwmhvXzsG3xwIfDE6fPo033ngDhw4dwpUrVwAAt912GwoKCnDPPfdwlqAw09XRh3r9WambEZYG+ofAGWkn7/SXF3H+u6tSNyPkeroHcOMtsya1DpnNZrMFqD1ERDGJgcB33x67gCvdfZMKBv39/Th8+DD279+PL7/8EgAwY8YM5OTkoKCgAEuXLg1UcymA+q4O4dx3vVI3I6xNvS4OC5dcJ3UzItaFzgFc/GFA6mZIJnHeFMxJnuL38gwFRESTcPDPZ7Hs1jkMBBPw7bELuNLVh3sfnlgwOHv2LN544w3U1NQ4bzC2ZMkSPPLII9i0aRNmzuR3QETkL4YCIiI/MRD4r+nYBVz2MRgcP34cr732Go4cOYKhoSHIZDL85Cc/wcMPP4w777wzBK0lIop+DAVERH5gIJi88YJBXV0d9u3bh8bGRgDAzJkzsWXLFjz88MNISUkJZVOJiKIeQwER0QQdfP4slv0LA0EgNH1xEZetvc5g0NPTg3feeQevv/462tvbAQCpqal45JFHoFarcd11rLcmIgoGhgIiogk4+PxZLF+ThEUrZkjdlKjR9MVFXDx/GcdaXsHBgwfR2ysORr311luxdetWrF+/XuIWEhFFP05JSkTkowPPn8UKBoKAW/EviWj6woarf1uBgYEBqFQq/OIXv0B6errUTSMiihlj9hR8+WE3/vezi6FsD0nsvkcWYkHaNKmb4Tdrez+Mr7RL3Yyosnj5dGRtCc2daMMZA0Hwnfq8C9a2S9i07Qapm0JEFHPG7Cm4fOEa5t8wA8tuTgxVe0hCfz90Dv29Q1I3Y1IGB2y4NghkqjkIMRA6W6+ivemy1M2QHANBaNy0di6avojH+6+fw08LgnPnYyIi8m7c8qHpsxKQtGBqKNpCEkuYGh23UoxPkHGfDZDenkGpmyC5AxVnsWItA0GoiKVEwPt/OYefPsJgQEQUKrz/OxHRKA5UnMWNAgNBqK34l0TMnn8d3v/LOambQkQUMxgKiIi8MNgDQcpyBgIpLL9VDAbvMRgQEYUEQwERkQfDn87iJgYCyS2/NRGJDAZERCHBUEBE5MLwp7O46TYGgnDBYEBEFBoMBUREdgwE4ckRDA7rGQyIiIKFoYCICPZAcDsDQbhafmsi5ixkMCAiChaGAiKKec5AsIyBIJwtv8UeDF7rkLopRERRh6GAiGLaO88xEESS5bckIillOoMBEVGARVUosJp2QqXSwSJ1Q6RkrUaJSkBFTH8IUumEqUSAquLE2G+T/DvysZ0x4J3nzmLVHQwEwWKpEKBSDT8Ctc8vYzAgIgq4ce9oPC6LDqpivceTGpQbtVBMeuXR6AQqVNth8HhWXW5GET8wr9auXYspU6YgPT0dO3bsgCAIk1yj9+9A0NahTJk88fWoq2Asyphkm8ZumxthN/RluZAHaIuR6rbbbsPUqVPx2GOP4dFHH8Xs2bMntPw7z32PVXfMxcIABQJTyV3QmfvHeIfUx8XQH3sUBXXQFyWL+6pFB1XxTqzQ74EyADvvslsScQbA4dc6sOHRhZNfIRFRjJt8KLBz/cNiNe2ERiXwRHcsrieSFh1UxUKATy6jy8DAAE6cOIEdO3YELhyM+A6yUZE2kX12EVZMNp+MkIEioxlFjh8tOqiKm6EN0IlUNBkaGkJvby9efvllvPLKK/jFL37hczh457nvserOuVi4NHA9BMqyT6B0/GCtRommFKkBOwaKJ/StEw6uXoTy2CNPHg6vCiXU2I6mDiBQiXbZLYk4I5MxGBARBUBQyofkyj3QazNhKN4JkzUYW4gyCi3K1QAMptgufRqDTCaDTCZzCwePP/44zGZzYDagUEINoLWlcwILJUNZZmaQk5BMJkN/fz+uXr2KqqoqbNq0Ca+99tqYywQjEESsUB57LKaxe8D8tOzm2UhaNAN/fZWlREREkxG0MQVyQQkBDag3D59kiTX/LjWmzppme41zSTXcMoS99rrE5FjHCVS4Lq/yJXTY1z3KMpYKAaoSHSrc3uNlXIK9Ld7fI7arxFTt0r6JjW1YuCITQDNarKOMjfCsQ7fo3D9Lz8/O47Ma/gwjm7dw8OCDD6K6unpS67WaKmFAJrIE+1VYr3X/rrX4Lp/vuLX5HvugzjSptgI+1Gp77q8j9o/oIpPJMDg4iCtXrmDPnj1QqVRe94m3n5U4EIx5HBn5vYr/3w6X/Zh12e7f5zjr84XrsWfc9Y163PE8znrukydQUawHhN0oCELv8bKbZ2PuYgYDIqLJCFj50AjypUgFYGhqA5AMS4WAYoMG5cY99ppa8Q+dqlWsj1Zu1UBXbILZmussk7C8XgqzsBt6ZbKzOx7aOhjt3edW005oNAKaRu2it/8xFXZDbxRrsL0uY27GCr0ZRsd2KwQUq1xKNuzjJtTlZpQpRnkPALNOLBcw+vFHr6OpAYAGaT51q4t/YMeqgTcUm1DuKEOxVqNEM35pjM1mQ3V1NeJmdk38FwgxmUwGQCwrOnPmDMrKyvCnP/0Jv9z6FIB031Zi2A6V49KlugpG40Su+GegyFgFjFf/72UfhEUHlbkBqRPY2rBOmEqyoTO71KfbS0CcpSX2/VVw/r8iLqNRnfSrpr2rqwuVlTV+tXaiFi9ejEWLFvm9vCMwdnZ24ve//z2effZZ7NixA6oNOah5qQ3pmXIsXDo9gC2egPGOIx06FBsyvZSKJTv3NffyoU6YdKUwT7L0Z/jY0wlTiQlZejPK5Pb1l2SjuGSlfQzL6Mcdq6nUfZ/0/NUrtsMADcqDOBZm2c1i2dhfX+3A+ocWYMpUWZC2REQUnYIXClxZq7HPkAmt3vUPRgaKyjUwOIKAvd603twJpTIZwAkcMQCCNhNy2AOCusoZCABArtwNbX02dEdOoEgx8o+i4+qvVjv8h8jrMoISgstfKkVRFdQGR1sA0z7xD6HrCbXnewAA6ir/6octOhQbAEG7DQrA5yu6Znvg8kZd7vJZ2wNaa0snoBi9HnloaAi1tbVov/C1722XmGs4OHfuHF544QU8nqPzbWHP2mrVdj8GG49N3Ac9ToYWroTfQxEsL0Nn9vh+FVqUq/Uorm+AVZkJ8z7xiqzW+XskQ6ndjXpNKY5YtFBMcB/t6urCq/sr/W2xJBw9B52dnSgrK8Nhw9co2PKEdIEAneMfR9IAoGHiNfetzbAiw7+TbbdjTzIUZXtcXkz2erFm9OOO2Nug8GyI1+N/cCy7eTY6W3rR0z2IuQumBHlrRETRJSShwGo2wYwGmDUCRp6uZdr/m4ECbSY0updhUWqhsJjEkymXgAC4XNl1Ncol146mBkDY7XbCDyQjLRXOP6TeiQNIDU1tgLUZ9WbAbM6Gysu5puvJnbBiAlc4De6/y8QGZTsC1XaoDL7PaDJWiACAuLg45OTkIG7mXb42JCQqK0c/IbXZbADgnJ3occ3/QdtXfmxEoYVe2wyNrhQmYc/wgNFJ6YS5vgFQFwbsZMja0gxAg/UeK1y4IhMwnEQHlqLJPBymndyC4cS2OXfuXPzbv/3b5Bo+QSdPnsSlS5fGfM/nn38+7noc4aBn6AzaT19G0sJp0gQDa8P4xxFHuPN54O9w2NOoTL4PRh/z2OPoiXJdYPgYPdpxx3mxRSOg3iNYW80mmAUltCEYKH/mq0uIjx/CrKTQXO8iIoomwTtyWpvRCkC9PgNoAQBv3eLu5MpCqHXbccSyDS32q2pu5y8Szs4z9hXktomvcLK/i0ILo1HrnOkpEJ+NTCZDbm4uUm+S6mqqd95CgWcYcMxGdK6lD21fnfNrO/K0pQD04pVaTmTiNHfuXOT9+tdSN2OEtWvXen3eZrMhISEB165dwy233IKioiLnTFVvP/s9AOnGFIzXE6UoMsNYJJ6Yq1Q+XCyQ56LMmCv2dGkE6HyZrnbUY8UopW7FzS4NHO24Iw66V+IEKlTZUOmGj/fi/1fBd+arS+g6ewUbf87/eYmI/BG0gcZi74B4RVP8o2DvFh+T2FtgKBZrprc6/3jap35sbZ7QYMmFKzIBswlmt4U60dIKIHXp6H847Vf1hBWLnFdYxavs4Ueu3ANjuQYwbI+JG5bZbDbYbDZMmTIFGRkZePbZZ7F3794A3LvAcRU+EysCdk7h2isVGI7gcsTjuxZ7xVZiof3/FXN9g8egfTGkp6YFrjQq3NhsNsTFxUEmk2HDhg149dVX8dJLL7ntGz/bcT2++bQLHc1XQtu4CR1HxBPscjVgKPZx4LBCC6N+NwRzKXT+TipgMY0ot7Qc8bwHjWj0404Giox10AoN0Onsg5AVWhiDfF+NM19dQncbAwER0WQEJxRYdNDoGobrnu3T3nlOUWqpGDl7kDhrEQC10qWXQOwmF8yl0LjO9GKtRonLz54nTHJlIdRogO714feIA+IyoS1wuVJmPonhvGIfvAdHKBG7zGHY7j6Dj0UXtBl9Rp74OdoUu4IZBgAA1mrodGKpj1KO4YHyRzz3nbFWYg8BLtM7KtZrAM/9tuOk/9+lYhu0AmDY5zKbkL0uXL01F3J7HTjMpXjdc/9xzvwysp2RzGazYerUqZDJZNi4cSMOHjyIsrIyrFq1yuv785+0B4MzoQwGkz2OjBL2AmnhSgiuF28sOuyDxv05PzhnnQvSHbQdgYD3KSAimpyAlQ8ZioXhWViE3dAbzW5XhhRFZpRDQLHruAJBg3LPFclzsVVtQlZBxojny/RAicajHlZbByvs4/IcdeHOmViGZ4gZXsZLGZPQjH0qweVEzaNOX6GFsRxQFbvWA2dCPaLxAeLyexgcbS4XQ5Fo5J1JnQMYo3TeycDe0djOo7ZacJnZCshAkX43Wl32N0FbJV4BHWOViqI6aFuzh2eUUWhh1K9032+FTP8HGiMZyrI6oCQbGlWp81m3MhPn/urx/6TL1doR7YzAG6PJZDIkJCQgISEBarUajz76KBYvXuzTsvlPXo93njsLAAG7o/G4xjuOjLg7vOvgXNfxA+L3ri6vw4p9HvX/HpMxTIg8F1qtafi4Yy8NskCP4n3VKChbitdHOe5YTTuh0TW4vKJBuWPGN/9a45MzX15Ed/tVBgIiogCQ2RzF2V58Uv0DbHHxSL8zKZRtCilLhYDiVh/qcGPAB699jzuz5WE3pmAizrX04b2/nIPyX9OkbkpUaD99Bd9+3o28J3w72Q6lu+++e0J3MfbmnefOYuUdSUgJVTCggGEgICIKLE7RQEQR6eOPP570OvKfXAzDn8QeAwaDyHH6y4u4wEBARBRQQRtoTEQUCdS/WYxTR7vRHtIxBuSv019exIWOXgYCIqIAi/meAkWRGUapG0FEklL/xt5jYANSlrPHIFydPn4RF871YoNmgdRNISKKOuwpICKCvcfA3I320+wxCEenj1/ExfMMBEREwcJQQERkpy5iMAhHjkBw3yMMBEREwcJQQETkQl20GN8yGIQNBgIiotBgKCAi8pBnDwZtTQwGUmr6goGAiChUGAqIiLzIK1qMpmMMBlJp+uIien5gICAiChWGAiKiUeQ9wWAgBUcg+GkBAwERUaiMOyXp1Z5BdJ/rD0VbSGKD/aPe3DqiXBu0cZ8NkJ7uAambILm8Jxbj4PPiDc4WreB0pcHGQEBEJI0xQ8HMOfH4Z+MlnP/uaqjaQxKbel1kdx5NmSpDfIIMR2s6pG5K1Fi8/DqpmyC5zfZgYLPZsPjGmVI3J2o1fXERl60MBEREUpDZbLZj8YoQAAAPF0lEQVTouDxMRBRkB/98FstuncNgEARNxy6g9XQ7MjcnYtGiRVI3h4go5jAUEBFNAINB4DUdu4DLXX14Zt+v0NbWhnXr1uGhhx7CXXfdBZlMJnXziIhiAkMBEdEEHfxzG5bdmshgEADfHruAK119yNyciBdeeAFvv/02Ll26BAC4/vrrsWXLFuTn52P27NkSt5SIKLoxFBAR+YHBYPK+PXYBV7r7cO9Dw2MI+vv7YTKZ8Oabb+Lrr78GAEybNg0qlQoFBQVYtWqVVM0lIopqDAVERH5iMPDft59fwJUL7oHAk8ViwRtvvIHq6mrnc6tXr0Z+fj7y8vJC0UwiopjBUEBENAnVlW1YeguDwUR8+/kFXL3Qj/UPzffp/ZcuXYLBYMBbb72F77//HgAwZ84c5ObmoqCggAOTiYgCgKGAiGiSqivbsOTmRFx/E4PBeCYaCFzZbDZ8+umnePPNN/Hxxx9jaGgIAHDXXXfhoYcewrp16xAXF9nTKgfb5QvX8EN7n9TNoDAUFydD6k3TpW4GSYihgIgoABgMxvft5xdw9WI/1j848UDgqb29HW+//TYMBgOsVisAICUlBfn5+cjPz4dcLp/0NqKR5bOLaDhkRdL8qVI3hcLIkM0G69k+FP7ncqmbQhJiKCAiChAGg9EFMhC4GhwcxPvvv48333wTX3zxBQAgPj4e99xzD7Zs2YI77riD05q6sHx2Ec2Nvbj9Ad4gjoYN9NlwcM8ZhoIYx1BARBRANS+04YYMBgNXp8wX0Hsp8IHAU3NzM9566y3U1ta6TWu6efNm5OXlITk5OajbjwQMBeQNQwEBDAVERAFX80IbblidiOtXMhicMl9A36V+ZAU5ELhyTGu6f/9+nDhxAgAQFxeHdevWIT8/H+vWrUN8fHzI2hNOGArIG4YCAhgKiIiCoubFNtzw49gOBlIEAk+nT5/G22+/jUOHDuHixYsAgOTkZGzevBn5+fkxN3MRQwF5w1BAAEMBEVHQiMFgNq5fOUvqpoTcKfMF9PX0I2uLdIHA1cDAAN577z0YDAaYzWbn87fffjt+9rOfYf369UhISJCwhaHBUEDeMBQQAET/EZCISCIP/GoRal9sA4CYCgYn/34B/ZfDJxAAwJQpU5CdnY3s7Gy0traiuroaNTU1OHr0KI4ePYqkpCTk5ORArVZj2bJlUjeXiCjk2FNARBRktS+2IS1GegzCrYdgLDabDUePHkV1dTXef/999Pf3AwBWrVqF+++/H9nZ2eMOTnbcK2GyQnV/BfYUkDfsKSCAoYCIKCRiIRic+ns3+i4PREQg8HT58mXU1dXh3XffxfHjx53PC4KAjRs3YuPGjUhMTByxXEdHR0C2n5iYiOnTg3/jKIYC8oahgACGAiKikKl9qR1pP5oVlcHg1N+70X9lAPf8LPICgae2tjbU1taipqYGra2tAMR7HzgCwr333os5c+YAYCig6MBQQABDARFRSNW+1I5UxSykroqeYHDy790YiJJA4Omrr77C4cOHYTKZ0NnZ6Xz+1ltvxU9/+lPcd999AdkOQ4FDJ0wl2dCZAUCDcqMWCqmbNAlW005odEvD/vdgKCAACE0RIxERAQByfpmC7xt70PpNj9RNCYiTf+/GwNXBqAwEAHDzzTfjqaeeQl1dHfbu3Yuf//znWLx4MY4fP47nnnsOQCMqcyrR6GXZxsoc5Dx9GF1BbqMgCCgpKcHZs2cDs0KLDqqKE15eOIEKlYASU6eX1yaqE6YSAaqSalhdN12RDR12Q280w+jvibRFB5VK8HjoYAlAq4miGUMBEVGIbfrX6AgGJ4/aA0F+bNwpePXq1di1axcOHjyIv/zlL/j1r39tf+UAtCE4+R+NzWbDe++9h82bNwcuHBi2B+jkf7QgkYy0VI+nrNXYZwDUW3MhD8CW1eVmGI3iQ69tRrFKQAWTAdGoGAqIiCQQ6cHg5NFuDPbGTiDwdOONN+Kxxx4bfuLYM/jjYaliATA4OBjwcGDWlcJkHf99/lIUmWEscwkAHSdhRiZWLAz8tuTKPdBrM2Eo3hnU34kokjEUEBFJxBkMGiMrGDgCwU9iNBB4syYvD3hmKyq91RG5aKzMQU7O8MPx/o6ODvT29k6qDTKZLIDhIBNqNaDTjFd2Yy8DcpbpuJ50n0CFajsMAMy6bPH1kmpYXZexlw9ZTTuhKtYDaIBO4yj3sb9vRCmTf2VMckEJAQ2oN7ssZ61GidcyI+/lTY73D29bbIv339+fz8z+Wah0qKgYZ72jtt31M6p2aZ8OzEM0Ft68jIhIQpv+NQWHqtoBAKnp4T/4mIFgFMsfwlO7WrBVW4l7aguRPuINXTj89FY8cywPOsfrjZXI0eagZdc+pHzzGg4dOoRZs2Zh/vz5WLBgAZKTkzF//nznIykpCdOmTXM+pk6dimnTpo3Ykmc4MBqNUKlUePLJJwH4vo+tKNgNbWs2iiuUMBZleHmH/aRf2A29UbzibzXthEYjoKncjCJFBoqMVYBqO1q1dShTDu8zyrI6oCQbOvvPcuUeGNN0UBXroS43o8g+mGBhViagM8FSlDE8vsBiggEalCsnuA/KlyIVgKGpDUCyOPbAvr0y+8otFQKKVc3Q6vdAuVUDXbEJZmsulPbuDMvrpTALu6FXJosn5ZpSQFsHo70t7r+/t0aM95k53qcH1pthLIL39Y7Xdnt7zbpSpJabYQznUc4UNthTQEQksU3bU/D9yR60hHmPwcmj3RjsYyAYzdwNv4Mub5TxBY1v4pljQJ7OJTCkF0KXBxyr/xwzkpKQkJCAnp4enDlzBp999hlqa2uxd+9e/Nd//Rf+/d//HYWFhdi2bRseeeQR5OfnIycnBxs2bBi1Pd56DqqqqibwGyVDWVYF9SjjC6ymShiQCa12uARIrtwNrQAYjngbqDxxcmUh1NDjiEt3heWIHlArJzmbTydM+/QQtHVuJ++KoiqoHb0JCuXwvwEAJ3DEAAhZmZDDHhDUVW5hZ7zf3/fPTIP1Lu1yf48PbXdQV40STohGYk8BEVEY2LQ9Be/aewzSwrDH4JvPunGtfxA/UTMQjCW9UIe8HC3+eHgtfu7yfFdrC4A83OPRhbBw+RrgwGk8/P9+i/946il0dnY6H+fPn8f58+ed/7506RJ6e3vR19eH/v5+9PX1oa+vDxcvXhy3XQMDA5DJZH7cgTkDReUaqIpLYRIK3V7paGoAhN0Q3EYF2wcQtzbDiowADBjOwHo1UHzkBIoUGXCcmKvLvfVcTIC1AfVmwGzOhko38mXBvu0CbSY0updhUWqhcOuhENsBbIfK4GX9noOo7Xz5zLxzeY+12Ye22/+9YtEo6yMaiaGAiChM3B+mweCbz7oxxEDgo3QU7tuFp7duhRYA1kxs6eTkZCQnT+xzXrt2rdfnHbchkslkWL16NXbs2IGZ11aiuXGCYxcUWui1O6HRbAfgftIZCor1GqC4EqaCPVB2mMTSG3+uflub0QpAvT4DQDMAQPAoa/IkVxZCrduOI5ZtaLFfnXfbtLpqlNKq4Bu77W0hbQtFB5YPERGFkfu3p6DtZA9aLOFRSuQIBHczEPhu7gY8tcs9DcxNTQNwAB96DETuOH0MWLN8ApX+47PZbLDZbJDJZMjIyMDzzz+PvXv3QhD8P513lK+4WrgiEzCbYHYbvdqJllYAqUsDMq0oAECxDVpBLIuxHNE7y3cmymo2wewoy7GPLzA3jXfyLPYWGIqzoTNrsNV5Er4IKwTYr+77zv/PzN4zkboUcp/bTjQxDAVERGHm/u0paPtW+mDwzWfdGBpgIPCHOL7A5Yn0h7BrDXDgVZfxBo2V0B4A8n6+AbMDsM1ghIFh9vEFLs+I9f4N0L0+XAtvNZVCZ86EtsBx9Vw8eTbXN0xi5ptkCFmZMNeXYp8hE1mCH/ujRQeNrgHqcscN0cSyqBH3Y7DoRoyfEGctgsc4hmQotbshmEuhcZ0dyVqNEpef5WlLAZcxEb59ZgDQjBaXD8xSsV0ci1CQMaG2E00Ey4eIiMLQ/Y+n4N297YBMmlKixk+7YRscxN15DAT+Si/UIe/pVvtPc7Hhd/uAp7dia84zzvfk6WpROHKqIr+4lgkFJgh4Ek9GS1pcfrbPLjRcV5/pNvuN4+S5XlMKjaoUANxmF/KVXFBC0NkH9vrYTWAoFuBsliDeJdltUYUWxnJAVexam58JdbnnxnOxVW1CVkHGiOfL9ECJxn1cgVpbBysgbkuhhV7bDE2xYJ+ByZfPTFSvE6Azj/IeX9tONAEym6PokIiIwk7d3nak3DQrpMGAgcB3HR0dAVlPYmIipk+f7teygiD4HAYsn11Ec2Mvbn9ggV/bko44lSf8CBSRxmraCY1uKcqN2knOsOS7gT4bDu45g8L/XB6iLVI4Yk8BEVEYy348BXV72wEbkKYIfjBo/LQLtsFrDAQRxGw2j/+mCCdO5alBeZQHAiIpcUwBEVGYy348NGMMGj/tAq4xEFAYsd+1V1OvhD6EV86JYhF7CoiIIoBzjAGC02PgCATrNjMQUBiR56LMmCt1K0JKrtwDo1LqVlAsYiggIooQ9z+egrqXAx8MGhu6gCEGAn/I5YGZeDM+Pj4g6yEi8hdDARFRBMneJgYDmw244UeTDwaNDV2Q2YZwFwOBX6ZMmSJ1E4iIAoJjCoiIIkz2thR0nO7Bd/87uTEGFkcgyJ0XoJYREVGkYiggIopAkw0GloYuxIGBgIiIRAwFREQRKntbCs6dmXgwsHxiDwQPMBAQEZGIoYCIKIKpHptYMLB80oV4GQMBERG5YyggIopwzmDw9djBwBEIMhkIiIjIA2cfIiKKAqrHUmD8H3G60ht+PHJWIssnXYiPG0JmDgNBrOv451U0HOiQuhkURmzXbFI3gcKAzGazcU8gIooSxv9px/ylM7Hkx7Odz/3v37qQEM9AQMDFHwbR8c9eqZtBYSguQYYVN8+UuhkkIYYCIqIoY3qlHclLxGDAQEBERL5gKCAiikKmV9ohT52BwasDuHMTAwEREY2NoYCIKEodNVpxu0oudTOIiCgCMBQQEREREcU4TklKRERERBTjGAqIiIiIiGIcQwERERERUYxjKCAiIiIiinEMBUREREREMY6hgIiIiIgoxjEUEBERERHFOIYCIiIiIqIY9/8B27oLSmoZzFMAAAAASUVORK5CYII=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2216" y="2794034"/>
            <a:ext cx="8088446" cy="146879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D1A735F-C5A1-8BD8-52B0-83AA9F1F6F4A}"/>
              </a:ext>
            </a:extLst>
          </p:cNvPr>
          <p:cNvCxnSpPr>
            <a:cxnSpLocks/>
          </p:cNvCxnSpPr>
          <p:nvPr/>
        </p:nvCxnSpPr>
        <p:spPr>
          <a:xfrm>
            <a:off x="7995581" y="4137883"/>
            <a:ext cx="0" cy="499794"/>
          </a:xfrm>
          <a:prstGeom prst="straightConnector1">
            <a:avLst/>
          </a:prstGeom>
          <a:ln>
            <a:solidFill>
              <a:srgbClr val="4A4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867FB1D-A39E-C0E6-1642-399DF0EC8ED1}"/>
              </a:ext>
            </a:extLst>
          </p:cNvPr>
          <p:cNvSpPr txBox="1"/>
          <p:nvPr/>
        </p:nvSpPr>
        <p:spPr>
          <a:xfrm>
            <a:off x="7665661" y="4637677"/>
            <a:ext cx="705334" cy="307777"/>
          </a:xfrm>
          <a:prstGeom prst="rect">
            <a:avLst/>
          </a:prstGeom>
          <a:solidFill>
            <a:srgbClr val="ECECFF"/>
          </a:solidFill>
          <a:ln>
            <a:solidFill>
              <a:srgbClr val="CBBDF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</a:rPr>
              <a:t>Debug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61497A24-1409-4CB6-AD9B-5A0BF099C450}"/>
              </a:ext>
            </a:extLst>
          </p:cNvPr>
          <p:cNvCxnSpPr>
            <a:cxnSpLocks/>
            <a:stCxn id="35" idx="1"/>
          </p:cNvCxnSpPr>
          <p:nvPr/>
        </p:nvCxnSpPr>
        <p:spPr>
          <a:xfrm rot="10800000">
            <a:off x="4279395" y="3712466"/>
            <a:ext cx="3386267" cy="1079100"/>
          </a:xfrm>
          <a:prstGeom prst="curvedConnector3">
            <a:avLst>
              <a:gd name="adj1" fmla="val 100226"/>
            </a:avLst>
          </a:prstGeom>
          <a:ln>
            <a:solidFill>
              <a:srgbClr val="4A4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Save time and reduce human error.</a:t>
            </a:r>
            <a:br>
              <a:rPr dirty="0"/>
            </a:br>
            <a:endParaRPr dirty="0"/>
          </a:p>
          <a:p>
            <a:pPr lvl="0"/>
            <a:r>
              <a:rPr dirty="0"/>
              <a:t>Ensure consistency in builds across development environments.</a:t>
            </a:r>
            <a:br>
              <a:rPr dirty="0"/>
            </a:br>
            <a:endParaRPr dirty="0"/>
          </a:p>
          <a:p>
            <a:pPr lvl="0"/>
            <a:r>
              <a:rPr dirty="0"/>
              <a:t>Enable Continuous Integration/Continuous Deployment (CI/CD).</a:t>
            </a:r>
          </a:p>
        </p:txBody>
      </p:sp>
      <p:sp>
        <p:nvSpPr>
          <p:cNvPr id="4" name="Text Placeholder 3"/>
          <p:cNvSpPr txBox="1">
            <a:spLocks/>
          </p:cNvSpPr>
          <p:nvPr/>
        </p:nvSpPr>
        <p:spPr>
          <a:xfrm>
            <a:off x="904715" y="992854"/>
            <a:ext cx="5688109" cy="6294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Why Are Build Tools Important?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962" y="275355"/>
            <a:ext cx="5644894" cy="1162051"/>
          </a:xfrm>
        </p:spPr>
        <p:txBody>
          <a:bodyPr>
            <a:normAutofit/>
          </a:bodyPr>
          <a:lstStyle/>
          <a:p>
            <a:r>
              <a:rPr sz="4000" dirty="0"/>
              <a:t>Essential Build Tasks</a:t>
            </a:r>
          </a:p>
        </p:txBody>
      </p:sp>
      <p:pic>
        <p:nvPicPr>
          <p:cNvPr id="3" name="Picture 1" descr="data:image/png;base64,iVBORw0KGgoAAAANSUhEUgAAAscAAADaCAYAAABKIe9CAAAAAXNSR0IArs4c6QAAIABJREFUeJzt3X1QXPd5L/Avr0ISettgIclgISEBG0OkSMdS6KQRsdNdtSOSzUtjL5XrKLeWTWJyqddtMqUtYqbczJ1kXe5oUio1HcUzjrby1Pduiu+MdhvZcCctfjl+C5ZWgJCQwCAsspUEst6AvX+clz37wu4Cy57d5fuZYWzB4eyzyzm/85znPOd3Mnw+nw9ERERERIRMvQMgIiIiIkoWTI6JiIiIiGRMjomIiIiIZEyOiYiIiIhkTI6JiIiIiGRMjomIiIiIZNl6B0BEFI336j30/McNvcOgGC1fmYU9+w16h0FENC9Mjoko6d343X0M9d1G6efX6B0KRXH/7gzOvXWDyTERpSwmx0SUEvLX5qDsESbHye72xDQufsAqPxGlLvYcExERERHJmBwTEREREcmYHBMRERERyZgcExERERHJmBwTEREREcmYHBMRERERyZgcExERERHJmBwTEREREcmYHBMRRdSDdrOAJvd45MW8HWgyC2j3JCYqIiJaHHxCHhGlB48d5kZH0DerYXMchWlOTzLuQbv5EJyWE3DVV8UxwHG4m/bDLgZ+V7CdRqupII6vQ0REC8HKMRGlFUubCJdL+mqzdMNutWNuxdyNKBUWKTgAEJrhkONzOZoB+36YmzrgXcSXJCKi2DE5JqK0ZayxAhjE0JwyzwKYWsU4V41nYaiFzVYNiG6IzI6JiJIC2yqIKE2Nw/2yAxCaIchtFV53A6z2ErS5bDAqi3k70GRtQVGbiHqj3FIBAFHbKoLaJIRqzKfgbCguAeDAwNg43Pb9sBc1wzbcIq9X0xYS3DYSJj5Pu4BGp//fgS0bmveGoHUjzPqFZjhaa2GQPx9/N4gVL7ls2DCP90pElAqYHBNRWnE2CmoCaGkT4TJGXDxIFepdJ4CAJDIcOdEUmuFw1cIASMml2I2iOcbrHRoEUI3SQuUNtKDLdhquVn8fspTUd8PSJqLe6H9987CcwKqJulWT+Peg3dwCt3AUJkgJLmyn4ZKTZa+7AVargAHlpKDREab/eRxuewvEuPdfExElL7ZVEFFa0fYc13QKMJsb4I5zy4LXfRxOWNHWKifGAFBYNvfKsbcDdns3YDnsr+AKzbAFJKg9OGXvBiwn5MQYAKpQ32b1t2N4XoJdrIbNoamIowr1Lqky7DklJbjaxNdgaoZNAJydPer3xIHR8HEOD7InmoiWDFaOiShtGetPwza8H3Z7B4TW2jitdRxil5TQzqkorRBbYDW3qP8U1GquPFVcUQkCJtfwDmIYgKUmqHJbWAYBDgyMAZ5OBwArisPOytGDTicAHII5XDm8CFCSbWfjIZid2upzAUy2ZnRZW2A1u+cx8wcRUephckxEaawAxUUAnH0YA1AYbfFEUHp5477essjvL1prhNEGl8smtVuYBf/yhlq0umqlthGrALvQjFdba5Ef7/iJiJIE2yqIKI2NY2gY0RPHOZET7kS1GhhKUITA9gcAwFgfRLlXubA00owX8tR0McZrMB2Fq80KOA8FPtDEaIPL0QxBbEGnZ2K+74aIKOkxOSaitOV1S7M+WA5KlVplZohONemTbziLuBYpuRS7utXk0lhjldoj2jUJ61hflPXMVxUet1UDzuOa3mnpBjqlV9lgOgwLgud0Hoe7yQ6P3BohBMfr7UBTe1DCTUREbKsgovSina1Cmq5M9PfJGm1w2AZhVZephq1NShxnVwBT6wkMmA/Bau6T+nGNNrgcZWiyavp45zmVWywMpqNwQJpdwq58M6BNogr1rtMobdqPRrN/OjbBdgI2L6TWCAcC4wVgsZ2GF4AhZJo3qRe63hjmqX6WE2g1rlqMt0lElBQyfD6fT+8giIgiuXT2Fj78fzfx+9/eqHcoFMXtiWn8+qUhfKe5RO9QiIjmhW0VREREREQytlUQUVIZGxvDpUuXMDg4iEuXLuHSpUv4dDwf3/zKC3qHRjG6c+cuvv71r2Pz5s3q10MPPYSSkhIUFBREXwERkY6YHBNRwk1PT2N4eDgkCR4cHMSnn34asnyRYRdmZmZ0iJTmY3p6GkNDQxgaGsJvfvObgJ+tWLFCTZSVpHnz5s0oKSlBXl6eThETEfkxOSaiRXP37l01+dUmwVeuXMHU1FTY3ykoKEBJSYmaPG3evBm5U0UYPpuV4OhpvlasWIFf/vKXuHz5csDXlStXcOvWLZw/fx7nz58P+b0HHnhATZSVpHnz5s3YtGkTMjPZBUhEicHkmIgWbGJiAhcvXgxJgkdHRxHunt9ly5Zhy5YtaiKk/HfLli1hq4eXzt7CMG4m4q1QHGRkAOXl5SgvLw/52fj4eECyPDg4iMuXL2NkZATXrl3DtWvXIIqBk+Ll5OSgqKgobOK8du3aRL0tIloimBwTUcw++eSTgBYI5f+93vCPl1i/fn1IArx582Zs2LABGRkZCY6ekkFBQQEKCgqwe/fugO9PTU1heHhYTZovX76MwcFBXLlyBV6vV93Wgq1evTqgt1nb45yTk5Oot0VEaYTJMRGFUKp52kT44sWLuH37dsiyubm5qKioQHFxsZoAFxcXo7S0lD2kFLPs7Gy1nSbYp59+iosXL2JwcFDtVVeS6Js3b6Knpwc9PaEPNNm4cSM2b96MrVu3BlSeCwuT4kHiRJSkmBwTLVG3bt3CwMCAWqFTEuLh4eGw/cAbNmzA5z73uYAKsFIFJlpMK1asQGVlJSorKwO+7/P5MDY2plaYtf3NV69exejoKEZHR/Hmm28G/N7y5ctDtmPl/5ctW5bIt0ZESYjJMVGaGx4eVpNf7df169dDls3Ly8O2bduwefNmbNmyBcXFxWo1j0kDJZuMjAxs2LABGzZswBe+8IWQn/f394e0aVy+fBmTk5Oz3hRYWFiIkpIStdqsbQUioqWByTFRGrhz505AFVjbr3n//v2Q5devX489e/YEzArBy82UbrZv347t27eHfN/r9QbsJ8p/R0ZGMDY2hrGxMbz11lsBv5OXl6fuL8qXcgKZm5ubqLdERAnAx0cTpZCrV6/i8uXLav+lclAfHx8Pu3x5ebla/VJ6gbdt25ZyvcCXzt7C6ZeuYtny+U/nNj09hfv3p5CZmYHcXFbBg83MzODu3bvIzs5CdnbOAm6Y9CEzMyMlHx89NTUVUmVWrrRMTk6G/Z3MzExs2rQpIGFW/rt69eoEvwMiigcmx0RJ6OrVqxgYGMClS5dw8eJF9SvcAzI+85nPBFR/lf/ftGlT2swIMX3fh9u3puf1u7/+9a/xy1/+EmNjYwCkqvnPfvYzrFy5Mp4hpjyn04njx4+r//7KV76Cr33taygtLZ3zujIzM7BidXrNS63MmKEky8r/X716ddbfWbt2bUDCrHyl075JlI6YHBPpSJm6amBgQE2AL126FHZWiKKiImzZskXtCS4pKUFpaSmWL1+uQ+TJbWJiAl1dXTh27BhGR0cBSDcUPvPMM6itrdU5uuQ1MjKCkydP4rXXXlMrpbt378bTTz8NQRB0ji453blzR53ZRdvTf+XKFdy7dy/s7yxbtgwPPfQQtmzZon4pJ7Wcfo5If0yOiRbZ5OSkOvWUcqn28uXLGBoaCukHzszMRFFREbZu3YotW7agtLRUPXiyrzG6iYkJOBwOnDx5Uk3utm/fjrq6OibFczAxMYGTJ0/C4XAwSZ6nmZkZjIyMhNwIe+nSJdy4cSPs72RmZuLBBx8MSZpLSkqQn5+f4HdAtHQxOSaKk5s3b+LcuXO4cOECLl68qCbB4WaFyM3NVZ/ype1RDPdEMYouXFK8a9cuHD58mMncAjBJXhzXr19X5xDXziUeqUVj/fr1KC0tRWlpKbZt24bS0lJs3bqVs8gQLQImx0RzND09jcHBQfT396Ovrw99fX24cOFC2JviCgsLA57axSfExReT4sRgkpwYt2/fDnjypJI0zzb3eEZGBh588EE1aVa+SkpKkJ3NyaiI5ovJMVEEY2NjuHjxIgYGBnDhwgVcuHAh7Nyoa9euRVlZGSoqKtRWiNLSUlZ1FgmTYn1MTEygs7MTx44dU6ucZWVlqKurw4EDB3SOLr319/erT6pUxqTBwcFZl9+1axe2bt0a8GUwGBIYMVHqYnJMBGB8fDzgoKPcIBc8fVNWVhZKSkqwfft2lJWVqfOoFhQU6BT50sKkOHl0dHQEJMkbN25Ec3Mz/w4JpEw9p53RZmBgAENDQ2ErzWvWrFETZe09DRy/iAIxOaYlRekDvnLlinpzXH9/f9g5TDds2KD29ykHEqPRqEPUFC4pPnDgAA4fPoxNmzbpHN3SFpwks90iObz77rshU0F6vd6wy65evTqgLWPr1q3Yvn0752mmJYvJMaWdO3fuoL+/P+CmOGWmiHCUG12UioqSEKfagzLS0WyVYpvNxpsXkwyT5OR38+bNgGkjlakjZ3uIkMFgCEmat23bxjnCKe0xOaaU5vV60dvbi97eXvT19aG3txdXrlxB8GatzCuqvSlu8+bN2Lp1K5PgJOVwOHDs2DG2T6QYJsmpZ2JiAhcuXFDvrVDaM2abck47c4Y2ceZYSumCyTGljP7+frUf+Pz58+jr68Pvfve7gGVyc3Oxbds2lJWVYdu2bWoivHHjRp2iprl67bXXAh7ewaQ4NZ08eRLHjx9XT25qamrw/PPPsw0mhSj3YijjrpI4h3tSJyA9qGjbtm3Yvn27+t/i4mLOzEMph8kxJRWfz4ePP/5YnRlCGZSvXLkScoOJMkOEMktEWVkZSkpKkJmZqVP0tBCiKKKlpYVJcRoJNwUce8VT39WrV9XxWUmeL126hLt374Ysm5eXp/YwK0lzeXk5Vq1apUPkRLFhcky6uXPnDs6fP6/OF3zhwgX09vaGfeTqtm3b1InvlQF2w4YNOkRN8dbb24sXX3wR7777LgA+5jkdTUxM4NixY/iXf/kXAEB+fj7q6upgtVqZJKWJmZkZDA0NqYWNCxcuoL+/Hx9//HFImxsAFBQUBMz4U1ZWhs2bNyMrK0uH6IkCMTmmhPB6vTh37hzOnz+P3t5e9Pf3Y3h4OGS5Bx98UL0cp+1lo/QzMTEBu92O1157DYCUMNlsNibFaWxkZATHjx9X/+YbN27EM888wzmS09jdu3cxMDCA/v7+gKQ53JNDc3Jy1AKIkjBXVFTw0dmUcEyOKe6uXbuG8+fPw+PxqF/Bd0Pn5eWpSXB5ebn6X97QsTQcP348YAaKp59+GnV1dawiLhGiKOL48eN47733AEgPEnn++efZQrOEjI+Pq1cNlf9evnwZ09PTIcuuX78e5eXlKC8vR1lZGcrLy/Hggw/qEDUtFUyOaUHOnTun9p4ps0ZMTEwELJOfn4+KigoYjUY8/PDD6o1ytPQE9xWz/3Rp6+zsxE9/+lN1ZosDBw7AZrPxJGmJun//PgYGBtDX1xeQNAcfUwDpuKIUVZSkeevWrcjJydEhcko3TI4pZv39/fjwww/xwQcf4Ny5c7hy5UrIMqtWrcJnP/tZlJeX4+GHH0Z5eTmKiop0iJaSycTEBFpaWtDZ2QkA2L59O2w2GyuFBAA4duyYetNefn4+nnnmGVitVr3DoiQxOjqK3t5enD9/Xv0KNzdzdnY2KioqUFlZiaqqKlRVVfHEm+aFyTGFdefOHXz00Uf48MMP8dvf/hbvv/9+yPQ9FRUVAf1hpaWlfAwphdDOV5yfn4/Dhw+jrq5O77AoyYyMjMBut6OrqwuAND9yc3MzkxsKy+v1wuPxBCTNIyMjIcutW7dOTZSrqqpQWVnJ9j2KiskxYWZmBhcuXMDZs2fx0Ucf4ezZs7h48SJmZmYAACtXrlT7vCoqKlBRUYEtW7bwrmKKaGRkBC0tLeosFPv27cORI0d4yZwiCm61OHz4MA4fPqxzVJQKJicn1Zu+lf8ODg6qxzIAyMjIQHFxsXpMU/7Lwg5pMTleYm7fvq32cymzRvT39wdMn1ZVVYUdO3agsrISZWVleOihh3SMmFJRR0cH7HY7JicnsWHDBrzwwguoqanROyxKEcFTv5WVleGnP/0pq8g0Z3fv3kV/f79aXe7t7YXH4wlZTpk3X2nL+OxnP8vpQpcwJsdp7uzZszh37pxaFR4cHAz4+caNG7Fz507s2LEDDz/8MIxGo06RUjoI7i3mDVa0EKIo4siRI7h69Sqn+qO4uXv3LjweDz766CP09PSgp6cHn3zySchyBQUFqKysDPhiS8bSwOQ4zXg8Hrz99tt4++238f7774c8UKOsrAw7d+7Erl27sHPnTl5Korjp7e3FCy+8gNHRUeTn5+PIkSOsFtOCBc+HfeDAARw5ckTnqCjdXLt2DR9++CHOnTuHDz/8EB6PJ+wDqSorK7Fnzx488sgjeOSRR3SIlBKByXGKu3r1Krq7u/HWW29BFMWQidU3bdqk7sh79+7F2rVrdYqU0pm2jWL79u2w2+28BE5xpd3GysrKcOzYMV6RoEUzPT2N/v7+gOpy8AxNy5Ytw44dO7Bnzx7s2bMHFRUVyMzM1CliiicmxylmYmICb731llodDn7K3Jo1a/DII4+oOyunUaPF1tHRgZaWFgCs6tHi6u3thc1mw9WrV5kgU8Jdv34d77zzDt566y288847+PjjjwN+vmrVKuzevRt79+7FI488wvn8UxiT4xQwPj6OM2fO4MyZM3j//fcDnlOfm5uLnTt3Ys+ePdi7dy8qKiqQkZGhY7S0lGgT4+bmZvaD0qKbmJjA4cOH0d/fzwSZdHX16lW8+eabePvtt/HOO+/gv/7rvwJ+vmnTJjz66KN47LHHUFVVpVOUNB9MjpPU2NgYfv3rX+PMmTP47W9/q34/IyMDFRUV2Lt3L/bs2YOdO3ciNzdXx0hpqWJiTHphgkzJ6MKFC+pV3ffeey/g2QAPPPAAHn30UTz66KP4/Oc/z/aLJMfkOImMjIzg3//933HmzBmcO3dO/X5WVhYEQVDPQNk3THrr7OzECy+8AICJMemDCTIls6mpKbzzzjs4c+YMOjs7A+4HWrduHWpqavDYY49BEARkZ2frGCmFw+RYZ9PT03jjjTdw6tQpvP/+++r3s7OzsWfPHjz22GP48pe/jNWrV+sYJZHfxMQEamtrMTk5iaeffhrPPPOM3iHREqVNkJ944gn1hI0omczMzOCDDz7A66+/jtdffz1g2rh169bBYrHgm9/8JudVTiJMjnVy/fp1vPrqq3j11VfVHSU3Nxdf+MIX8Nhjj2Hfvn3Iz8/XOUqiUC+88AI6Ozuxa9cuHD9+XO9waIkbGRnBV7/6VQDAP/7jP0IQBJ0jIors7NmzeP3113HmzBn1pvrMzEx88YtfxLe//W3s3buX9w7pjMlxgvX29uLkyZNwu924f/8+AKlp/4//+I/x9a9/nQkxJTVRFPHss88iPz8fJ0+e5HRtlBSOHTuGf/qnf8LGjRvR0dGhdzhEMfvggw/wyiuv4PXXX8fU1BQAoKioCN/61rfwta99ja1COmFynCDXr1/Hj3/8Y5w5c0b93t69e/Htb38bX/rSl3iWSElvYmICdXV1GB0dxfPPP4+6ujq9QyJSWa1W9Pf3s9WHUpLX61WvJo+PjwMAVq5ciR/84Af4xje+wRwhwZgcJ8Brr72GF198ETdv3gQA7NixA3/5l3+J8vJynSMjit3Jkyfx4osvsp2CklJvby/+5E/+BADwxhtvsOJGKWlqagr/+q//ip///OfqTXyVlZX4u7/7Oz63IIE4l8giGh8fx3PPPYcjR47g5s2bKCkpQVtbG/75n/+ZiTGlHOXxvawYUzIqLy/Hvn37AEizqRClouzsbDzxxBP41a9+hT/7sz9DXl4ePvroI1gsFpw4cULv8JYMJseLxOPx4IknnsCbb76JgoIC/PVf/zVeeeUVfPGLX9Q7NKI56+3tRV9fH/Lz81FTU6N3OERhKdumciJHlKpWrlyJZ599Fh0dHfjWt76FrKws/OxnP8Ozzz6LiYkJvcNLe0yOF8Ebb7yBJ598EtevX8dXv/pVOJ1OWCwWTvpNKUu5yenAgQM6R0I0u9raWuTn5+Pdd9/FyMiI3uEQLdi6devwox/9CK+88gq2bNkCURTx5JNPYmxsTO/Q0hqztTi7cuUK/uZv/gYA8IMf/AB/+7d/i7y8PJ2jIlqYrq4uAODDPijpKdVjtlZQOtm8eTN+8YtfQBAEDA8P4y/+4i/0DimtMTmOs+effx537tzBd7/7Xfzpn/6p3uEQxcXo6CgAsFeekp6SHL/77rs6R0IUXytXrkRbWxuMRiPOnTuHtrY2vUNKW5ytYp6UieZj+fgyMjIgiuJih0QUF7t3745puaysLLz99tuLHA1RZIIgxDwOA+BYTClp79696jzI0TDnWDhWjufJYDDA5/MhIyMj4ldWVhbMZrPe4RLFLCcnBwAibteA9EhUIr2ZzWZkZWVFHYt9Ph8MBoPe4RLNy5o1awBEHpczMjKQm5vLe0PigMnxPDU0NCArKytixcLn82FmZgbf//73ExgZ0cJUVFREXSYnJwc7duxIQDREkX3/+9/HzMxM1LE4OzsbDQ0NCYyMKH4aGhqwbNmyiMv4fD7cv38fhw8fTlBU6YvJ8TzV1tZi7dq1EZdRqsZ8xC6lkueeew45OTmzJhs+nw9TU1Oor69PcGREoTZt2qRWjyNZs2YNbyillKXMxBLpJFCpGjPnWDgmxwsQqXrMqjGlKkEQIlaPlaqx0ndPpLdI1WOfz4esrCxWjSnlRcs5WDWOHybHCxCpesyqMaWy2arHrBpTMopWPV67di2rxpTyIuUcrBrHF5PjBQp3JseqMaW62arHrBpTsgpXPWbVmNJNuN5jVo3jj8nxAoU7k2PVmNJBcPWYVWNKZrNVj1k1pnQSrveYVeP4Y3IcBw0NDcjOzobP52PVmNJGcPWYVWNKdtrqMavGlK4aGhqQm5sLgFXjxcLkOA5qa2vVOQhZNaZ0oq0es2pMyS64esyqMaWj2tparFq1Cj6fj1XjRcLkOE6U3mNWjSmdKNXjjIwMVo0pJSjVY1aNKZ0pOQerxosjW+8AFuLS2VuYupccT7+uKPoyHt7cjdLSUtwaW43+sUm9QwIArFqXjQ0leXqHQQkycvEObt2I7RGjsbLWPo+fj/0c3/6jP0P/+/HdrlcbslG4mdtnqpu8PoXRS3f0DkO2Gpav1GNgYAAVRV+O+zY7X2sfyMEDRZEf4kCpZeqeD5fO3tLltSuKvozKkjexfft23XKOZcsz8VDFioS/biJk+GJ5KH2SOnFkEIaNy5CZnaF3KEnp9s0prDZkY/9TG/QOhRLk346N4O4dH/LyIz8QIRl8emMK6x7IgenJQr1DoQXqf38S//Fv4/hMEU90wpn03semLXnY960H9A6F4uimdwqO/3kZm8pW6h1Kwk3dncHtiSnU/fAhvUNZFCldOQaA3eb1WL4q+RMBPVw5N4mxi8lRNaHEMVavw8bS5D+bH/xoAr+78qneYVCcFBTnofprPBEP58J7N3Dnxj29w6BFkJefhd+zLL3t/sa1e3jzV1f1DmPRsOeYiIiIiEjG5JiIiIiISMbkmIiIiIhIxuSYiIiIiEjG5JiIiIiISMbkmIiIiIhIxuSYiIiIiEjG5JiIiIiISMbkONl47DCbG+D26h0IEVEK8XagySyg3aN3IER6GYe7SYC5vUfvQFJeyj8hL2beDjRZWyDK/7S0iag36hqRxGOHudGRPPFQWpt853/gm3/9vyMuw22RFoU81gWyos1lAzc3Sl89aDcfgjPouxxnk9uSSI497QIanVa0uUS0AlDOrtoPJsHGWVgGQecQaOnIf+Sv4HL9lfyvcbib9sNedAKu+qo4rD3e66N0pE0KPO0CGs0sDtASYNGMi94ONFkFmC0cK5NV2rdVeN0NcmKsrU4UwNSaJIOxoRatriSJhYgogYz1J2AB4OzkZWBaQgy1aHU0Q3AeQpN7XO9oKIw0rxz34JS9G4KtOfplu6C2CwjNcLTWwiCvp918CGg7ATQql0eqYXMchckgV8vkX/RXQKTfGbZYAafDv17tmaLmMmO0yonX3QCrvdv/DZ5x0qIJvgyobOvSv6QrMf6lBdtptJrg3w/EQzA7AcCKf3DZUJrI0CnFbESpAGB4EF5UwRDcehEwDktiHwuVsVmz/UZdf7hL4IHbP8diigtDNfYJgL2rG15TYK4RfuyNIaeYTYT8xtMuoHE4eD/gVcD0To49bjgBWIoLoiwnDZiC7TRcpgIoG4bV3BdQcXY2utHmElGv/I7VDtgA2ES4DPJG1tiAUs1AKg6XweESAzZ8s7IhGm1wtSFMH15QeGpbyFE5Fv96OlprkTvPj4cohDyIQt0X5GTAKmCgTUQ97Gh0BiYLClPraWCJD6g0V6MYEAFYSmBAD9obgTaXGDDOWdtL1O1JGgurYXOI8vYnjdXtHhH1hYFr9rpbYBe1Vw2jrV9OPoKOA3aUoFheZ6SxODiJJ4qsAMVFAJx9GANgiDb2yolIxJwi3MtEy29qrECjG6K31j+me7vRJVbDZlu643jat1VENw73yw5AaIbNpCTRBTDZmiHAgU7Nnc+C7Sl/BdpoggUOdOEpdYMyPt4MAd0YGNP8zr5qzQZbhfo2KyC6IcY6G4W3Ay87q2FzaNtC/OsZuzfX90s0O8+pFoiWE2g1+U8oDaZm2ATtpe/AbZxovjzth+BENWyPVwGoQr0rcJx73FYNON3wAPJYCFjatCdms7TIeeyw2hE6bkZav8cNJ6qxT/AfB4R91YA4iCH19Wcfi3/LGYZoAWIbe+eaU8SQ3xifgk3oRpfob+/wim6IggnCEj7bS+/KcUykyoVgqw486zKUoAjA8NA44nordWEZBDik5CKGDc8ruiGiG6JVgD3kp9VxDIyoB51OAFDaIoIUATDa0GZxoLFRgJOXk2kenI2C5rJx8P0g4doaSgAoY2E19gVViEP1oL3RAcCnDr7vAAAaOklEQVSK4pAxdvb1R8OxmBZPDGPvbCLmFLHkN9JJoL+9YxxiVzeEfc1L+kpIeifH8kwQygaQusJfxiZaFFGSXmO9CFe9dGnObOaURDQ3s24vSl+kZvuT+nu1C5WESXgDORuPw+Y4AYv1EBrbTUEzBERYv9EECw6hSxyHSb78LHZ1A0KzpoLGsZjiZRxDwwAsJhgBdAJRxt7Fu2nVIJgg2FtwylOL+sJudIlWHGxN5Zxp4dK7rUJueBftL2H2eeGlG0LErm4EXJXwDmIYQFG0fuU5UqofpVGrHxJDcQl4GZsSQ3tzVDTS5ew2C+BstEfYv4hiI42NVrSpyYGcnMqksTCw1S0cqe1CvtzsPKQ+FCTa+pVL1KJ9P8xmAWbzftjh7+XkWExx5e1GlwhYaqowt7E3aDURc4oY8xtDLQ5apPYNr+iGKCfsS1l6J8ea3ppGc+AB3NMuyFOoFMB00AqILTilLjAOt70FotCMxxe4hYgDo/5/eDtgt3cDlsOzVx4KyyBA0/9jtMkJSOBT8zztfIoexZu8v4gtsGqfsOTtQFNMT1xSbjBxM1mmOZOSz0EMyeOa192CgSKr/3vGp6T+y1jHQnXslMb+qOuX+zMtbSJcLvlLe5MTx2KKmx60y1cxpKsosY+9kXOK4DE49vzGWGMFnMdh7+qWE/alLb3bKgB5HuFquJv2o9GsnRXCClvbKLwo0MwaoemFCzOF0HwIw8dhNs9h2h9DLVrb+mBu3A/zgLSssV5EGwQ0anvdBCvaFhgbUQhDLVodQJM1sPfNYjsNLxA61RYCb1Ay1p+AxXlI3df+oPk0Xvi9pX15jmJktKHN4h/nBNtptNYDpcP7YT/VA1N9FUytIorbg8ZCSzNmm+9H3R6byuBojbb+jQCCe6IRcCzgWEzz5tSOqdKMKy5tghFt7JX/HS2nMNafhm14PxrNg1ILUKz5jdxW5EQzbEu9bAwgw+fz+fQOYr5OHBnEH3ynGMtXZekdShj+aYG0d58m0pVzkxi7OIn9T23Q5fUp8f7t2Ai2fn4tNpau0DuUqAY/msDvrnwK05Mx9hhR0up/fxK970+i+mvpNtbEZxy/8N4N3LlxD/u+9UAcYyO93fRO4f/8bBgHvhfbTZ0Ls9g5hXQfSde+2NZ/49o9vPmrq6j74UOLEIv+0rytgoiIKDae9qD+ebk3kyjteV6CXdROZbi0pX9bBRERUTTeDrzsdEB0BjZpcDYWSm/K9Ibah9sQk+NFU4V6lxh9MSIi0p+hFq2uWr2jIJrFYuUU0nrrF2HNqYxtFUREREREMibHREREREQyJsdERERERDImx0REREREMibHREREREQyJsdERERERDImx0REREREspSf5/hd1yfIzM7QOwwAwMzMDDIygIyM5DjnuH1zCqsNKf8npjnydP8XLvXcjNv6fD4ffD4fMjIykJERv33t0xtTWPdATtzWR/oaH7qD/3Re1TsMAIDPNwOfD8jMTI6xeNJ7H5u25OkdBi2CO5PTum33euYcU3dnEv6aiZTh8/l8egcxX4Nnb+H+/eQI/+bNm/jxj3+MtWvX4oc//KHe4ahWrc3GhhIOykvFyMU7uHVzKq7rdLlc6OzsxB/90R/h93//9+O67tWGHBQ+tCyu66TEm7w+hdHBO3qHofrJT34Cr9eLH/3oR1izZo3e4QAA1hbk4IEibuvpZOqeD5fO3dLltb1eL37yk59g/fr1+PM//3NdYli2PBMPla/Q5bUXW0qXFUseXql3CKpr125j8Fo3NmZvxPad+XqHQ0vUpq3xPxFy/8dVDF7rRu66vdy2Kaz8tdlJtW18cutDDF8bRnFFNgoLkycuSi/ZuRm6bffDw9cxeK0bGflbkmrfSxfJcc2JiIiIiCgJMDkmIiIiIpIxOSYiIiIikjE5JiIiIiKSMTkmIiIiIpIxOSYiIiIikjE5JiIiIiKSMTkmIiIiIpIxOSYiIiIikjE5JiIiIiKSMTkmIiIiIpIxOSYiIiIikjE5JiIiIiKSMTkmIiIiIpIxOSYiIiIikjE5JiIiIiKSMTkmIiIiIpIxOSYiIiIikjE5JiIiIiKSMTkmIiIiIpIxOSYiIiIikjE5JiIiIiKSMTkmIiIiIpIxOSYiIiIikjE5JiIiIiKSMTkmIiIiIpIxOSYiIiIikjE5JiIiIiKSMTkmIiIiIpIxOSYiIiIikjE5JiIiIiKSMTkmIiIiIpIxOSYiIiIikjE5JiIiIiKSMTkmIiIiIpJl+Hw+n95BpCJBEBDLR5eRkQEAEEVxsUMiiovdu3fHvOy77767iJEQRScIAgDEPB5zLKZUxJwjsVg5nqfly5cDkDbESF8AUFlZqWeoRHOSnZ0NIPK2DQA5OTl6hkkEwD++xjIWK+M2UarJy8sDEH07z87Oxo4dO3SONvUxOZ6ngwcPYtmyZRGXUc7ynnvuuUSERBQXa9asiWm5devWLXIkRNEp42u0qlpubi4OHjyYiJCI4u7JJ59EVlZWxGV8Ph+mpqZQX1+foKjSF5Pjeaqrq0NWVlbEATkjIwOVlZXqZT+iVNDQ0BBxEPb5fMjJycH3vve9BEZFFJ4gCKisrFSrw+H4fD5kZ2ejrq4ugZERxU9dXR1yc3Mj5hw5OTnYsWMHc444YHI8T6tWrYpYPWbVmFJVbW0t1q5dG3EQXrduHWpraxMYFdHsolWPlarxqlWrEhkWUdysWrUqYvWYVeP4YnK8AJGqx6waUypTqsfB2zarxpSMIlWPWTWmdBGpesyqcXwxOV6A2arHrBpTqlOqx+GwakzJaLbqMavGlC5mqx6zahx/TI4XKFz1mFVjSgcNDQ0BJ36sGlMyC1c9ZtWY0k246jGrxvHH5HiBlOpxbm4uAFaNKX3U1tYiPz8/YBBm1ZiSWXD1mFVjSjfB1WNWjRcHk+M4qKurQ3Z2Nnw+H6vGlFaU6jGrxpQKtNVjVo0pXWmrx6waLw4mx3GgVI+VMzlWjSldKNVjgFVjSg3K+Lts2TJWjSktaavHrBovjuxIP7x7ewb3784kKpaUZjnwBF499X9RUlKCim07MXl9Su+QUkLeyixk58w+P2mym5kGPp1I77/19w4/j7//+7/HM//tv6f9dr1ydTYyUrhkcP+uD3dvT+sdhq4qtu3Ers/9HgYHB2E58ETab7PRZOdkIm9lCm/UAG7dnIZvJvqjk5cSJecoLS1lzhFGzrJMLFs+/+0+wxdhMtOuV6+h770JZGWn9o5FyenenWk89nghtu/K1zuUeftk6C7+9X8NIW9lxPNMSgG3J6fwZFMJVhtS92/Z85sb+M/XxpGzLPKTtGhpmJ6aQdH2FfjD72zQO5QF+UXLIGZmfABSt5BCiTM9NYPy3avwpW88MO91RD0KVH3pM9guxPY4WaK56P7VmN4hxMW6wmUwfbdY7zBogV77h8t6hxAXWz63GrvN8z8oUPoY8kxi9MKk3mHExR98pxgrVqfuiSslTr94A/du3VvQOlgSJiIiIiKSMTkmIiIiIpIxOSYiIiIikjE5JiIiIiKSMTkmIiIiIpIxOSYiIiIikjE5JiIiIiKSMTkmIiIiIpIxOSYiIiIikjE5pjnztAswN3XAq3cgRERECTcOd5MAc3uP3oHQIonDsxjH4W7aD7uo+ZbQDEdrLQwLX3mKC/PZAIDlBFz1VbpERHroQbv5EJxB3xVsp9FqKli0V/W6G2C1d0dcxtImot64aCGoPO0CGgM+ACvaXDbE+tLSewFsjqMwcWCJm4C/S7qM2x47zI2O8Nu2twNNp0rQGjz+yr8TqDrq9uZpF9A43AxHazXEpv2wI/Qz9LQ3YOjxoPV4O9BkbUGRNsY4x7a0hD/WLvYYmxjy8SMReUOYbS1Rx4hks+DKsad9P+yiFW0uES6XCFebFcK+6hQeYBfhjFBohkP5fBzNEJyH0OQej/nXve4GmM12eOIXEenBckLaBlwiXK4TKLLvX9TKg8F0VPN6p2ETgmNYyKAX+37idTeg0VkNm0OzD1hMMSfGAGAoLgn6Tg/azcKc9iPS8HagySzg5dLT/u3hYB+siboi5LHDbG6AO8GXnzynWiA6j8/6upY2/77haiuB3SqgfdaBtwedTsBysBYGFEDYVw2Iboje4GW60SUGbqde0Q0RVtRodoL4xrZEBR1rYd+fOlc5Z90nNqJUSMDrezvQ1OiAYDutOWYEbqNLyQKT40F0OgHB9pT/QGe0pcGZ2iIyVGOfAIgDo3pHQrqqQo0FgNOd5ic94xC7ugHLYX+Vy1AbWh2LxmiDy8VKWXz0oN3aAgRX1Yw2uNKhcjyrHnQ6rbBYQpPVsIwmWAA4O8OfAHrdx+HUJLgGwQQB3RgY0yzkccMJQOzq1iRoyj6hPUGMb2wEwFALmy3cCUuqKYCpVVz0qrFywnZQHRMKYGqN/epeuolLz3G0RM/TLsBs9n9pz3bDVkXlqoa0nFKh6pD+axYCz67kZf3rD1yXtH7NzyNWujSXZpyHwqxvXBODML/Kh+cl2EXAUlPl/2xCzmz9VTn/pXEHGmf9/CK/v+DPP6DaFvz5hTvL9tgD3vPLw2HeVqTXoNkJZShELPuBVClt9wRtgwuuPEvrnW2bDv93jbafhDE8OGv1Juw+oKmi+LdxJTZ/m4po3x9mu438npY6Jak7GLGIEXncjTruBIwZQX8f9dJtN+zWGMakOF0187qPw2kxob7GGpSsRiaUbgzzXSnBDSgMyYUPbcLq6XQAQjUEbYLm7UaXGLje+MZGCumKUzcGxqLkEcHba5hxNXCbb0FXyM8ijd+B3wvZtmfdJzRjWUBMkXMRT7s/f5jbfjSIoUgbX8R9c5bP+C17SN6ixqj5/YhjinI8cPv/Tj/9z5Go72YhFthzXILHbdVw2g/B7AzXQ6gcRDU/89hhbhQwPNdeIGcLumyn4WrV/I68QQm203DJ6/K6G2Bt74Grvkrup7OizXVUjks6qJqHZ+utK4Cp9TTQtB/2ouD+HvmALDTD4ZJ+1+tugNUqYCBaT47YAqu5Rfp/+bKP8trGGivQ6IborfVXxbzd6BKrYbNVwWA4CgcaYLWXhHy+0d9fmM8fPWg3t8AtHIVpLPjzk5a3mvvU5ZXk3N93JC3jb+2SXwP+z0Xqp9sP8wB7q2flsaPRCQg2qQUp1oOhs7FFak8wQP6cD6GpdJ59dXLfI4L3H2Wbhl1uhwit2M6+nwQrgOmgFfbGFljN7nn1SRpMyj6gfKcK9a4TgPlQ6DgS7T0t1TKIakKqWgomFMayeJhxN/q404P2RqDNJQb83NpeIm0rRhtcbYC5cTB0e9D0C7caNa9nDrPsnEjJrOXgUcAIWMRDOOWpjbg9eNoPwYlq2IQw+5Y8Ru+zaX8mt1bY3fDUV8GIcQwNA5aDzSjFfnSJ4zCZCoCxPogB641zbKTyDg0CqEapsrGH2Z5Dj3GheYK0zUutYdI22IN2czfEojkEEzFfmW2fKFDHOv8tGzHmIs5DsNtOw+XyH9sbm8pmva/AYDoMi/0Q7FYBXeHys1j3zZDPeBwQHLB39qDeKB8rvB142QlY2qQ8I7ZcrRt2e4lmXFlcC64cG0xH4Wqzwl/Z1JxJKFXSNltA20WbJfgyUwyEZtgC/ljjcL/sACwnAv6IBtNRaQD2duBlZzVsDm1CWYX6Nuu8LrNI1ZZq2Gz+DctgaoZNiOHSlrYPygbYtWdFxqdgEwIvpXlFN0TBBCHSgSCW9+d5CXYxzDKuozAZ5M8v4HMtgMnWDAEOdMrVylP2bgi205qBugDF2gHB85KUfGt3OOVyltONgcifzNKiVlkFeRAU55zUCrZmTXvCwlp0PKdaIIbsP8HbdNBl4vkw2qQ+Y7UqsniV3NjeE8UseNyNaVytQr0r8OePy+NB5MqVNCYFjjeAsf4ELIix3WA28jgltUBILU3htgdno79y1TjcDMcsrTyzjdFSa4U8fnq70SVaUWOUkmblmCdVkzW/G+fYSObtgN0e1NIVkkdIxzhYTmi2uaDtWU3ktJ/3XPuAo+Qrc3lbseYiQcd2qSe+D7MP51Wol+9NUa7I+a/ozGHfDPmM5dfW7P8BPfdzyNUCcslFFofZKiD3A9rUqk2jGWhz2VA4NAggtKG7sLQacEp/pJiqFwBQVBJ4tqNcmtoX/rKS9OF3Q7QKsIf8tDrWV1WNDXQDQnPQYCgnisOD8KIqtl49Qy1a2/pgbjyE9hoR9fLAae/qhtckVXvFrm4I+5ojri+W9+fpdACwojjsikYxIPorl/74SlAEYHhoHIA7anVCeg2g0Rx8NzUABN9EtcTJdxsrlYqBMSAuDZ5z2f5U0s1EwCGYg6fRAIAiyCeyDjQ2Cgu/U9pQi1ZXLZSKgN3aAMT9bvsY3hPNTdC4G/u4Gm6GlijjgTymi+J+mENXjoXck+TplBIT5VAkXbE7DnfQLBJS9VC54iYdo0I3USmhsrQdDf2ZfMLaNTQO75AbouUwWgHAdBgW+3GI3hIMOAPH3fjGtsRpr9ICAVdFAYTJIwYxDH+bo6qwDAIcGBiD9HeEFQcXkpVFyVfmIpZcZHZS24Rx1g1H6m82Qa7m2vejCafRKsxh3wz+jOGvSr/sfgqtJsgtSc3S1emYxxTNFYAEiE9yrFATPwc6PTY8HteVh1dUHKnylqTT3RSWQYCcgBoLpGqDvUW6lFYoVRsOtsZSUYz8/jyA2tO6uOY2LddSZzA1w9a1H/ZGO2r0/tyiJL3GehGueumAbDbHY1qfKtQ7mjFsbfFfZo43TpUYwSrpIOpcSHIVZVyViySi5u+gTMUXi/hMv6U5kMqVv3AnTeG3QekKWpe1BY3tptBtyeOGE1a0hd0PlGLHSzgFuVUCgFQR7sbLdgS2VMQ7tqUuyacjjJyvJBdj/WnYhvdLhTs5+428b0a6siNdPbJ2dcNb3CdfbdauJ8qYstCrl/MQ/4eAyIkfoDTDK5fo/aQznwUmbXKFc7ZLpf5G/IW8iF9habi7XqWesnBnShGN9UGEZkcx1OKgfCnNK7ohxjDNVSzvL3zMCumyUEh7i3wmXVRcIP8tY3iNaE38FMTfvvKybjcuypcFI9wo5ydVE9osgLMxDjdHyftu/M3lPS1dxhqpDW4+214s445yybRNTdzk2RmirlzaLuI9k4/nVIsUj2YKQ5dLjNzep7aGhU6t5ul0BN6IF/yrggmC6IBTDLxqaqyxQhS7A1oq4h0bzdFseYTcF15aqGzzCzzGRclX5iKuuUhEmhbKOOybBtNhWMQWWBsD959452rxEod5jrX9g+Nw21v8vSTGp6Q+mJcD71RuVOeGDJdAK+uIRuljC5oz2GOX/i33Njsbg+/ijNbvKG8QQf1xBtNhWNAN+yn/xu11t0g9vY/P5ey9B+2NUq/v40EDJ5zHYe/qDrnEE/YkI4b3p8ZsDb6j1A6PfKMUxBacCv7sldiUu68bA//GQ5rZKqRep9leg2YlnxCJ9ha4vQvZD+ZLTtDFFli1dwV7O9AU0wwY4feTcLzuhoA7lZWbifbJ1bPQwV7eRyIKd3K30Pe0RCj3fdj3h5klIsp+G8u4E5RMeN0tGCiyBnxPOfEO7COW+wxnG9NnETzbSWBPr9xqE6bgYKwJHv8CqeOnXXP8kvsj90W6EU4eN0NeU55+zf8cgDjHRvOg5BHaEw15/FF6lY2mMMdRqS1REX38jpKvALPsE6Hil4sECR4nlZvG91XDMM99M5A8fSmC9p9552qLa4FtFYPodHbD6dT0imjuoNTO/qDtAwq4NGu0wWEbhLVRkPvTqmFrkw5w0RhMR+EqtsPcqO2DscImH1eN9SLaIKBR28siWNEWZb3G+hOwOA+pfbTSpQT/HfL+y18xtm0E9UGFvexrNMGCQ3CiGbaQkVLT+wmol46ivz+pwb60aX9AT7BgOwGbF5q7xgV/b2DAZSmpYljcrn2NaggBDUb+v3FA37GlGQ4v2BQXgbKd2a12FLvmvx/Mm6EWrQ6gyRp4SddiOw0vAEPI05ICb5oIv58EJw1S1dAparaxoDYcg+ko2ga025gVbW1WOBsHIwTvv7ys7FvSuBLlPcX40aQ7Y70IV03w2Cnd8AkPEOnSVdRxx2hDm8X/c8F2Gq31QOnwfthP9cBUXyVXP92w2pXXl7cJdUzSxlUNS4RB21h/AhbzIc0Ya0Wbehf/cTgRpqcUkMdcB5ydPaivCbdmKSFwNraoM20oN+LZIm5IUmuFpTj4NatQY6nGkKDMVBDf2Gh+1NlwtNtzwDE63HE06DgYQx4TLV+ZdZ8IiXgBuUgEXtEN0dkdOG4G5Wpz3TeDGR9vhoCSkDjnm6stpgyfz+eb7Yddr17DsvxcbBfWJDKmJUrq6+zalw6Pu4xN96/GUL5zJbbvytc7lHn7ZOguzvzLJzB9t1jvUGiBXvuHy/j69x/EakN8b8VIpJ7f3MDolXvYbX5A71AoCQx5JjF6YRJ/+J0NeoeyIL9oGcRjf1qEFatTd9+kxOkXb+DerXv40jfmPw7Gv+eY5keedi3i5ToiIiIiWlQ8DdOdMuWRdgJsIiIiItIDk2PdVaHeJaJe7zCIiIiIiG0VREREREQKJsdERERERDImx0REREREMibHREREREQyJsdERERERDImx0REREREsqhTuX1y5TZmf4Ye0fxN/O4egJV6h7Fgdz+dRt87N/QOgxbo3p1pvUOIi+uf3OP2SACA62N39Q4hbi5+eBO5eVl6h0Ep4NrQbaz9zMK2lYjJcdG25cCF27h3696CXoQonE1b87B2fY7eYSzIilVZ2FK5kvtIGijbtQq5eal9Ma1g0zIUFt/j9kgAgBX5GSh8KPULEJ/9wmrcnpzGvVvpcQJLi2uNIQsPbluxoHVk+HysCxMRERERAew5JiIiIiJSMTkmIiIiIpIxOSYiIiIikjE5JiIiIiKSMTkmIiIiIpIxOSYiIiIikjE5JiIiIiKSMTkmIiIiIpL9f/MO8kIuah9gAAAAAElFTkSuQmCC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2195915"/>
            <a:ext cx="68072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sz="240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FDEEDC-7D8C-0E88-1514-4B3D9D87348D}"/>
              </a:ext>
            </a:extLst>
          </p:cNvPr>
          <p:cNvCxnSpPr>
            <a:cxnSpLocks/>
          </p:cNvCxnSpPr>
          <p:nvPr/>
        </p:nvCxnSpPr>
        <p:spPr>
          <a:xfrm>
            <a:off x="5267621" y="4213059"/>
            <a:ext cx="0" cy="420624"/>
          </a:xfrm>
          <a:prstGeom prst="straightConnector1">
            <a:avLst/>
          </a:prstGeom>
          <a:ln>
            <a:solidFill>
              <a:srgbClr val="4A4A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704CDB3-2B18-7032-66E1-F5DBF0DCF8CA}"/>
              </a:ext>
            </a:extLst>
          </p:cNvPr>
          <p:cNvSpPr txBox="1"/>
          <p:nvPr/>
        </p:nvSpPr>
        <p:spPr>
          <a:xfrm>
            <a:off x="4951010" y="4633683"/>
            <a:ext cx="633222" cy="276999"/>
          </a:xfrm>
          <a:prstGeom prst="rect">
            <a:avLst/>
          </a:prstGeom>
          <a:solidFill>
            <a:srgbClr val="ECECFF"/>
          </a:solidFill>
          <a:ln>
            <a:solidFill>
              <a:srgbClr val="CBBDF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/>
                </a:solidFill>
              </a:rPr>
              <a:t>Debug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01059"/>
            <a:ext cx="11177016" cy="4525963"/>
          </a:xfrm>
        </p:spPr>
        <p:txBody>
          <a:bodyPr>
            <a:normAutofit/>
          </a:bodyPr>
          <a:lstStyle/>
          <a:p>
            <a:pPr marL="457189" indent="-457189">
              <a:lnSpc>
                <a:spcPct val="150000"/>
              </a:lnSpc>
              <a:buAutoNum type="arabicPeriod"/>
            </a:pPr>
            <a:r>
              <a:rPr b="1" dirty="0"/>
              <a:t>Compiling</a:t>
            </a:r>
            <a:r>
              <a:rPr dirty="0"/>
              <a:t>: Converting source code into bytecode or machine code.</a:t>
            </a:r>
            <a:endParaRPr lang="en-GB" dirty="0"/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b="1" dirty="0"/>
              <a:t>Testing: </a:t>
            </a:r>
            <a:r>
              <a:rPr dirty="0"/>
              <a:t>Running automated tests to ensure quality.</a:t>
            </a:r>
            <a:endParaRPr lang="en-GB" dirty="0"/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GB" b="1" dirty="0"/>
              <a:t>Debugging: </a:t>
            </a:r>
            <a:r>
              <a:rPr lang="en-GB" dirty="0"/>
              <a:t>Manually fixing code bugs [not done </a:t>
            </a:r>
            <a:r>
              <a:rPr lang="en-GB"/>
              <a:t>by build tools]</a:t>
            </a:r>
            <a:endParaRPr lang="en-GB" dirty="0"/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b="1" dirty="0"/>
              <a:t>Packaging</a:t>
            </a:r>
            <a:r>
              <a:rPr dirty="0"/>
              <a:t>: Bundling code into distributable formats (e.g., JAR, WAR).</a:t>
            </a:r>
            <a:endParaRPr lang="en-GB" dirty="0"/>
          </a:p>
          <a:p>
            <a:pPr marL="457189" indent="-457189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b="1" dirty="0"/>
              <a:t>Dependency Management</a:t>
            </a:r>
            <a:r>
              <a:rPr dirty="0"/>
              <a:t>: Resolving and downloading required libraries.</a:t>
            </a:r>
          </a:p>
        </p:txBody>
      </p:sp>
      <p:sp>
        <p:nvSpPr>
          <p:cNvPr id="4" name="Text Placeholder 3"/>
          <p:cNvSpPr txBox="1">
            <a:spLocks/>
          </p:cNvSpPr>
          <p:nvPr/>
        </p:nvSpPr>
        <p:spPr>
          <a:xfrm>
            <a:off x="609600" y="371284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000" dirty="0"/>
              <a:t>Build Tasks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B3A9F-59CE-C864-9270-96AF14382B26}"/>
              </a:ext>
            </a:extLst>
          </p:cNvPr>
          <p:cNvSpPr txBox="1"/>
          <p:nvPr/>
        </p:nvSpPr>
        <p:spPr>
          <a:xfrm>
            <a:off x="0" y="6390115"/>
            <a:ext cx="7702617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Dependency</a:t>
            </a:r>
            <a:r>
              <a:rPr lang="en-GB" dirty="0"/>
              <a:t>: A software changes with or requires another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7245"/>
            <a:ext cx="10972800" cy="4520185"/>
          </a:xfrm>
        </p:spPr>
        <p:txBody>
          <a:bodyPr>
            <a:normAutofit fontScale="92500" lnSpcReduction="20000"/>
          </a:bodyPr>
          <a:lstStyle/>
          <a:p>
            <a:pPr marL="457189" indent="-457189">
              <a:buAutoNum type="arabicPeriod"/>
            </a:pPr>
            <a:r>
              <a:rPr b="1" dirty="0"/>
              <a:t>Command Line</a:t>
            </a:r>
            <a:r>
              <a:rPr dirty="0"/>
              <a:t>: Basic manual builds using compilers (e.g., </a:t>
            </a:r>
            <a:r>
              <a:rPr dirty="0" err="1">
                <a:latin typeface="Courier"/>
              </a:rPr>
              <a:t>javac</a:t>
            </a:r>
            <a:r>
              <a:rPr dirty="0"/>
              <a:t>).</a:t>
            </a:r>
            <a:br>
              <a:rPr dirty="0"/>
            </a:br>
            <a:endParaRPr dirty="0"/>
          </a:p>
          <a:p>
            <a:pPr marL="457189" indent="-457189">
              <a:buAutoNum type="arabicPeriod"/>
            </a:pPr>
            <a:r>
              <a:rPr lang="en-GB" b="1" dirty="0"/>
              <a:t>Batch Files</a:t>
            </a:r>
            <a:r>
              <a:rPr lang="en-GB" dirty="0"/>
              <a:t>: Automating command sequences.</a:t>
            </a:r>
            <a:br>
              <a:rPr lang="en-GB" dirty="0"/>
            </a:br>
            <a:endParaRPr lang="en-GB" dirty="0"/>
          </a:p>
          <a:p>
            <a:pPr marL="457189" indent="-457189">
              <a:buAutoNum type="arabicPeriod"/>
            </a:pPr>
            <a:r>
              <a:rPr b="1" dirty="0" err="1"/>
              <a:t>Makefiles</a:t>
            </a:r>
            <a:r>
              <a:rPr dirty="0"/>
              <a:t>: Using </a:t>
            </a:r>
            <a:r>
              <a:rPr dirty="0">
                <a:latin typeface="Courier"/>
              </a:rPr>
              <a:t>make</a:t>
            </a:r>
            <a:r>
              <a:rPr dirty="0"/>
              <a:t> for build automation</a:t>
            </a:r>
            <a:r>
              <a:rPr lang="en-GB" dirty="0"/>
              <a:t> (allowing dependencies)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marL="457189" indent="-457189">
              <a:buAutoNum type="arabicPeriod"/>
            </a:pPr>
            <a:r>
              <a:rPr b="1" dirty="0" err="1"/>
              <a:t>Ant: XML-based build tool with task and dependency support.</a:t>
            </a:r>
            <a:br>
              <a:rPr dirty="0"/>
            </a:br>
            <a:endParaRPr dirty="0"/>
          </a:p>
          <a:p>
            <a:pPr marL="457189" indent="-457189">
              <a:buAutoNum type="arabicPeriod"/>
            </a:pPr>
            <a:r>
              <a:rPr b="1" dirty="0" err="1"/>
              <a:t>Rake: Ruby-based build tool using a Rakefile to define tasks.</a:t>
            </a:r>
            <a:br>
              <a:rPr dirty="0"/>
            </a:br>
            <a:endParaRPr dirty="0"/>
          </a:p>
          <a:p>
            <a:pPr marL="457189" indent="-457189">
              <a:buAutoNum type="arabicPeriod"/>
            </a:pPr>
            <a:r>
              <a:rPr b="1" dirty="0"/>
              <a:t>Gradle</a:t>
            </a:r>
            <a:r>
              <a:rPr dirty="0"/>
              <a:t>: Modern build tool for flexibility and performance.</a:t>
            </a:r>
            <a:br>
              <a:rPr dirty="0"/>
            </a:br>
            <a:endParaRPr dirty="0"/>
          </a:p>
          <a:p>
            <a:pPr marL="457189" indent="-457189">
              <a:buAutoNum type="arabicPeriod"/>
            </a:pPr>
            <a:r>
              <a:rPr b="1" dirty="0"/>
              <a:t>Maven</a:t>
            </a:r>
            <a:r>
              <a:rPr dirty="0"/>
              <a:t>: Popular dependency and project management tool.</a:t>
            </a:r>
          </a:p>
        </p:txBody>
      </p:sp>
      <p:sp>
        <p:nvSpPr>
          <p:cNvPr id="4" name="Text Placeholder 3"/>
          <p:cNvSpPr txBox="1">
            <a:spLocks/>
          </p:cNvSpPr>
          <p:nvPr/>
        </p:nvSpPr>
        <p:spPr>
          <a:xfrm>
            <a:off x="538036" y="508782"/>
            <a:ext cx="5557964" cy="8170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000" dirty="0"/>
              <a:t>Types of Build Tools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250" y="0"/>
            <a:ext cx="6010654" cy="1162051"/>
          </a:xfrm>
        </p:spPr>
        <p:txBody>
          <a:bodyPr>
            <a:normAutofit/>
          </a:bodyPr>
          <a:lstStyle/>
          <a:p>
            <a:r>
              <a:rPr sz="4400" dirty="0"/>
              <a:t>Build</a:t>
            </a:r>
            <a:r>
              <a:rPr lang="en-GB" sz="4400" dirty="0"/>
              <a:t> Tool Categories</a:t>
            </a:r>
            <a:endParaRPr sz="3600" dirty="0"/>
          </a:p>
        </p:txBody>
      </p:sp>
      <p:pic>
        <p:nvPicPr>
          <p:cNvPr id="3" name="Picture 1" descr="data:image/png;base64,iVBORw0KGgoAAAANSUhEUgAAAukAAAGbCAYAAAB5xg5cAAAAAXNSR0IArs4c6QAAIABJREFUeJzs3X1c2/d97/2XuDPGxgY7TsAkBDt1a+LGN9nSis4JpE5H63aGNl0Na9y4O83M2cmaXPZ2DvJ57HjetVqcx7XkJFvWi5xki1unB9xrSSFd3LLFKzhuUZa2vmkd3CSNCQ5GtmODuTP3uv74SUgCDJKQ+Eni/Xw8eCQIfaUPJMZvffX5fn4Wl8vlQkREREREokaC2QWIiIiIiIg/hXQRERERkSijkC4iIiIiEmUU0kVEREREooxCuoiIiIhIlFFIFxERERGJMgrpIiIiIiJRRiFdRERERCTKKKSLiIiIiESZJLMLEBGJT6eAnwJXgT6TawmXZUA28AUgw+RaRETim8XlcrnMLkJEJL68AjSbXUQEpQAVGIFdREQiQe0uIiJh9QHxHdABhoAfmF2EiEhcU0gXEQmrd80uYI6cB66bXYSISNxSSBcRCavLZhcwhzrNLkBEJG4ppIuIhNWQ2QXMIe2ki4hEikK6iIiIiEiU0QhGkajwNsaovl6zC3FLA5YCq4GFJtciIiIy/yiki5iqAzgMXDS7kBtIB74ErDW7EBERkXlF7S4iphkB/g/RG9ABeoAa4JrZhYiIiMwrCukipjkNfGh2EQEYAl43uwgREZF5RSFdxDSXzC4gCFfNLkBERGReUUgXMU0shXTNwxYREZlLCukipkk0u4AgjJhdgIiIyLyikC4iYjJn7UtYLM04zC5ERESihkK6iIiIiEiU0Zx0ERGTZZU9iKvM7CpERCSaaCddRMQ07VRZqrBYqrBYXqLW6f2Ko8pzu/FRWts74WsT22Pcj1XV7r5Ts996S+lbOPFntNn43MezVkRETKeQLiJimhwqXZW4mgv9b3Y0U8AOXK5K46O5kPryZ6hyp3Lrzm2U0ESjT0p31jqwUUhzZQ7QTlUBNHvWu3Zgr3+FbJ8Q7qiqIrscajo893mUGseh8ecQERFzKaSLiEQbawGuyhyfz++ipgRsje6QnZVLme/n9NJY+w7Yc7ECRvgvcP+78fnOmjVgazN2351vUWUDe/ODlGV57rOYsrpKKr2LRETEROpJFxGJRo5mLAVN/reNB+jFlFUWUl7goHbng5TRRm39GmqqfYI97VRZDmHze4CVADgbW6hnDWV5EateRERmSTvpIiJRxln7EpaCJuzNPq0oJRPuZL2LmpJ3qG3sxXHwFertVu+uuPMtSi2HsNm9LTMdNWsmPMBK8rIQEZEopZAuIhJVPK0rO7ytJ842ausn3s/YTa8vf4YC2xpqdnp30Y2dck9/us9jumXlrYQJPe0iIhJdFNJFRKLKYvKsgOOaexpLL7UV17DafW9zs+ZiByjJp8hnV9wI4Rdodd/ZWdtAq7XQe5unx71g4kQZ/89FRMQ86kkXiRGOqioK/BuMKal5lLqyxcYnzrcozX4F74ZrIc0+hwedtS+RXe7dTcW+w/9wokQNa+UO7JZDZFteAdZQ0/EglSzFYXuFg447fQ53ug+E5t2JX+eKtYBmexUF2VWU4/7/pBLyHE2UH2ynrDKHsrpK8qq89wHAvo2Oufs2RURkGhaXy+UyuwiR+el7wK8DuqejqooCxzY66owwZgRusDcXU2ldPH7I0De0O2tfIrvViqsyxx3wjbBn9C33Ulv6DK2VgU7zuAnYE9J3Of8E/t91nKMZS8EFn/8+seIbwB1mFyEiEpe0ky4S9dpptEFJTe74bmlWUT4lvIKjtRisvdRWNYF9h3dXHfdVLGHacXsSDdz//Uq2+bWsiIjI/KaedJFY5z5UWJK3dOovu8ft5WncXpTxXG30GcqtO3DVTWhZERGReU0hXSTq5VBkh/ratvFDg+Nzrou8O+fWvMVTLwc0bi8aua826qrU2QAREZlEIV0kBlgr3Zd1t1RhsXgu5+5uX8laihXfq0/607g9ERGR2KOQLhIDnLUOvwvTuFy+/eWeS74forS217vI0Wx8rnF7IiIiMUcHR0Vihe0QFr8RjN5pLVllD+LKa8ZS8AyW8Xl6hdR0gOeQqMbtiYiIxA6NYBQxTQij+nxMHMsYWRrBGLjZ/XeNLRrBKCISKWp3EYkFjmaq/HrKe2lVj7mIiEjcUruLSNQz5mjb6pvw63bRFUNFRETilkK6SNQzesrLzC5DAtLdvZTBwdVmlzEnMjISSE42uwoRkfikkC4iEkZnzqynvf0LZpcxJwoLL7BihdlViIjEJ/Wki4iE1S1mFzCHlptdgIhI3NJOuohIGC1ZsoChoUDu6QLagYDu7JYE3AZYQqgs/JKTF5hdgohI3FJIF5EAaFJroNatC/SePwVeDfLRv0G0BHQREYkstbuISAC6gAGzi4gjPUBDkGvWo5nkIiLzh0K6iARgBHgOBfVwqcf4mQYqBZgfh1FFRMSgkC4iAbqAEdQHzS4kxr0NnAlyTTGQHoFaREQkWqknXcQkH3xwO93dWWaXEZCUlD4+8pFmjKD+j8B/AnRoMHjDwEtBrrkFKIhALSIiEs0U0kVMcv58Lu3tuWaXEZDFiy+7QzrAeRTUQ/Ua0B3kmi+jw6IiIvOP2l1ETBMbAX1qnqCu1pfAXQZeD3LNJ4FbI1CLiIhEO+2ki5jktttg6VKzqwD4APjNtPdISemb4lbtqAfnnwlulGUa8LkI1SIiItHO4nK5NABZZN47TvAzuz1uw5jfnRK+cuLOm8DLQa75CrApArWIiEgsULuLiACbgc+HuPY88E8Ed+XM+aQPOBLkmlwU0EVE5jeFdBFx24wx6i8U76OgfiOvEtx8+QSMw6IiIjKfKaSLiI8iYEuIaxXUJ3sfOBHkmkJgRQRqERGRWKKQLiITPIARFEOhoO41inFYNBhLgU9HoBYREYk1CukiMoXPAr8X4loFdUMT8GGQa76Ihm6JiAgopIvIDX2B2Qf14fCVE1OuAv8e5Jp1wMciUIuIiMQihXQRmcYXMC6oE4r3gYPMz6D+zxjtLoFKAkoiVIuIiMQiva8qIjModf/zjRDWvocR1HcCyWGrKLqdAs4Fueb3gfQI1CKxpptf088HDNONa16+wI1VFpJJZwE3k8ndWObN7zuJJF3MSEQC9M/AL0Jcu5r5EdQHgb8FeoNYcwvwTfTGppynlr6gX+BJtEliCbmUk8Iys0uRGKe/FUQkQA8CvxPiWs+OerzvDP4rwQV0gC+hX8XyIa8roMeJEbpx8iOzy5A4oL8ZRCRAFoygviHE9Z6gPhK2iqKLE/hZkGt+F+PqojLfdfOW2SVIGPXTxjDXzC5DYpxCuogEwQJ8hdkF9e8Sf0HdRfAz0VOBrRGoRWKPiyE6zS5CwmyIK2aXIDFOIV1EgpSAEdQ/HuL6d4i/oP4G0B7kms8DCyNQi8SaUa5jvNCTeDJCn9klSIxTSBeRECQA5cw+qAczpjBa9UHQ/ae5GK0uIiIiU1NIF5EQhSOof4/YD+r/QnBXV7UAX45QLSIiEi8U0kVkFjxBPT/E9S0YQX0sbBXNrfeBk0Gu2QysiEAtIiISTxTSRWSWEoCvMrugXkPsBfVRgj8suhj4TARqERGReKOQLiJhkIgR1NeEuP7XxF5QPwZ8GOSaEuL/gk4iIhIOCukiEiaJwNeYXVD/PrER1LuAo0Gu+Sih9++LiMh8o5AuImGUBPwxcEeI608BL4evnIj5AcEdeE0EvhihWkREJB4ppItIBDwMrA5x7S8wer2jdW70r4G3g1yzBciIQC0ic+9k1V7yS09x2exCphELNYrMRCFdRCIgGdgJ3B7i+l8AL4WvnLAZBuqDXHMTcF8EapH5qY3nLHvJr2qbcHsPR0qbJs8acjSRbznEEafn3/fynGNuKhWR2VFIF5EIScZofZlNUK8LXzlh8W9Ab5BrvozR7iISDrncYwds5/wDufM9jtQ38OaEAH6ysQFK1nNPFpCXwZa5KzQOGC+IHq3tMbsQmacU0kUkglIwgvptIa5/g+gJ6k7geJBrNhL6ixSRqW0sKgbauOD03na58TRHgScbfXfY23jTBlvKVhuT+bM28IzrAI9Y57RcEQmRQrqIRFgK8J+I/aAebJ98KvCFCNUi85p1Fbtp4UijZ4e3hzdrW9hSku+/w+44x5PAhrz08VYX33aXy7WHjL5tn6+Nt8b4mvD156dolzlZtdfnPj4tNc5TPDqpxaaN5yb2i0/RljP+EXJveRd1pdM8jrs273P5tgu18ZylmieBo+X2WdYhEhqFdBGZAwswgvrKENe/AfxL+MoJ2ptAe5BrioFFEahFxGh5OVr7njs0dtJen8/W6kJ24215udzaBhRzjxWwFtLSXDz5oeoPc1/jKlpcB2hxHaDG3sKebG9YvVx7iPyCBnY3H3Dfp5Stfg/Qw5HSvZTbiqlxP0ZLczFPFrjbRLJWs7Vkwg6/4xxP1h+mzie4e9ty2niuoIEtNbbxmlrqNoR2jd76NnKqPXVXsLv+MPeNB/EejlScZmuH5+s2nihpoHw8iOfyiKuC3eCtJdQ6REKkkC4ic2QB8AihB/WfYk5Qvw4cCXJNDvDJCNQiYthYVAz1p3nTiRF6S9ZzT5YR3o1AbOyuY1/FxmkfqZiaylz/xx1vpWmjrryFLTU2nxaZdFb6tss4fsmeetjdXOh9HmshNeMvItK5p8x3h7+HI1UNbCnJ9wnuE9pygKOtnSH/bMZ5evEByOWRju1soYHna3uAdLbW7WDr+NfT2Vrp8zMViQJJZhcQU4ZGoWsABkbMriS2JCXAkgWwOMXsSsR0qRhBvRq4GML6n2L82vpsOIuawavAQJBrvgxYIlCLiJt1FbtpoL3V2IXeUmZjBbBi53a2ZJ/j5M5OjtTDbp8AHrgW2luB1nM8ST5PFKXf8J5+u/U+cvLywdZFO7CxrJDd5dW86ShkY957HKkv5huuVWywNHFk5w62tp7jSYqpKUsH0nmkuZgnC6rJtxVT4yqc4UVGENy7+ntaO4F0jHcB7OzxG9iUH65nE5k1hfRA9A7Bj9+Fd66aXUlsW7IAtn0UbltqdiViqlTgT4D/TWhBvQljcsxczKl4H2PKTDAKgKwZ7yUyO8aueXljE7tt+WztcAfprNVsLbHzfEU+RynmG1FxSNRTaxv3cBhqbGwkHewtPN/Yw8rWBrBX+O3Et7gKuVx7iPsse8FeQUtILzam4+45L9nOMZe7jcXRRH7BxNGWIuZRu8tMRsbge79SQA+H7kF48VfQoXFWkoYR1EPt8HwNaAxfOVMawzgsGozFGL3oIpG3sagYbA3uVhfPrUZ7ydH6QFpdZpCXwRbPrvoNrMjLBSaPfmxvbYGSDHL8aq2m3FbMN8qMFxQbd26HcjvlNthdNDmEryjbYfTR26rDNNu9k/Z62JKX6T5Um88T1d4+85ONDeF4EpGwUUifyQknXL1udhXx5bVzZlcgUWG2Qb2B4EciBuM48GGQa/4Ao/deZA5YVxkHG316uQFWFK1nC1MH36B4Dn0W+E586eGCb2C23s0TJfBklc/kE0eTEbwrfQ5aumv1e+GQtYFv2IGS7ZTOYsffM1lmUpCv7/I77n2yqponcb9ImPgCxNHE8xRPeFGSSU6J7wFdkbmldpeZXAz2wiUyo/ZuGHNBgnp2ZTFGUP9/gVDerXrV/c/NYavI0IVx4aJgrAbWh7kOkenkco89n5yJPeNZq9laUux/wDMk6WytO8DKqr2UZ+9lDwD5bCmZeB8blNq5z3J4/NbdzRPnsedSWlNMzoQXDhuLitmS5/siwzv60MP/4GrgttRk8KZlL+WeG3xbW7I2sK/mNPcV7DWey91Sc5IGyqtOUVq3gRWks7V6O0eyD49/b5O/L5HIsbhcrmAG/84/3/sVtF0zu4r486f3wFLtOIpHD8Zh0lDbykqAcP7NeQh4K4j7JwK7gWVhrEHmi1H6eYenzS5DwiybL7CUu8wuQ2KY2l1mMjRqdgXxaWTM7AokqqQDFUBGiOvrgbA0rQK/IbiADlCEArqIiISTQrqIRIlwBPWfz7KGYeAHQa7JxAjpIiIi4aOedBFx+znGlT2vAv0m1xKql9wfc6kT+Ms5fs5gpGC88LkDY768rlcgIhILFNJFBCPYznYXWqLTEHDJ/fEb4JtoAo2ISPRTu4vIvPcuCujzxVXg380uQkREAqCQLjLvvWt2ATKn3ja7ABERCYBCusi8d8nsAmROdZpdgIiIBEAhXWTeGza7AJlTg8CI2UWIiMgMFNLj3hVqD92LZe+9WPa+OOUkaecp2w2/JiIiIiJzT9Ndwsh5ykb24eP+N+bvo2PHA2TNeN9dNB94aMI1E89QtfcERQHfPpmjqZRy9tFxwFuD8dxQY7NTlj7tchERERExgUJ62G32Cb9XqD1USvbeo5NuK2/ZRfMB+3jIdp6ykb33XuwVr1OZ676xpwMHz0LbQ1hzfZ6i7QQ2zlDTA9bpQnbPa1Q1gL3C/0VCVuY64Ey4vmEREZmFkSEYbLSZXYaEWe/HP2DpSrOrkFimdpeIWk5Z6T5KOE7te1eMm9p+RHnLZmps/rvgWRvsNBeDrdqn7aTTST1gO+cfqB3nngWO0zrT+a9OJ/VsJi9zwu25D+E6oF10EZFokECy2SVIBCSzxOwSJMYppEdaejZWoL7LCVyhtulZyN9C0RQB2bpqF/AsjW3G585OdzhvOOHTL36Gxgbj3xydV274tM5TNizVRpgvt3v70Y3+83ux7LVR2zN96d77uj+afF4s9LxGqe/X1NMuIhISi0J6XFJIl9lSu0uk9XTgAEoysgAnrS1AcfakHnUAMrMowR2+c5fT2nUcivdR07afRk/LS08HDnZRs/0M5adP4Nwwud8djJ15V+aLWKqf9W+h2WCnA6MnfTqOpnspaPBtyTlD1d4KLG376Nixica6/dQXV+MqXBfaz0VERABISoENv292Ff5G6ec9/jejXA9qXQ5fJJ21EapKZH7RTnpEXaG2bj/17KJyw/Kg17a2QUnGJorWbx5veXG+d5T64k2UZa6DFiet4S/a3cs+sSVnHZUVu6DlKI2eHfi2DpyReH4RETFVO/VBB/SlrFdAFwkj7aSHndFeUu75NN9/skrAek5Q2wLWwuVkZW6hxH4CR2EWraePYy+0Q2YHJRyldabDoyFwvneUeo5T7/t9jNuMp9e+1r5/wqFYkXnC+Ral2a9gba6kcqYRSyIx5ioO+oPcAkphGVlE2dsBIjFOIT3sNk8TWrPIy8e9A71ucnB3HxS1Zy4fP/RZlgmkb6Isv5TGU1k4WnZRuQMgG6vn8GhEAvJ03wfAA9QdeADaXsRiv5fyG4yalHjVS23pM5TXuz+178BVmWNqRdHGWfsS2eVQ0/EgZVP+wWinynIIm352EkUGuMglGoNclUAOX1JvvUiYqd1lTi2nrHAXtOznYNvEr3kOle5jZ67n0Og68tKNdUXrN2M7vJ/64k3uFhQj8E+c/BIOxojGAKbHgDEpxraPkpb9VJy68UFWiSOOZiyWZ2itrMTlMj468hxYqtrNrizGLCWvxOwaRLxcDNPOS4ArqHU382kWsCIyRYnMYwrpcy33c9TkTxi1iPuiQy1gLzR2o1u7jkN+Fnnur2et3kIJYF/lOai5nLxcwtIXboRy71QZch9yj4P0nwDjaJp5IozEOedblBY0YZ/Q5pFV9qB2g4O2mLK6Sv3cJGp08GOGuRbUmjTyWMY9EapIZH5Tu8ucW07Zjtcpcl+8yMv3iqPGoVFyfabApG+iLH+XEczd8jI2Q4NxeHRWbSa5D9Gx/QzZ1ffi2F5H3YblWAtfp5l7KfDrr99F891GfcYFmXweo7gaV9CHYyXWOA6+Qn3JNqpn7MOe0A7DGr+2D0dVFQXsoJlDFLiv4VJS8yh1ZYvdbSLvGDf6tII4a18iuzaf5rIWCiZ+3dGMpaDJ/UDb6Ki7c/zPhKOqavw5fJ/HYLSc0PwoeVXTte9M+H5K1jC7TXB3q4vvcznfojS7hbIOK63Z7q9NqpfxfvjxHy2FNLsKZrz6sMh0ujlDN78Oak0iC8mZ5Z8EEbkxhfQwytpgx7UhHPc1gnzZpNseCu75ch/CdeChSTdPtW6q26yFr+MqDLQ+iX/tNNoA+9IZXhS6A2jJNjpcRlh21r5EdnYVrb478LZDNDZX4nJ51jxDFduAYlyuB93B+xCleT4htf4VqsoeNb7uDs6ltduwtubiclWOB9jsqqXj4b2AHbhc7sDtaMZS8AxVef7vBNgKGqjpqMRVh/sxfJ938veDoxlL/TuzCMY5VLp2gMUbxg3vUJ69kmZXpdFwMLFe94sRe3Mlde4nd1RVUWC5ME3vu8j0humigx8FvW4lpSSSFoGKRATU7iIiYeasdWBjDTXV3t3srLJiakrA1ujTt16yjZ3jKTeHIjvYamGnJ5Bb76KmBOpbfd9+L6RyfFd5MUVla6gvv0aRZ9c7604q7YDjmtEGZi3w3xF3P6ZfHUBJTbE34GblUubzvMb3U0izz+48eUsjtn9ob/bZFbfmYgccrb1AL7VVTZTUPOr3AsNauQM771Db2BuhiiS+jfEBL+NiOKhVy7CyaLwhU0QiQTvpIhJWra3vQMk2ivx2dReTZ8Udnue4B9u3FcYjkC1wxzWcLKWx9h2wW01tJ6lvvQbOa9TWQ339M1gmz0ZV04GE5BJNDHIxqDULuIWbmfJtVhEJI4V0EQmQexqJO2jHQmeFp7/de9DV3VtudmGzMKlHXSREfbRy1W+EwcwsJHMrX0JvxItEnv6UiUiAjPYS6l/h4DR/r+flrYH6Fhr9xg710uoArDP1s4dTr3sXfIe3PcTZRm39tIsm8H0HwGRZS7Eysf1HJDSj9HOBuqDXZfM5ksmIQEUiMpFCuogEbLy3vKCKKr8Zos1YSt/CCWSVWbHzDuUHvX3fztoGyuvXULNzLltdJgbsXmorrmH17VkPgLWoEOpfIdt3DnzrNYLK+mGRQ2VzIdgOUVrr03/uaPb/XCQA7dQzyvWg1izl4yxh3cx3FJGwULuLiATBmO1dVPsS2QVVfpNJ7DU7aHVCVpZ3coll/A5rTJk+Yq3cgd1yiGzLK+M1VLIUh+0VDjru9DuAeeMHKcDVsZTSbJ/vJ+ARjO9Qnl01qb1m4pz5gFkLcDWDpcC3L30N9ua7Qngwma+u8ib9tAa1JpmlZPHZCFUkIlOxuFyu4C4tNt+8cBKc2qUKuz/5HVi+0OwqBIB/BN41uwiZU/832qOZnwa5zDn+CRgLYpWFPL5OKrdEqiwRmYLaXUREROYBF8O08zLBBXS4mfsV0EVMoJAuIiIyDzj5V4a4GtSaNPJYxicjVJGITEfvd86g+6ZERhakmF1G3FlqcZFodhEiIvNED7/hGqeDWpPIQnI0gV/ENArpM3irYAHdN+myx+H2e12jLDK7CBGReWCYa3TwL0GvW0kpiejvPxGzqN1lJktTza4gPi3SuxMiIpE3xgf8M2MMBbVqGZ9gEXkRqklEAqGd9BksSV5IYrz+mFwuuNQPgyOhrU+wwC2LITn413qJyWp2ERGJtEs0MciloNYs4BZu5v4IVSQigYrT9Bk+d7LC7BIixwLcNAY/OAvvBHeYaFxqF3z1LrhZzSsiItGkn1auMs3lgadgIZlb+RJ6o13EfPpTON8lJsCD+bAuxBcjAyNw6DR0aJa8iEi0GKWfduqCXpdFMclkRKAiEQmWQrqAxQJ/8FHYFOLlIIdG4Xun4fy18NYlIiIhuUA9o1wPas0S8lmKrl4rEi0U0sVgscBnPwK/uzK09cNjUPNraO0Kb10iIhKUq7xBH61BrUkinSy2RqgiEQmFxeVyucwuQqLMz85D0/uhrU2wwBfXwkeXh7cmiZhjxy5w6VKIL84kJn3pSyMkJOhIUjwa5CLneAEI5q92C3l8jVT0e0AkmmgnXSb71G1QfEdoa8dc8FILtHwY3pokgtLNLkDmnAJ6PHIxzAe8RHABHVZwrwK6SBRSSJep3Z1t9KmHqu4s/Dq4sV9iFoV0kXjg5McME9zZoIXcxnJ+L0IVichsqN1Fpvf2FXi5JdiNGa/iO4zAL2K6fwA+CGHdNwH9PyzRrYeztPODoNYkkMpq/oQkXf9ZJCppJ12m99Hl8Id3QqIltPUNv4U328Nbk0hIMkNcp8PQEt2G6aKDV4Net5I/UEAXiWIK6TKzO5ZB+cdDurIoAK+dC/0gqkjYhDr7uTOsVYiE1xgf8DJjDAW1KoO7WcxHIlSTiISDQroE5ral8NX1sCAxtPU/Ow8/fje8NYkEJdSddIV0iV6XOcYgF4Nas4CbuIUtEapIRMJFIV0Cl70YvrYBUkOcDHHCCa++DToGIaYIdSdd7S4Snfpp4wrNQa2xkEgOD2LRhB+RqKeQLsG5KQ0e3gCLU0Jbf/qSMflFQV3mnHbSJX6MMUA7dUGvu4UHSGFZBCoSkXBTSJfgLVsIX1sPSxeEtv7sFWOW+uhYeOsSmVaoF9hSSJfoc4FXGKUvqDWLuYMM7o5QRSISbgrpEpqlqcaO+vKFoa1/5yocPgPDo+GtS+SGkoHUENb1A8NhrkUkdJ38gl5+G9SaRBaxkm0RqkhEIkEhXUK3KMXoUc8KcYTX+9fg//waBkfCW5fIDWnCi8S2QS5zkdeCXpdDKQkhvUgVEbMopMvspCYZU19WhnjVygs9cOg0DCioy1zQrHSJXS5GaOdlILhWweX8HmnkRqYoEYkYhXSZvZRE+KOPw+1LQ1t/uR++ewr6gpvzKxI87aRL7LrIawxxNag1qaxkBfdGqCIRiSSFdAmP5ETYvg7WhDg14Mp1+M4puDYQ3rpE/GjCi8SmXt6lixNBrUkghVv5IhDiFaNFxFQK6RI+iQnwYD6sWxHa+muD8N3TcPV6eOsSGadZ6RJ7RujmAj8Mel02nyeJJRGoSETmgq5mIOFlscC2jxktMCecwa/vHTJ61P/oLliRFv76ZJ7TTnq8czHCMF2M0G92KWHjpIExBglmR3wxq0n0th4BAAAgAElEQVQkjX7aIlJTAskksYQkQhwcICIzsrhcuqqMRMi/vQc/vxDa2gWJUH6XcZVTkbDpA/4mhHXpwN4w1yLhNMYgl/hJ0C0hMjvJZJJDCalkm12KSNxRu4tEzmdWw70hThQYHIXvnYbz18Jbk8xziwjtDcQeQDP9o9kH/LMCugmG6eR9DjHEFbNLEYk7CukSWZtz4YFVoa0dHoOaX8Nvg5tmIDI9jWGMN728G7G2DpmZi1Eu8ROzyxCJOwrpEnn35MDWNaGtHXXB//cWvK1dGgkXHR6NNwN0mF3CvDfARbNLEIk7CukyNzbcAn/w0dDWuoCXWuDXl8JaksxXOjwab4ZRW5zZRuhhDI3QFQknhXSZOx+/2RjRGOrI3h++Db/UjpnMli5oFG9cOi8QBVy40BwKkXBSSJe59dHl8Id3QmKISb3ht/DT8+GtSeYZ9aSLiEj0U0iXuXfHMij/OCSF+L/fsfeN8Y4iIVFPuoiIRD+FdDHHbUvhjz5uXPQoFD+/AK++DRrzL0FTT7qIiEQ/hXQxT84S2LHeuHBRKE5fMvrUFdQlKEsI7VffNVDPrYiIzJFQruohEj43L4KvbYBDp2FgJPj1Zy7D0Ch8cS0k6jWnBMICLOVGO+Pvv7+E1talXL2aSnd3Cj09KXR3LwBgyZJrLFmykPR0C5mZFm6/PZFVq/T/nYiIhJ9CupjvpjR4eAN871fQOxT8+neuwuEzxoHU5BB35WWeWUZ/fy8//3kWb7yRxenTK3jrrWWcPbuc/v7kadaNAr1+t6Slwdq1idx5ZxIf/3gin/hEEp/8ZDJpaRH9BkREJM5ZXC71CkiUuDYAL/4KugdDW78y3TiQGmqfu8S1d94Zo7l5GIdjBIfjMqdPL2J0NDK74ImJsH59IlZrMgUFSVityaxZox33SLlAPd28ZXYZ894aHieRhWaXEVF9vMcQXYzSZ3YpEiUSSCaJJSxkJckhDyaYmkK6RJeeQWNHvTPEi2JkLYLyuyBVbxKJ4dIlF9/5zgDPPz/A22+PmVLDRz+awCOPpPK1r6Vy882hXihAbiR2Qnobz1mqOVVj45my9Ig+0+XaQ9xXnkuNq5CNEX0mr3gO6YNc4gKvMMhls0uRKHYzD7CMe8L2eEoyEj2uXoeOXlh3M/ziAvSH0KPe0QfVP4e7boneHXULsDgFMhfC7UvNriYujY7Cv/7rMM89N8APfzjESAj/K4XT22+P8Rd/0Y/N1s+2bSk88kgqn/lMMolR+r9oXHM0kV/QMOHGfJ7o2MHWLFMqmpERuFum/qK9gpbKXPd9iOrvI1aNMUI7P2CIq2aXIlHuEq+RwlIWE+IV1idQSJfo0NgKzR/43xbqhuP1EfiP9lmXNCduWwLbPgZLFphdSdz4t38b5n/+z+scPTpsdimTjIzAyy8P8fLLQ2zZkozNtpAtW6brgZdI2d18gEesxr+frNpLeXYTK4PYdZ77nerpX0isyMsF2uakkvmmhxYFdAnYhzSHLaSrSVLMd/ri5IA+X5zvNsZIyqydPTvKZz/bze//fndUBvSJjh4d5oEHuiksvMbZs7qsvZk2FhUDbVxwml3JLFgLaXGZu4veyzv008YglxmhFzCnvSzchvjQ7BIkhgxxJWyPpZ10Md98DegebdfgQo9x8FWCdvWqi/37+/n2twdMb2sJxbFjI9x1Vxf/5b+k8j/+RxrLlqlnfW71cKSqAUq2c49PwD1ZtZdym/fzLT595N72kxbKLUbrjO/O/KT2FHdLilcnR0rt7Km/0deD432+mdt2pvu+cJ7i0ezDHB3/anFQ7xR08Oqk2ywkk8hCklhIot9H2oTPvR8JRNc7i4NhDF0S/8YYZIwBEkid9WMppIu5xlzQed3sKsz3Yb9CepDGxuDb3x5g375+rl6N7fPvIyPw9NMDHDo0yF//dRr/+T+nkqD3OSPqyYK9POn+993NB2ix+nzR0UQ5FbS4csc/zy+w81yeEcRXlO3gGFO3uxghOJ8nOg64w3IPR0rtPOfwhvij5U1s7ThASx14DpM+mhf6YVJvPdPdy6hjD9s55trACnCHcjv5rRW0VGZypOIwR2f5gmEiF8OMMMwI3UGsSiCRVL8gPznkTw78ofdITs+CDo9IcFyE591RhXQxV+eALuIIcC3EsZPzlNM5xvbtPRw7FoNb59O4etXFo4/28f3vD3L4cDpZWUrqkTKxJz2/wGcX2lroH9qtd/NESQN7Gtt4xDpNgHWe4nkb7G723c1OZ2vdAb+7bakp9fl6Jjkl8GRrJzBdSG9hT/Ze9ox/HuRhV8cv2VNfTI0noANkbWBfzWmOlp/jZGWm+36dXCbXex9TjDFKP6P0B7UqgQXTBPmJH6lRuWsv4kshXcyld/YNY3qlEqj/+I9htm3r4eLF+P2ZHTs2wsaNXbzySjqf+IQOlkbaxkobTzjs7Kk4xT117hA71RQY61SrvS43nuYo+WzNC6GIGcPx7CbQnGw0vhdPe46/XCCdrdXbOZJ9mPssp2NySozRZjDIMF1BrEq4YYD3fIzQE7GaRaajkC4iMeO73x3kG9/oZTj6z4XO2sWLLjZv7ub55xfzta9pty+y0llpBWxdtAO4e7y9u+2eVpFA5LIyasPtDD3mWRt4xrXBeIGSvZc9Jds5VrfB5F31SBtjlD5dnEiikt5LFZGo53LBf//v/Tz88PwI6B7Dw/Dww7385V/2o8vORVIPFxxASQY59PBmbQvYK8bbYXC+x5H66dYbjDGIDbzpiGCpIcrJyyfgCTbWQlo6trOl/jD7a7WLLGIWhXQRiWpDQy4efLCHAwfm7wHjv/mb6zz4YA9DQ0rqkXC5to499bC7cgMrPLvqjk73tSV7OFLRxQa77203COTWu3miBJ4sOMQRnzB8ssr/87kwsb4VZaU8UdLCnuwmTo7fq4cjpb6fi0g0UbuLiEStDz8co7S0h5/+NL4OiIbiBz8Y4tOf7qauLp2bbtL+yjBd9NFKH+foJfhrDfhOdzH6vQ+M92BvrKxgt6Wa+yyH8fSCP0IGp2yHqXNsMHbYrYXU2Bso9zyOuzVka90BVlbtpdz3kKd9O8dm9+0Gz1rIsZo27ivYyyn3mMWtdTYotfv3pdu3c8wJZPX4j4UEYzRkiBNnRGT2LC6X3kQVE129Ds/+wuwqzPep26DwdrOriCoDAy4++9lumpoU0H3df38SR44sITV1fp26HqWfPlrpp5U+Whnmms9XXegUukgwjNGfp2pCH/0JU1151/1izxreUZ6xZg3fJJFFs34cbceISNQZG3Px5S/3KKBP4Sc/GeErX+lhLM4nArkYppd3ucRrnON53uFpLlBPF6cmBHSRKOJoIt+yl+cmnUvo4UjpXvKr2oJ4MPea0lPjbVYyjRv+7GOX2l1EJOr86Z/28eqr8+iEaJB++MNh/uzP+viHf1hsdilhNMZ12t0tLK1c5wLxcln5+WIJ63ExzBjXGeU6owwwynXGGDK7tBjlOR9hdh0xIi+DLUEvCs87CpGikC4xx3nKRgV/Tt2G5QHdLrHlqacGePZZXdxpJt/+9iBr1iTx+OOzv/S0WQa5OB7K+zmPC70wi2W38Gn3lT8nGnOHdm9wv/Hn3tv0/wNsrDxAi9lFxArPCNE4opAuMae16zj1bVtwbngA7zjiKzSePk597kOAQnqsevPNEf7iLzSvOFD/9b/28alPJcbMBY98D3v28z6jzN+JPfNLAoksCqFHd4wRd3Afu2GwH3BfndR7m4sYaJNznuLR7NNs7SikPbt6/BDzlvEdXZ+DvO5DyZPn9zN+0S2/2/xMPhDsf99O/6/bJ/eSn6zaS7nN+/mWcOw6O0/xaPZhjo7f4D/D/7L7ex03Xpdn53s7G8oPu39uxdQ0Q7n74mOe78/TL7/b3sCT4/X7XhTMeKwnAcrt5Jcz/rNeMUN9c0UhXWLMFVrbgJajNPY8wPjviZ4T1LYAdOBkHVF7LRG5oa6uMf7wD3sYiYG/X6PF8DB85Su9vPVWBmlp0XdwcvrDniIzSSCJRSSFcABvhB6f4N7vE+qNfx+Z8PkYZrx718Ke7FxqXO7dckcT+QV2nss7wCNW7zQez5SgFWU7OMYh7ito4h5XIRtp47mCBrbU2G4Q0D3jRW8cMI+WN7G14wAtdeAJrY/mTXihwHaOudwXtXKe4tFsO/mtszkY2sORisMcneIFAXheFPhOXDLqeM7hfXFxtPwwG5oP0OLzfbc0M/kqwTRA0QFaXJ6fxyHuy95Le/MBHrHm8oirAia1u0xf31xSSJcY46S1BeA4te9doczd2uJ87yj1AC1OWmE8pDua7sX3z2zJ9rrxdhjja7toPvCQz9W+z1C1twJbcTWuwnWBPQbVdGS8SPbh4+57THxMCURFRR/vv68e5GC9//4Yf/qnfRw8aH5/uoth+mhz75S3MqjjbmKSJNJJIpjdXtekQD/i/vdrnGaIqxGpc3ezT3i2rmI3cKq1B6xT176irJQnau2UV62ihmqeLNnOsRl3tY2LWG2cYvdqS03p+OhRyCSnBJ5s7QTSwfFLd8D3ueps1gb21ZzmaPk5TlbmkhPct+vP0cllcv2vaOs8xfM22N28w6eudLbWHfBf63uxsWkVc4/P/YyfXwt7Gtt4xDpDAJ+qvjmmkC6xpacDB5up2b6O8tMnxlteWruOU7J9H9bD+2lsewhrLtD2IgVU4zpghG3aXsRSXUpV5utU5oL17n2UNPjcH3CeehEbu2guXAdcofZQKeXso+OAu7Wm5zVK7aVYurwhnoYKKrbX4TpgH19TcCiLjh0PBL6j/x/tcKEHbl4Etywy/nlTGiRE3+5oJNTVDXH4sA6Xheo73xmktDSF0tKUOX5mHfaUeGEhkTQSSZv0lQGcEQvpUznqCclTSmdr9XaOZFdTzoQAPQVPqN+TvZcjgbapuMNpe6OxO+U3V3/cbHaYPd/DYe6znPZpP4HLjac5Sj5b86Z/hC15mSE/t/diZTcK4Deub65pBKPElk4n9awjb8Mm7C1HaewBOENjw2bKVm8iLx8cnVeM++Y+5A3SALmfoyYfbOfOGJ+nb6LM93N3XzvFm4xd8LYfUd6yi2bfsJ3+ANXbN0PDCe+B+/x9VI8fVl1O0frN4zv6ARseg9YuI6z/8G34xxPw//wMnv8lvPIbeKMdznVBX/wdpBocdPFnf6Y+9Nn65jf7GByM/FjGQS5xlf/gPIf5DU/yPi/yIce5zgcooItEnhFkARp4vrZnhnsbu9Atrgo2lNvJtwR79dtiox1n0scs+7OzNvCM6wAtzbnsyZ44ZjKXlWb3rE5b39zRTrqYazi4v9Qd556F/H3ksY6i4uNUvXeFsswT2PK30JG+nNZcqO9yMn54tO1FLNXP+j/I+AbAcsoKd1Fe/SK1d9sp4wS1LZupKV3nfS6gYO+E9QCsm+I2X2eY5h3LwIy54HK/8XHG59dDWrL/jnuM77rb7df54AOFu9k6f36M//W/BqisnGq6Rui8hz1b3Yc9+8P6+CJx5YZjADtpr4ctZaHuALs5T7HffXi0tPUQ95XXcaQokJ3eXB5x2cgptbOn4hT31M1cR05ePtO1yoSFtZCWjgwezT7M/trVPJOXCzTwpqOQjRHpGW3jTRtgzwysjWVifXM8plEhXebWtUFo74YP3B8Xg9lBdR8azc0mC8hatYv6phPU5j5Lyfo6Y7c7YzOcNg6PcspG9uHj2CuM9hZv+4qP3M9Rk/8ste9dIa9rP/XF1dT5/Rmcvr/clPG1/cPGrntrl/e2BAssXwi3LPYG91UZZlQXlPPnR7HbNeEjXL71rX7+6I9SyM1NDPkxRrnuDuTnYuewZ99NjA2a35M/7y0zu4AokLWarSWwp+AQOT5tEierqnmSfJ4omk3Icx9oLNnOPiussLpbWSpOcU/d9G0vofC2yjSx0u+Kor9kZZ3x+YpJodrdTmIzetaD3m233s0TJQ1T/PwOcWFnKG0n/i8yxv877PTs1rn78Gvf43JZ+H+Gs6WQLpEz5gJnL7T3eEN572z6jo1DoyXr3X/acjdhb6mgvGUzNTZj5zwrc5178ssmOH0ciqsZP5ztmQDj10rn2U0vpZ7N1Ni8O+R5GZsJy474XPDddfdISoAVad7gfssi49+To6fL7VvfGmBIrehh09sLBw4MUF0d+DQMz2FPzwSWQS5FsMLIGP7t7zHmnOndLYm00fuvkxgb00AjyGgvWVm1l/LsveOTWcIxwu9klZ099fk80eEJkz6901WZU04imTTKcLyPPZArn3onzPj1pdu3c8yJMaHBWsixmjbuK9g7PiFlY6WNJxx2yi1tN+jnnjwWEnsFLe5d6il/fvbtHAug4qkcqdjr81z5E2ry7T8/DMDuZhs5VTeuby5ZXC5XfF9bWubO9RFvGG/vNg5Cjobxf6+e1yi178c6vjPunq7Sts97SNPnPkXnfL92hdpDP6I191lsvvcHxie65E+83b3z3uK7m248Tt4O4/NJz49xUaXsw1BjsxPwn2kXMFfdKhmp/u0ytyyGpQvm6Mm9LlwY4447OhkYmPOnjmupqfDuuxnk5NxoNz3+DnsOn96mkB4FPn4/cRnS2/kBPZw1uwwJkmdOuhnzzdfwzRCuCzCZdtIldJf7vYH8g27ojHDa6nRSz2Z8W/qsq3ZRkrHJ52BnthGeO69QWViNfW8F2Xv3A5upsdmpJAtHw34Otj3g3WFnHTu3b4bMidNYllO2ow4Olfr3pRfvo6OHGx++j3ZdA8bH21e8ty1I9LbJ3LLYCPArFkFi5F45/N3fDSigR8DAAPz93w9SVeWdUjHIJZ+LCMXPlT2TWUoatzO8eAVDmaNYCL3NR2bPEpvHYkSilnbSJTBDo8bO+AfdRvtKezcMjppdVfyYy530QFmA5WmTd90XzX6rrLNzjNWru+jq0q+fSMjIgBPvfUBy5rm4OuyZSBqLyCON21lEHslE/7kLiX3aSY9N2kmX+NU14N9LfrnPCJIyf7iAD/uNj7cmTJfx9Ld7AvzytKBeZHznO0MK6BHU1QXPfuc8Dz/eMvOdo1gCC9yB/HbSyGMBN5ldkojEiBVlO2gpM7uK2VFIF4PvDvn5bmOCiMhU+oeNme3nfKbLJFqM9hjfsZBZiyFl6vaD2lozLsE9v/yo9g4efvxXZpcRFAtJpHEbaeSxiNtJJYvoe4tJRGRuKKTPR/3DPgc8e6AjzAc8Zf4ZdU/ycfb63750gf9YyFsWca4zmTfeGDGnznnk1BsreP/dJdz+kW6zS5lGAgvJYZG7fWUhOegaeyIiBoX0eOcCLvZ6d8nbe4xWFpG5cG3Q+PA5pPqdxpsZv9iURJCFH764hkf/6hdmF+InlazxnfI0bsNCHI4DEREJg+BDeteAcYCwezDoq0VKkBYkwpIFkLvU6AMORP+wfyC/0AMj+u8k0aPuV7M/TCOBOVqXZ3pIT+Gm8Z3yNG4ngbkf9ykiEouCC+k/Ow9N70eoFLmhhUlQ/BHIn3BoSrvkEmO6ridwqkMhba785vQyuq4uIGPZ3J0BSCKdReS5P1aTSNrMi0REZJLAQ/rbVxTQzXJ9BOrPwpL10Dds7I7H8i75TWmQkw45S2BxMnz/LbMrMl/+TcbVQS/2waW+uH2x1XhuEToIOHdcLgs/P5bNA6WtEXuOBFJ9dsrzSNG14UVEwiLwkP56IJeQlYhxAd85HXv5ZkEirEyHW5cY/8xZYtzmcfW6ebVFk2ULYbPPJZ2Hx4x3SS65Q/vFPmMMZoy3mP347cVmlzDvHP/xbWEN6cYEllvdfeWrSOUWYu8Xk4hI9As8pF+Lz529mBILfw/67pLnpBufS/CSE4wXNrcu8b/96nVvcPeE9+7YGWf447fVjz7XXv/xrbN8BAupZI+3sCzkVl3ZU+aVQeetjPRpRr8EbizPQmIYfk0GFtL7hnV1SZnMd5c8x71TvkB/eUfUsoXGx1qfvzCGRo3Rh77B/cP+qGuF6rqewPtdmuQx1y68n053VwpLMoYCXuM97LnKfdgzJYIVikS3wYsrGb2YY3YZEkPGbusnHHsZGsEYS8y+dHwEdsmHLS7aNqsFInOpK/RO3pREYwJQ7lL/20dd/rvuno8Bc2aUt3Yq6JmlvTWdJRuv3PDrOuwpcmMLySHwl7gihO13qEK6TG2OdsmHLaP89t70sD9urFndNouQfiOJFshebHz46h707rh7gvscnA04e1kh3SznzmaQ7xPSddhTJHAZt0Cq9pIkCAlhiksK6WIwq5c8I3VunifaTdwFj6QlC4yPj0wIZhd6jMB+ud/bPjMUvja3sx9GQUh/IQPXTguNj3dy/9PT3K1lOTuzhnk8s5tp7hZBi2hxpZLV2Efm/bM/D3Tu7DIWMarDniIhyMgyuwKZrxTS56MU9y75bTeYuDKHUknid1lpynNHk4XRcNXFlenGh6+uAf9d94u9xhVEQ3D2cuDz0R/7SSZPFU28PPwoBy1dfD2YJ30hA9fORM4evEJ+UAtnfszpdIUpXIdLT+snuQ29YyUiEksU0ueDzFTvDvmtS+Dm6JmwkYCFZSw0uwy5kYxU4+Ojy723DY36h3bPeMhR17QP1XV9YuieyZjPjncqP+lcxM7OJZwMZnf75Bhd4Z5E8vUuLD6B3/xd95k5ndP/txERkeijkB5vEi2Qne4N5LcugbQo2KWV+JGSaLwLc5vPeEgXcKXfu+vumfHeNzx+l66B2YTlAepOLqSoKIGNwSx7upvMaE3Oc6irSyFdRCTWKKTHukXJ3jCeswSyFhtBXWQuWTDOMdyUBneu8N5+fcTob7/Yy8Bzs3mxuIiKogQ4OzDe7jLlDrZvz/lGb1vKjO0ufi0sY3R1zaJUwLPzX5Th+Xxsch/8xLaZswNY8vsCrBHoCnz3fmBAIV1EJNYE+/6z3Ejbi1j23otl772UnrrxqLNZsQC3LIK7s2Hbx+BP74FvfhK+lA+fyDF2zxXQJZosTIJVGWC9lYGUwHvSDQkUPbUcl2s5LlcKzsevTB9iJ/p6F5aDMx98fewnmeN96xbLFSyW65wMslJ/i2hxLaKIYR63GI/5eCMUPbWclhdu9JwDnF2biqtzCY/d6DF3JtLV2Oe+/xUsQbTXDERPe7yIiAQo/CHdHVar2ibc3vMapX4B9gxVe1/EMekBJt5+hdpD92I59BrOWdRjfNio7QnlQWbQ8xql1c9ir3gd14HXqduwHOP7uBdL05nwPU9qEvzxJii+A9atgKXBhh4R8wS/mztG4+Pe4MxfLcflyuCFsFZl7NB3Nfb57LQP0BrSLxvDYz9JYS1jNP6VN0Q/ff91GrtgrXURvu8KeJ+zj/yDo5CRSOnUKR2AjKzQWoa0ky4iEnvCH9JzH6K5GGxNvqH6CrV1+6kvrnYHWKCnAwfP0jgxzLedwMYZWmcdpt3hvimLjgNGeHYdeIhWe/iDuuOX+6nP38fOXN9bs8jLD+/ziMSy1NTZvMszwP2ZA5wlkZ0tYTz4/EIyaxnjZF34tpo3ZiVA1yh1ftvc7uCflchjjyWSBZx1THhX4OQYXSSQNWXTvTvEr00N6YXK7H72IiJihoi0u1gLq7G37KfCvWvuPPW3lLfsorlwnfdOnU7qAds5/51mx7lngeO0ds6uBkdTKeXso2PHA3hHnK6j8oCdsrBOIrtCaxuQm43/KNXllO14HZfv9ywyj2VkzDYojuLswgi64Sgo1ny9y906Y2GnazmuIF6szP5nLyIicy1CPenr2Ll9M/WH/5batteoOHycku2fw+pzD2enO5w3nPBpbTlDY4Pxb47OWfR197xGVQPYCx9gxmsQ+LXDTGhP6XmN0r02anvcrSuTes7PULW3lPIWoKHC52s+95/0ePf6P9+ULT8i8Wf2QTGRrAzAORq+UYfT7l6H+JDOsSnaVlLJy8Ko/elRnHhaX3xsTCCDMZwzNMQ/fX+n0Wu/NnW8x30mCukiIrEnYgdHszb8OTX5xymvNlpBqjcs9/t6a9dxKN5HTb5Py0tPBw52UbN9M/WnT4TWgw443ztKPZvJy5zhfqdsWHx6yV0HqrE3VEzofz9Ouf0ERZ6WmYpd1B8udffcr6PyQB01+UD+PjrG+9HXUXmgGrvvk/W8Rql9P1bf5wIoziIvEn3yIlFmti0XL7SkGr3e1UabyOQwbByunJY7lG8sdV/p9ukhTnbB2p2Z/GT8cdyBOkRP3z/EWRIoqvCG8Md+spCiDE/tfVQ3jsHaFJ/ndNd+dsg9AcZ41yBjY0pY3jVQu4uISOyJ4HSX5RSt3wxAyfpNE3a0jRaRkoxNFK3fPN7y4nzvKPXFmyjLXActTlojVxxwhoOHj0NxNZXjveTrqKzYBS1HafQJzvaKh7zvAuRuwk7wO/3GC4ddFPk8V1Ex0OCkVRcClHkgKyvYXze+012Ws3PtKAct3jGGT9/fycGzvvdJxjHTNJenu8k8OEpG0SJ3u8gA92demfA4C4ObxT5JH/meaS3u2p8qwm8E49P3d45PfDHuk8pavxGM7h78jGSecmXwAotocXl/Fi73pJdAr6Ia/M9eRETMFrk56T1Gm4u9eBe2w39L7WqfXvCeE9S2gLVwOVmZWyixn8BRmEXr6ePYC+2Q2UEJR2ntAWukAmxPBw7AvmpCz3hmFiU8a/TET7MTX9/lBJbf+A4i4mft2sAnkzx9f2dALS1fz7/CxJz6dd8bJlwd9Ea3TfU4gZp6bR/5lunHRc78PU54jBkebzrB/OxFRCQ6RGh7xTvNpbLwc0bbyy99erM7nd52lPRNlOU/S+OpE9S2uHea07OxzuLwaFbmOsJx+DScslZvocRvmo27/754k1+vvki8ysvTbq5Z9LMXEYk9kfnN3fYjyls2U3P3OmA5ZYW7oKFifHa6cWh0HXnp4GmLsR3eT/14YDXGF06c/BIwd0uK/xjICdKzsTLFc/i+gA1mPxQAACAASURBVAin9Aeo3r4ZW7XnwGgFtuJqTX+ReUO7uebRz15EJPZEIKSfoar6WUq2/7m3vcUzO73amGTS2nUc8rPIc3/Z2GX2bT1ZTl4u0NYR4uFRT2/5frIPTZjXfuje8UOfO7dvhoYXfeamG7VT/FCYxzQaj33wMNTYPAdHNZ5R5pc1axJI0IbunEtIMH72IiISW8Lek+5oqsDGLponTHOx3r2Pkob9FDStpmbiXPH0TZTl7zKCuVtexmbjUKXnhpb9ZO/dP+HZdtF84KGp20VyH8J1YBNVeyv81+XvowZjJz9rg50ObGTb76Xc8/WI7m4fp9z3uSL+fCLRIzHRwl13JXLq1AyHOyWs7rorkcRETXcREYk1FpfLNfP1ovuG4e/emINy5hmfsYyVuTPfndQk+L/UwS6x6/HH+3j66fBd3VNm9thjqTz1VBiv0ioiInNC74HOmSvUTuyRd191VWS+KCpKNruEeUc/cxGR2BS5EYzir+1HlDc8Cw2+LTubqbG9HoH+d5HodN99SVgsEMD7dxImRUX6NS8iEov023uu5D6E68BDZlchYqplyxK4774kmppGzC5lXigsTCIjQ2+YiojEIv32FpE5tXNnqtklzBv6WYuIxC6FdBGZUw8+mEKS3sOLuKQk+PKXU8wuQ0REQqSQLiJzKj3dwuc/r/AYaZ//fAqLF2v0oohIrFJIF5E5t3PnArNLiHv6GYuIxDaFdBGZc1/4QrKughlBH/lIAl/4gkYviojEMv0tKSJzLinJwu7dC80uI27t2bOQpCS1uoiIxDKFdBExxcMPLyA7W0Ey3LKyLDz8sFpdRERiXUAzFkYtLlo3L450LTKDBEsCq8wuQiRMFi608M1vLsRm6ze7lLjy2GMLWbhQL35ERGKdxeWa+dp/Q/0DNKa1z0U9Mo2kgTE+nbrG7DJEwqanx8Wdd3bxwQdjZpcSF27OTODUzzPIWq2QLiIS6wJrd0nTAaSokKrh0hJf0tMt/P3fLzK7jLjx+OcX8d5LFi6eNrsSERGZrYB20kdx0UrnXNQj00gggVVkmF2GSNh99rPdNDQMm11GTPvEmmSe+PqS8c9vvgvuKIZE7bGIiMSkgEK6iEgknT07yoYNXQwNmV1JbEpOhIPfzCB3RaLf7WkrIP9LsHCZSYWJiEjINN1FREy3dm0i+/enmV1GzPrjB9ImBXSA/stw8gX48KwJRYmIyKxoJ11EosLYmIvPfKabf//3EbNLiSmbVifx1B8vISFh+sOi2b8Dq7eAZXKWFxGRKKSQLiJRw+kcY+PGLi5e1K+lQGQutnDwzzJYlh7Ym6KLs2HtFyF1aYQLExGRWVO7i4hEjaysBL73vXQsmiA4I4sF/mp7esABHaC3A07+E1z9bQQLExGRsFBIF5GosmVLMt/+tsYyzmT3tkXcfUfwo1tGBuCt70NrI6A3LEREopbaXUQkKlVVXdfVSG9gV3EaDxUunPXjLLkN1pZCii4oLSISdbSTLiJRqfIPF/LYp1LNLiPqfPW+hWEJ6ADd5+HEP8G1trA8nIiIhJF20kUk+nQC/whjgy6++v1eak9rgDrAtgdS+Ist6eFvU7HA7ffBbZ8K8+OKiEjIFNJFJLoMAS8AV703fe/kIF9/qZfhUbOKMldyMrzwwmK++tUFXGuDs3Uw3Bf+58lcDR/dBsnh2agXEZFZUEgXkejyEvD25Jt/9v4wf/DdHq5en1+/spYts/DDH6bzqU95D4kO9cI7r0Lne+F/vgVLjDGN6SvD/9giIhI4hXQRiR4/A5pu/OXWzlE++0I3v/lwbM5KMtPHPpbAj3+8hLy8qa9AdP6n8P7rhL39xZIAq7bAyt8N7+OKiEjgFNJFJDqcA2pnvlv3wBhf+l4vR387HPGSzLRlSzIvv7yYJUumP98fyfaX5R+DNZ+HpAXhf2wREZmeQrqImO8a8I/AYGB3Hx2Dv/y3fuxN1yNZlWn+239byLe+lUbi1Bvokwz1GkG9+3z4a0nNhPwvwaKbw//YIiJyYwrpImKuEeAgcDn4pa+9O8Tjr/Zz5mJ8nChdty6Rp55K44EHUoJf7ILWJvigOfx1JSTBHcVwy/rwP7aIiExNIV1EzFUPvBX68jEXfOfUIH/5ej/tHbHZq56Tk8Bf//X/397dBbd13nce/0Lim0hRNE3JfJFN03KkmE4kbhgmC7bySNtEq81oJmR2NhGpXWfc7FSj6UVntdPZIdh7gb3YeiZXrKez49a7ItSdtmK3asK67UhrtWQShS2lbORYsUyxFl8U0RJF8UUiKezFc0AcgCAJEDg8h8Dvk8EwODh48AdtSz88+D/PKeattwrZlubVKz772CwqdaL95YWDJqxvT/1CpyIikiKFdBFxz0+Bv8nAON+Gub3wB38wx+///hzT01vjj7Xych+/93s7+O3f3sGODG57OD8FH/4FPB7L3JgRxXvg899U+4uIiNMU0kXEHXeB/wmkO/ndDByN3r1yZYHf+Z0Zrl/3dgvMoUPb+f73SzhyxJlp6fAS3P47GPtp5sfeXmAWlO5+LfNji4iIoZAuIptvBvgjYDbNcV4C/iPgW/nQ/fthQqEn/PEfP+HatcU0Xygzmpry+O53C2lvL2T37gRFO+D+h6b9ZcmBi7ZWfxle+Q3Tsy4iIpmlkC4im+9PMDPp6dgFfA9Iok1kdPQZPT1P+NM/fcqPf7y5gf0rX8nj5MkCvv3tQmpr02w436C5z+Dmn8PsBhbnrqd4j9n9ZcfzmR9bRCSXKaSLyObqAwbTHGM78JvAntSfOj4e5oc/fEpf31Pef3+BycnM/hFYUeHj61/P5/jxAr7xjQKqqjZnxnw9SwvwcR/cu5H5sdX+IiKSeQrpIrJ5/h/wlxkYpwV4PQPjAIODSwwNLfLzny9x86b5+cknyTXKv/LKNurrt/P663nU12+noWE7X/6yt3s/Jq6bsP7MgS8Uqr8M+74GviT3dxcRkdUppIvI5hjHtLmku57zK8DX0y9nPQ8ehJmeDvPokbkB7Nrlo7TUx65dPsrLvTFDvhEz90z7y/yDzI+9sxpe+xYUlWV+bBGRXKKQLiLOm8MsFH2c5jgvAv+JhAtFJTWLT8yC0slfZH7svCI48E14/tXMjy0ikisU0kXEWc+A80C6l6wvBf4zSS0UleSNXoNP/g7CDlwH6sVmqDuCPlSJiGyAQrqIOOt94FqaY6SxUFTWNz1qLn705FHmx971ErzWCgU7Mz+2iEg2U0gXEed4cKGoJLYwB7/8gTPtL/klJqiX1WZ+bBGRbKWQLiLOuAe8S/oLRb8KfC39ciQ5qbS/hMPg2+KtLPklZpHri81QccDtakREohTSRSTz5oD/AaTbPqGFoq5wsv3Fy/b+a3MFVRERL3Dn8ncikr3CwJ+RfkAvBf4DCuguKK2Bf/U9KN/ndiWb6+6P4PGY21WIiBgK6SKSWX9P+ju55AEn0U4uLsrfAV84CS/bdmfJhe9dH33qdgUiIoZCuohkzi+AH2dgnBa0k4tHvPRrcLDd9G7nwpca8w/drkBExFBIF5HMuEdmdnL5KqAFfJ5S9jJ86XuQnwPbKD5N94JbIiIZopAuIumbB/43sJjmOC8CWrjnSQU7tfuJiMhmUkgXkfSEgb9AC0VFREQySCFdRNJzBRhOcwwtFBUREYmhkC4iG/cLoD8D42ihqIiISIw8twsQkSRMAYPAQ2DW5VoiFoDxDIyzC/iJdbPbAZQBXwQqM/A6IiIiW4hCuojXfQj8H9JflOlVj1i7n/3HwNcwu76IiIjkCLW7iHjZHPBDsjegJ+syMOl2ESIiIptHIV3Ey25hgnquWwKuu12EuKnmFBwOwH63CxER2SQK6SJeptnjKP0utqSDZ+FgU/LHRUTEUEgX8TIF06gptwuQjcgvgpL4iyA1QUkR5GtBsIjIqhTSRbys0O0CPCTf7QIkZU1QAORVQo3tcM0Bs2tBQZlLdYmIbAHa3UVERJxRaf0lUwQVTTB6zRyusGbQ83bGnn7wLJQVRe/PXofBS6uM3QT+Y5A3D7ffhlHrcGMAim2nTb0PN64lX/LMPZgYgh0VsON5yC9e/zkiIk5QSBcREUfUlAHzMDVjtbxYYTm/CKbuQNnLZiHoLczC0JIJuHreeu4p2HcIDk4kDtkH34C8Sbj6jnXACu3ciRvjGDRWrhH248xNwq2/jt7PKzJhfcfz0eBebP30bU/1NyIikjyFdBERcUTJTmAGbtyFwwdMy8voCSieh9sfQcnLUNQEXIPR89HZcDD3qwKx4T5i/2lznavb79iONVqh/XzsGBVnoWzvxt/D4jxMj5pbvMJdK4P7jgpzXEQkXQrpIiLiiNIKWLwDXILZQ6blpWQvLE6Y1peqY7GLR2tOwb6XY8dYcYmAE1BZAUzGhvrSCvPzcCBBITPpvpPEnjwyt4efxB7flgdF5bHBfcfzULwbthc4U4uIZB+FdBERyTxr0ehTa1ee6UmoOAD5FTAzaI4tzEOJtXh0/2kTvu095I0BM4Zd5QG4fd20wjSeiGtjsbe/uOjZIsz+ytzi5ZesnHnf8TwUPQe+TdrKYfouzE7C02kIP9uc15TM2F5ovqkpe8n8uyTZTSFdREQyz1o0OjNh7t66C5WHrIWeVgifn4Eya+eXyKz7cv/5CbMANH4mfcJaJFqy14y3/5LpaV+YB0qslhrH39zGLcyY26N/iXvABzvKY4N7JMxnKowtPYGP/gomP8rMeOKe7YWw/xuwu97tSsRJ2oJRRNIzHaK100fXiHV/pAtfZyuhaVerEpfVWDPk85HQfQlmsVpdrEMzj4EiKMGEbPtuL40HYHZ+5Q4wEbfeMeNVnjb3b3wAi0Ww77TtpCbwn070bA8Kw9xn8Nkv4e6P4Jc/gBv/C370fej/7/DP78Iv/hJGrsL9m2YXmmcreoHW9vH7CujZYukJfNgL02NuVyJO0ky6SNYZJ/ReNe03bYfqexh7s40q12qSXFOyE5iPbQefnoQiW0gcnYJ9mMWjNz4wu7NEesongnDrBBw+ZK5Mmui6XoPXzeP+UzBwHgaIHQNg9o73Z9fXs/QUHo+ZW7yicthZCSWV5qdvW+LFqwszcO/G5tQrmyRsPtC91up2IeIUhXSRbDLSha87AMf7Cb/ptw6a0P7uSBsdta5WJznk1jumDSX+WIxLcNXWUz4Qv9Wi/fFrCYJ23PO5lmCMLDf/wNzufxh7fHtBtHWmuALCYXfqE2fN6arUWU0hXSRbTIdojQT0I37bA1W0vam/oUVyydJTeDxubmBCus/nbk2SefNTblcgTlJIF8kS47dD9NJCT6N//XOHWqm+4Kfn5ADtF3oBaDk5xsUGVrTKBM+E42bg49pp6ltoSaa+oVaqrdcCEnyYEBGnKKBnJ+3Ok920cFQkK4xz+Xov1LdxtDTZ5wRov97G2Lkw4XNhLjZUMT50htChMcLWsbGTLQS67YtAB+jqrKadnuXnhY/46V3rZYCBKz6qL/jpjzznXD/BvmZ874UY3/B7Fsm84t1Q8Xnzc7O2RBQRSUR/BIlktQG6On34On0Jdlxpoac1djFpVcNFLjZU2e53EKSX0G0TpceHuggQpN++CLW8bu2Z9OkQXX0t9AQ6iM6b++k4E4SbIS5rFxjxkOI9UP/vofG34Nf/GzSdgde/Da/8BlQ2wK4XIW+H21WKSC5Qu4uIV80Cj9IdxE/HuTBvDbVSfWHlY3UJZt1XtKWAFcKt2frj9rC9PtOG00tv0Ef7ikeTaZQRcYnP7J5SVA58LvahxXnrgkWTZvFe5Of8Q1cqFZEspJAu4gXPgHHM9hWfAndJMaBXUVcL9A0zDBveanHgio/mvhZ6AmHaSsHMxDczsMHxolroCVy0xhTZ+vKKYNdL5mYXXjL7nceH97nPzGJOEZFkKaSLuOExJoyPYgL5GLCU3pD+xh5a+trpGnorpmUleQNc7oOWk93RMD1ymQCR+W7rg8DIMOP4k/4gUFXuBwIMPwAU0iXL+bablpniPSsfe/o4Gtxn70f//1O1fIlIAgrpIk5bAiYwYTwSzNNuY0mgtI3ukyGqL1Tje2jfOcVqU1m3taSOunoIPIzMxQ/QdQWCtmP+V4LQ1071lbro+A+G6YVoC0x5HS0ECN0ep62hCmo76D8eoLm7lTrbbPrAlVaGGzW7LrmjYKe5lb0ce/zZYuysu332PdWriopI9lBIF8m0aUwgj9zGSXuWPFlVDRcJ7wvRGmzG12d/JEj/ufV6yatoa+0htPxc6zkjEOjuItR4kbbaDsKButjx47dgLG3j4plhfN3RDwv+I2H68dFs70uvD9LfmJn3LbKVbcszVwwtqVz52PzDxAF+YXbz69xyrCvWTr0PN3LsIleSHXzhsK5DJrJhS5gQbg/l+uraGXuB77pdRG775Q9h/J/crsJZu1+D177ldhXrW3piZtrnHlg/PzNXHp1ecVnWjWkMQHHcsdnrMHgp4ene5FJIbwxA8SRcjb/CrgO25cOv/a7zryPu0Ey6SCoesXKWXBeTkFzxhZ9T/e8+dbsKR4XvVgINbpexru2FsLPa3GKEzVUoI8E9Mvs+M2F2pEmJPWg2gf8YHN67OeFzK1tI9fcssgqFdJG1/AvRxZ2fAjPuliPipqJd8MTtIhxWsMvtCtLkg6LnzK18X/TwxBDc+us0xr0GA5ig7j8FA+fTLTR73Xjb7QokWyiki0Q8JDpDPorZcUVElhWWZX9IL9RC5tVdg5k3oKwSajB/TMLK1hh7e8n+01BZYi77UFwUPWciCLdsz6k5BfvsC2pts/g1p2BfJdz+CPYdSvw6EfZaEn1zsNbrRL4tmHkf8o/Zxrmz8kPJau95+Xhcu8v+01BZEb0fM6bVlrNsHm6/Hf39Su5SSN8Mn2EC3yNAK/UzoxDYBbwElGzg+YtEZ8gje5NrIZbImvbwOnt4fVNea/CPzMWCktHwXSjd62w9YszPQFmF9ceuFWq5A1etwFlzCvYdg8ZKW/96ESy8D1ftwT0ARVawjQRYe3BvDMDhsyasRsbYtxeuBm1jHIP916znWLXkxYd7WyBf73UiobjsmDlnEJYDdOMJ6/0keB1OwOE3oOYaDAZXBviDZ6EMuB20XiPSOnTajNF4KPEHARGFdKf9X+Af3C4iixUC3wDq1znvAbG95PcALZkW8aySF5IP6TP3FNLdsL/RCqu2cDl6HirOQpn9n8c8TNpmvG+9A6UBKDlg7ldUmJlo+8z64HUTjiuaYNI6NmGbmb511wTuoibgmlXLPNy2nTM6BcsdP03rv04kpM9et51zCWYPQUGZ7T3HvQ6X4OpqC2pPQFmRCf3LM+PXYOSA+QCx3zqUt3OV50tOU0h30nUU0J32BOgFngMiC6ieYr65sIfyOVeqS992Nm37RhEvKdkDSWZ0ZpI9UTKq1GrfOBxI8OA663cW5qF4J9QcMEGk7BgcPpZ6DfmV0VoW76zeIpLu60RCdGkFMJl8K8p+68NKZQAS7LAJRD8oHA6sbAOS3KaQ7qT0r6UuyQgDfZjr79zF/M2+VWfJ92C2Gozc/hH4masVibii5IXkz012xl3SV1QCTJog2Qgreq83aq1tEmsOpD9+Mq9DU3JjLD5O/XXXDN/WTHzNKdgXgMpN2r5RvE8h3SnPML3osjnG2HoLPYswQbwGeNH6WeBqRSKeUbwn+XMf33OuDrFpgpIimP3I3F2YB0piF5GmMs7iRLQlJX+1aeYkRWbmV5PR16lM/j3PPAZsbTlrGT0Po/E98JLTtrldQNaaZuvO5ooz9gBfAk4Ap4GzwHeAw0AdCugiNoW7zIVakrE0D091ETHHNVoLJiPh8cYHsFgE+07bTmoC/+m4JxbFru8/+IaZIZw8D1yCiUkoPgQHbTPZ+0/H3l/P5ARQYbaHjKgps52Qode58ZF5P+u+Z8voeZiaN202+23HD56NvS+SiGbSnaI+4ty2AzPVEmlb0Sy5SMp2VsKjJK+dNPMrKND2iZlVEdtvPmXboQWI2Tvdft7snbiZ5nmoiOvJtrd/3HoHsHZrWe4Xn4eJFEq1z0JHaonfgjETr8MluDqx8j1PXV99dv3G2yaUx/SlT8KkNbsevxvM4h3NoovhC4fDmu91wmfAH7pdhGwKHyt7yZ/PzNC3P7zNZPHk+ifmgJ2zO6l/bb1tfCSbfNwHY4PJnVv3b+BFv7P1bGVpX8xogyL7pGvfb2dsy4df+123qxCnaCZdJFU7iA3k1Tg2Sz5TM8ODXQ+cGXyLCc9oPiHXpNKXPqO+dBHJMgrpImuJzJK/SLRtJUOz5EnZ6pcoz6SNXLRKtrQShXQRyWEK6SJ2xUR3WomEchf/Kzlo/W/TXQBuJ3nudzG/K5EMK0lhJ465SQiHwedzrh5J3a13tO+3yEYppEvuysO0qtQQDeVaeGYUr3/KslnHqpAct73ALAZNZueW8DMT1It3O1+XiMhmUEiX3FFBbCB/AdPOIisppItHlLyQ/PaKM/cU0kUkeyik54KRLnzdA/QELtKWKzPFkS0Q7dsgagvE5Cmki0eU7IEHHyd37sw92PO6s/WIiGwWXczII8aHWvF1thKKmTEaoKvTh6+zi4GMv6I19pX0RjZ1+2Jv74UYjz9xOkRr3HmtQ9ZZI134On10jaRRiA9zSedvAmeA/0L0QkGvoICeKoV08YiSF5I/d/ZXztUhIrLZFNI9bOBKMwGC9J/rILntf03wXg6/a6qjLmNbTrfQEwgTPmdu/bXtVMd84BigK9hO7/H+6DnHW2jbV5WpAkwIPwZ8ASjP3LA5SyFdPELbMIpIrlJI96jxoVaa+yB4JtmAnqoq2t4MEz6S+dH9R8L0H++lPWh9AzBymQAt9DT6befkUOvNVpTKdocK6eKgHRXJn/vkESw9da4WEZHNpJDuRdMhzlzopeXkGB219gfGCb1nbxmJm63ubCYA9F6oXr3tZPlca4xIu8t0iNbOVkLTtseSnpVfyf9KEAhwebmFpZdhXZNn60hlJn3OsSpE2LY9tcWgMyld411ExLu0cNRzxgldbKe3voexBns7iBXC63sYO9dGFWa2vTroY/hMmI5aPx3n+qGzmYGTY1xsWKuVJHpuIOZ4L+1BP/3nwoTBWnBaTVd5OO7DQhLK62gBBh6MQ8Nb9NQHaO/2ETje78jsvWSY2l3EQ4r3wOz95M6d+RXsesnZeraiZzum2XlY/UDZxufzAfvcLkMcopDuMcODZwjcBAhxebptuSVkfKjLtIy0moAOUNXQTc/1Xto/GaCjNjPBN6a9pvYoQaygXZtO/7hpram74qO5rxlfH6Cw7m0FmO/ZniVxrkK6OKzkBbh/M7lztXg0saUdjyh9I8ltcmTLCC9sRyE9e6ndxVN6CfT56T83Rk99L+0Xo+0qww97ob6NozF93FXU1QIjw6u0tWSoqofDGRnHf8QsGh072QJ9zWnvLCMOS7YvfQFYcrIQyXUlWjyaNn27kJ225btdgThJM+me0kJPwMxk+1t7CAXbeXekLfVWEy94MEwvLfQk2MGlquEi/Q99NPddZuCI36GFsZK2YiDJi8gwA+xysBbJaalsw/hYPekJFbKLcl51uwzJMJ+uyJfVFNK9qrSNjuPtNHd3cfRcB3XPtUBfbAsMjDM8AtTWkcHNDDNi4JMA1PfEzfxH1T3XsrkFSepS7UtXSBeHFJaZGcNnC+uf+2zB7PJSqH8fYxRSSiHaUktkK1G7i4f5j/QTJEDzlQGqGjoI0kv7YLRFZHzoDO037Vsbmr3Pe69fjm1/Ka+jhV5Ct51sioky20fa++cH6LLvNGPtXsPxo5pF9zItHhUPSWU2XS0vIpINNJPuaX7eOtlC4EIzrc+NcdHakcXXF3m8hZ6Afb/xKtqsNpnqznYAgmfCdNS2cfHMML7uanwPnViw2Ut70Ed75O7xfsLnbK8xcpnAzQCBzuUzaDk5RjhuB5pAty9utxlz3to71YhjFNLFQ0r2wPTd5M6dmYDnP+dsPSIiTvOFw+Gw20Vkpc+AP3S7iBxSCPxXt4vIMv8IXEny3K8BX3WwFsl5Yz+Fj/8muXN3vwavfcvZekREnKZ2FxFJTDPp4iHFqezwom0YRSQLKKSLSGIK6eIhO1PoepubhGfaFlREtjiFdBFJTCFdPGR7ARSksDnJXJJXKBUR8SqFdBFJTCFdPEYXNRKRXKKQLiKJKaSLx6S0DaP60kVki1NIF5HEilI4VyFdNoH2SheRXKKQLiKrK0nyvCeANnMVh6W0w4tCuohscQrpIrK6VFpeZhyrQgRILaQvzMDinHO1iIg4TSFdRFanvnTxEJ8Pincnf75m00VkK1NIF5HVJdvuAgrpsim0eFREckWe2wVkqwXfAiOHR9wuI2ds823jFV5xu4zso3YX8ZiSF+BXP0/uXM2ki8hWppDukAXfAh+/8bHbZeSMvCd5CulOULuLeIwWj4pIrlC7i1Oec7uAHFPodgFZKpWQrkV6sglSaneZcK4OERGnaSbdIfnk8yqvul1Gztimz5vO0Ey6eEzhLtiWD88W1j83/AzmH0BRufN1iYhkmkK6QxTSJSsopIsH7ayER58md+7MPYV0EdmaNP0oIqtTSBcP0g4vIpILFNJFZHUK6eJBWjwqIrlAIV1EVleUwrkK6bJJUplJn9VMuohsUQrpIrI6H8nPps8BYQdrEbGkEtLnPoNnS87VIiLiFIV0EVmbtmEUj9leYHZ5SdasWl5EZAtSSBeRtakvXTxIi0dFJNsppIvI2hTSxYNSCumaSReRLUghXUTWppAuHqQdXkQk2ymki8jaFNLFg1KZSX884VwdIiJOUUgXkbUppIsH7agAX5J/gy3Nw8KMs/WIiGRantsFiIjHKaRLAktPYWoEnkzBgkv/3POKkg/fn/w9FD3nbD2pytthdqkpqzXvRUTETiFdRNamkC5xpu7AR38FTx65XQlmKST6lgAACiZJREFUL/8k3PuZs2WkI78EPv9NeK7O7UpExEvU7iIia1NIF5uFObj55x4J6FliYQZu/pl+pyISSyFdRNamkC424/8Ei/NuV5F9lp7C2KDbVYiIlyiki8jaFNLFZu4ztyvIXrP33a5ARLxEIV1E1uYDkl3Uph00st7cpNsVZK8nU25XICJeopAuIutLZTZdrRDZLcmFmpK68DO3KxARL1FIF5H1qeVFRERkUymki8j6FNJFREQ2lUK6iKxPIV1ERGRTKaSLyPoU0kVERDaVrjgq4hWTeHd3lCckv2BwDHjewVoypRgoA/LdLkRERGQlhXQRNy0B/wD0A9mys8M/W7et4ovAvwUK3S5EREQkSiFdxE0/AG64XUSO+xlwH/hNtwuR9dScgn0vw0QQbqU51sGzUGbt/59wvBNw+BBMvQ83rqX5YiIiG6CQLuKWCRTQvWIc+Ag44HYh2engWeCDlWF3teNO23/adDrdDsJo5KAVymevw+Clza1HRCQRLRwVccuE2wVIjLtuF5C98ougJP4DUBOUFEF+5SYX0wQVFTD7kS2gA0zA4iaXIiKyFs2ki7hFl1f3Fv3zcEYTFAB5lVBDNBjXHLD+Airb5HoqzevOxH9IvgYDamsREQ9RSBdxy5LbBUiMbFm46zVWKKYIKppg1ArCFdYMet7O2NPtveKwTvtJE/iPQd483H47+gGgMRC7a2ikrzzS0w5QdgwOH7P60a1Wl3Vfj9gxAJiEq+9ssH4RkTUopIuIiGNqyoB5mJqxWl6skJ5fBFN3oOxl2I9ZuFlzCkom4Op567mnYN8hODiRuG/94BuQZw/JVmjnTtwYx6CxEgbPw2ii3vNLcJVoUF/N/tNQWRG70LQxAIfPmg8JnDIBPRMLW0VE1JMuIiKOKdkJzMCNu9GWF05A8TxMfmT6wIuazLmj52HgfPS5o+fNtbFW9LNjW/xpm8Xe32hCe/wYU/NQvDfNN2L1sk+9HxvAB6+z/C1BRFFT/JNFRFKnmXQREXFMaQUs3gEuwewhE2ZL9sLihGl9qToWu3h0RTsJCRZ0njAz2kzGLv4srTA/DwcSFJLmhcIiPfSRNplERs9DxVlzjv9A7IcFEZFUKaSLiIgzrEWjT6fM3elJqDgA+RUwM2iOLcxDibV4NNJOYt+bvDFgxrCrPAC3r5tWmMYTcT3fcT3imbbevuk33jY/GwPmw4L2WReRjVK7i4iIOMNaNLpg7aRy6y7kvWy1uljBdX4m2gYTmXVfDrUnYheARky8DaOXYGISig+ZnnYwgZ8Sq6Umw0atDxrJbhk5GDRtNmVvOFOPiGQ/hXQREXFEjTVDPh8J3ZdMj/niRLRNZeYxUAQlmJBt3+2l8QDMzq/cASbi1jtmvMrT5v6ND2CxCPadtp3UBP7TiZ69Dmvf9OV+eNuHgoO2nvP9p2Pvi4hkitpdRETEESU7gfnYdvDpSSj6KHp/dAr2YRZb3vjA7M4S6Sm3b494sCnxVvaD183j/lOmB3yA2DEAZu/E7tGelGswUGnGPnzatNDcegc4DZX2vvT56HXJEvXTTwRTfF0REYsvHA6H3S5CJCf9LfCT1J82PtRK9YVe25EWegIXaSvNVGGbaZzQe9W034w92nJyjIsNVbEHR7rwdceuCAyeCdNRG/mdkN7v4VXgOxt8bg4Z+hOY1tVZHVG8Gxp/y+0qRMQr1O4ismUM0NXpo/qCn/5zYcLWbewktA8OuF1ceup7GFt+T/34L1Tjey/EeOTx6RCt3QFaTo5Z54zRUx/kaK2bRYuIiDhH7S4iW8I4ofeaCRCk/1wHftsjVQ0Xya6vw/x0nOuHzmaqr9QRPuJn/HaIXoL0L8+uV9H2ZoerVYqIiDhJM+kiW8H0ZUI3oeXkWzEBPaGRLnydrYSGuvB1+sztSmSmfZzQe77o8c5WQtOJnu9b/bn2GW4ws9ydPloHumnt9NE1sko98a+zJj9HjwN9l4l+RzDAcEpjiIiIbF0K6SJbgJlJbqFtX9X6JwPQS/sFom0xR/yYdplq2om2loydhPZgNFiPD7Xi6w4QPBNtPQn2NVvBvIq2I0G4GeKyLSwPDLbTW99Dt7+VtnoIfBLbejPwSQCOd6TcK173XAuRYF7V0EGQXtqDPlqHxtd9roiIyFankC6yhQ1cic54x4fX4JnYtpjxoS4CtNDT2sZy00hDNz3LwXqAdy/0wvF+OpZ7vf10nLEF89qjBOkldDvyWgNc7oOWQ0epioT4uNnvy30QfGXd+f91+Ok4N0ZPPfReqE74fkVERLKJQrrIFuY/EiYc6KFlxSMt1JXHHhl+2Av1bRyNmdGuoq4WGBlmfHqYARIE6vI6Wuhl+AGAn7dOttB74V0TxEcuEyBIR6RXvPYoQQJcjrS8WI9nZoFnFW1vmhn+/uMmrCuoi4hItlJIF9kCqsr9sByU3WVaTwJcHhkndCUQ1ydveskDV0zf+sAn8Y8nL/GHCutVjliz6tcvo5guIiLZSCFdZCuofcu0pVwJbTiU1j3XsqKfHMYZHgFq66gqrcPPyp5yHgzTGzMzb2bTA93VtN+0zaJHHm3soeVmiMvTA1zuS6WP3s7eRpOI9Q2AiIhIllJIF9kSqmhr7aHlZjvVnV3YY7RZVJrECJHFl7Y91ceHztB+s4WeRj+R8E1fl20nlgG6ulcu/Kza12ZabI4fXTlLXnqUtvpeQhe7CKwyE742a7vJ+h66Ix8ApkO0XrG965EumtcM8SIiIlub9kkX2SpK27h47iih96pp7kx85c21Rfcf9/VFjsVerbSq4SJjtFId9NEeOeV4v7U7TGwtHcdDtDUmamSp4uihFtov9BI8czG5EH2znerO5Vc0u8vY3s/47RC9fb22uhO9Z7P7SzuxkvvdiIiIeIsvHA5n13VQRLaKvwV+4nYRDhnpwtfNigsvedqrwHfcLsL7ft5/l6eL826XkZXythXwxV9/ye0yRMQjNJMuIhlmFpRyvH/rBHRJWv7nPqVwz5TbZWSlZw92AgrpImKoJ11EMmZ8qBVfZzWhQ2MrW2QkKxTvcbuC7FVUvv45IpI7NJMuIhlT1XCRcIPbVYiTSnmRHex2u4ystJ0Ct0sQEQ9RSBcRkaTtYq/bJYiI5AS1u4iIiIiIeIxCuoiIiIiIxyiki4iIiIh4jEK6iIiIiIjHKKSLiIiIiHiMQrqIiIiIiMdoC0YRl0xWTPLw8EO3yxBLcUEx1VS7XYaIiAigkC7imvsV97nzpTtulyGW3WO7FdJFRMQz1O4i4pZatwuQGMrnIiLiIZpJF3HJbnaTp/8EPaOYYrdLEBERWeYLh8Nht4sQEREREZEotbuIiIiIiHiMQrqIiIiIiMcopIuIiIiIeIxCuoiIiIiIxyiki4iIiIh4jEK6iIiIiIjHKKSLiIiIiHiMQrqIiIiIiMcopIuIiIiIeIxCuoiIiIiIxyiki4iIiIh4jEK6iIiIiIjH/H+cF1mrd/dIMgAAAABJRU5ErkJggg==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93936" y="1557528"/>
            <a:ext cx="7793324" cy="430377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Command Line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Use </a:t>
            </a:r>
            <a:r>
              <a:rPr dirty="0" err="1">
                <a:latin typeface="Courier"/>
              </a:rPr>
              <a:t>javac</a:t>
            </a:r>
            <a:r>
              <a:rPr dirty="0"/>
              <a:t> to compile Java code</a:t>
            </a:r>
            <a:r>
              <a:rPr lang="en-GB" dirty="0"/>
              <a:t> and </a:t>
            </a:r>
            <a:r>
              <a:rPr lang="en-GB" dirty="0">
                <a:latin typeface="Courier"/>
              </a:rPr>
              <a:t>java</a:t>
            </a:r>
            <a:r>
              <a:rPr lang="en-GB" dirty="0"/>
              <a:t> to run it.</a:t>
            </a:r>
          </a:p>
          <a:p>
            <a:r>
              <a:rPr lang="en-GB" dirty="0"/>
              <a:t>Example commands:</a:t>
            </a:r>
            <a:br>
              <a:rPr dirty="0"/>
            </a:br>
            <a:r>
              <a:rPr lang="en-GB" dirty="0"/>
              <a:t>   	</a:t>
            </a:r>
            <a:r>
              <a:rPr dirty="0" err="1">
                <a:latin typeface="Courier"/>
              </a:rPr>
              <a:t>javac</a:t>
            </a:r>
            <a:r>
              <a:rPr dirty="0">
                <a:latin typeface="Courier"/>
              </a:rPr>
              <a:t> MyProgram.java</a:t>
            </a:r>
            <a:endParaRPr lang="en-GB" dirty="0">
              <a:latin typeface="Courier"/>
            </a:endParaRPr>
          </a:p>
          <a:p>
            <a:pPr marL="0" indent="0">
              <a:buNone/>
            </a:pPr>
            <a:r>
              <a:rPr lang="en-GB" dirty="0">
                <a:latin typeface="Courier"/>
              </a:rPr>
              <a:t> 	</a:t>
            </a:r>
            <a:r>
              <a:rPr dirty="0">
                <a:latin typeface="Courier"/>
              </a:rPr>
              <a:t>java </a:t>
            </a:r>
            <a:r>
              <a:rPr dirty="0" err="1">
                <a:latin typeface="Courier"/>
              </a:rPr>
              <a:t>MyProgram</a:t>
            </a:r>
            <a:endParaRPr lang="en-GB" dirty="0">
              <a:latin typeface="Courier"/>
            </a:endParaRP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b="1" dirty="0"/>
              <a:t>Advantages</a:t>
            </a:r>
            <a:endParaRPr lang="en-GB" b="1" dirty="0"/>
          </a:p>
          <a:p>
            <a:r>
              <a:rPr lang="en-GB" dirty="0"/>
              <a:t>Lightweight and simple for small projects.</a:t>
            </a:r>
          </a:p>
          <a:p>
            <a:pPr marL="0" indent="0">
              <a:buNone/>
            </a:pPr>
            <a:r>
              <a:rPr b="1" dirty="0"/>
              <a:t>Disadvantages</a:t>
            </a:r>
            <a:endParaRPr lang="en-GB" b="1" dirty="0"/>
          </a:p>
          <a:p>
            <a:r>
              <a:rPr dirty="0"/>
              <a:t>Tedious for larger projects with multiple files.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Batch File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- Automate command sequences in Windows using </a:t>
            </a:r>
            <a:r>
              <a:rPr dirty="0">
                <a:latin typeface="Courier"/>
              </a:rPr>
              <a:t>.bat</a:t>
            </a:r>
            <a:r>
              <a:rPr dirty="0"/>
              <a:t> files.</a:t>
            </a:r>
            <a:br>
              <a:rPr dirty="0"/>
            </a:br>
            <a:r>
              <a:rPr dirty="0"/>
              <a:t>- Example</a:t>
            </a:r>
            <a:br>
              <a:rPr dirty="0"/>
            </a:br>
            <a:r>
              <a:rPr lang="en-GB" dirty="0"/>
              <a:t>   	</a:t>
            </a:r>
            <a:br>
              <a:rPr dirty="0"/>
            </a:br>
            <a:endParaRPr lang="en-GB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b="1" dirty="0"/>
              <a:t>Advantages</a:t>
            </a:r>
            <a:br>
              <a:rPr dirty="0"/>
            </a:br>
            <a:r>
              <a:rPr dirty="0"/>
              <a:t>- Easy to set up for repetitive tasks.</a:t>
            </a:r>
            <a:br>
              <a:rPr dirty="0"/>
            </a:br>
            <a:r>
              <a:rPr b="1" dirty="0"/>
              <a:t>Disadvantages</a:t>
            </a:r>
            <a:br>
              <a:rPr dirty="0"/>
            </a:br>
            <a:r>
              <a:rPr dirty="0"/>
              <a:t>- Limited functionality compared to modern build tools.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3DBCD-2C98-7EEE-A37E-331CE37A6B73}"/>
              </a:ext>
            </a:extLst>
          </p:cNvPr>
          <p:cNvSpPr txBox="1"/>
          <p:nvPr/>
        </p:nvSpPr>
        <p:spPr>
          <a:xfrm>
            <a:off x="3249038" y="2478313"/>
            <a:ext cx="4572001" cy="13552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@echo off  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javac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MyProgram.java  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java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MyProgram</a:t>
            </a:r>
            <a:endParaRPr lang="en-GB" sz="2400" dirty="0">
              <a:solidFill>
                <a:schemeClr val="tx2">
                  <a:lumMod val="75000"/>
                  <a:lumOff val="25000"/>
                </a:schemeClr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Make and </a:t>
            </a:r>
            <a:r>
              <a:rPr dirty="0" err="1"/>
              <a:t>Makefiles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GNU </a:t>
            </a:r>
            <a:r>
              <a:rPr b="1" dirty="0" err="1"/>
              <a:t>Makefiles</a:t>
            </a:r>
            <a:br>
              <a:rPr dirty="0"/>
            </a:br>
            <a:r>
              <a:rPr dirty="0"/>
              <a:t>- Use the </a:t>
            </a:r>
            <a:r>
              <a:rPr dirty="0">
                <a:latin typeface="Courier"/>
              </a:rPr>
              <a:t>make</a:t>
            </a:r>
            <a:r>
              <a:rPr dirty="0"/>
              <a:t> command to automate builds</a:t>
            </a:r>
            <a:r>
              <a:rPr lang="en-GB" dirty="0"/>
              <a:t> (dependencies)</a:t>
            </a:r>
            <a:r>
              <a:rPr dirty="0"/>
              <a:t>.</a:t>
            </a:r>
            <a:br>
              <a:rPr dirty="0"/>
            </a:br>
            <a:r>
              <a:rPr dirty="0"/>
              <a:t>- Example </a:t>
            </a:r>
            <a:r>
              <a:rPr lang="en-GB" dirty="0" err="1">
                <a:latin typeface="Courier"/>
              </a:rPr>
              <a:t>Makefile</a:t>
            </a:r>
            <a:r>
              <a:rPr lang="en-GB" dirty="0"/>
              <a:t> syntax</a:t>
            </a:r>
            <a:br>
              <a:rPr dirty="0"/>
            </a:br>
            <a:r>
              <a:rPr lang="en-GB" dirty="0"/>
              <a:t>   	</a:t>
            </a:r>
            <a:br>
              <a:rPr dirty="0"/>
            </a:br>
            <a:endParaRPr lang="en-GB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b="1" dirty="0"/>
              <a:t>Advantages</a:t>
            </a:r>
            <a:br>
              <a:rPr dirty="0"/>
            </a:br>
            <a:r>
              <a:rPr dirty="0"/>
              <a:t>- Widely used in C/C++ projects.</a:t>
            </a:r>
            <a:br>
              <a:rPr dirty="0"/>
            </a:br>
            <a:r>
              <a:rPr b="1" dirty="0"/>
              <a:t>Disadvantages</a:t>
            </a:r>
            <a:br>
              <a:rPr dirty="0"/>
            </a:br>
            <a:r>
              <a:rPr dirty="0"/>
              <a:t>- Syntax can be difficult for beginners.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- Dependencies need to be set up manually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986E8F-BD43-50FA-4E31-BF9D647A90AE}"/>
              </a:ext>
            </a:extLst>
          </p:cNvPr>
          <p:cNvSpPr txBox="1"/>
          <p:nvPr/>
        </p:nvSpPr>
        <p:spPr>
          <a:xfrm>
            <a:off x="2553647" y="3016251"/>
            <a:ext cx="5727711" cy="8946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build: MyProgram.java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	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javac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MyProgram.java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49523-511B-BBC1-D3C5-9BBF27BAA78B}"/>
              </a:ext>
            </a:extLst>
          </p:cNvPr>
          <p:cNvSpPr txBox="1"/>
          <p:nvPr/>
        </p:nvSpPr>
        <p:spPr>
          <a:xfrm>
            <a:off x="8281358" y="6273225"/>
            <a:ext cx="39106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Windows installation tip: </a:t>
            </a:r>
          </a:p>
          <a:p>
            <a:r>
              <a:rPr lang="en-GB" sz="1600" dirty="0" err="1">
                <a:latin typeface="Courier"/>
              </a:rPr>
              <a:t>winget</a:t>
            </a:r>
            <a:r>
              <a:rPr lang="en-GB" sz="1600" dirty="0">
                <a:latin typeface="Courier"/>
              </a:rPr>
              <a:t> install </a:t>
            </a:r>
            <a:r>
              <a:rPr lang="en-GB" sz="1600" dirty="0" err="1">
                <a:latin typeface="Courier"/>
              </a:rPr>
              <a:t>ezwinports.make</a:t>
            </a:r>
            <a:endParaRPr lang="en-GB" sz="3600" dirty="0">
              <a:latin typeface="Couri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173E8-AB29-E22C-A1AB-701D52862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D4B6-AD09-E1B5-B135-A478FDAA7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358C3-745C-D871-0C66-D714AE78A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Ant uses xml build </a:t>
            </a:r>
            <a:r>
              <a:rPr b="1" dirty="0"/>
              <a:t>files</a:t>
            </a:r>
            <a:br>
              <a:rPr dirty="0"/>
            </a:br>
            <a:r>
              <a:rPr dirty="0"/>
              <a:t>- Use the </a:t>
            </a:r>
            <a:r>
              <a:rPr lang="en-GB" dirty="0">
                <a:latin typeface="Courier"/>
              </a:rPr>
              <a:t>ant</a:t>
            </a:r>
            <a:r>
              <a:rPr dirty="0"/>
              <a:t> command to automate builds</a:t>
            </a:r>
            <a:r>
              <a:rPr lang="en-GB" dirty="0"/>
              <a:t> (dependencies)</a:t>
            </a:r>
            <a:r>
              <a:rPr dirty="0"/>
              <a:t>.</a:t>
            </a:r>
            <a:br>
              <a:rPr dirty="0"/>
            </a:br>
            <a:r>
              <a:rPr dirty="0"/>
              <a:t>- Example </a:t>
            </a:r>
            <a:r>
              <a:rPr lang="en-GB" dirty="0">
                <a:latin typeface="Courier"/>
              </a:rPr>
              <a:t>build</a:t>
            </a:r>
            <a:r>
              <a:rPr lang="en-GB" dirty="0"/>
              <a:t> file</a:t>
            </a:r>
            <a:br>
              <a:rPr dirty="0"/>
            </a:br>
            <a:r>
              <a:rPr lang="en-GB" dirty="0"/>
              <a:t>   	</a:t>
            </a:r>
            <a:br>
              <a:rPr dirty="0"/>
            </a:br>
            <a:endParaRPr lang="en-GB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AE518-106F-4846-5C97-F3B6916C8A7C}"/>
              </a:ext>
            </a:extLst>
          </p:cNvPr>
          <p:cNvSpPr txBox="1"/>
          <p:nvPr/>
        </p:nvSpPr>
        <p:spPr>
          <a:xfrm>
            <a:off x="752273" y="3111522"/>
            <a:ext cx="5343727" cy="35130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&lt;project&gt;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&lt;target name="compile"&gt;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    &lt;</a:t>
            </a:r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mkdir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</a:t>
            </a:r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dir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="classes"/&gt;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    &lt;</a:t>
            </a:r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javac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</a:t>
            </a:r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srcdir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="</a:t>
            </a:r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src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" </a:t>
            </a:r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destdir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="classes"/&gt;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&lt;/target&gt;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&lt;target name="run" depends="compile"&gt;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    &lt;java </a:t>
            </a:r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classname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=“</a:t>
            </a:r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MyClass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" fork="true"&gt;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    &lt;</a:t>
            </a:r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classpath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path="classes"&gt;&lt;/</a:t>
            </a:r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classpath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    &lt;/java&gt;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&lt;/target&gt;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&lt;/project&gt;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2E888-0A1B-7280-F804-4989E36FCEB6}"/>
              </a:ext>
            </a:extLst>
          </p:cNvPr>
          <p:cNvSpPr txBox="1"/>
          <p:nvPr/>
        </p:nvSpPr>
        <p:spPr>
          <a:xfrm>
            <a:off x="6336355" y="2701746"/>
            <a:ext cx="5437760" cy="417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Example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build</a:t>
            </a:r>
            <a:r>
              <a:rPr lang="en-GB" sz="2800" dirty="0">
                <a:solidFill>
                  <a:srgbClr val="0E2841">
                    <a:lumMod val="75000"/>
                    <a:lumOff val="25000"/>
                  </a:srgbClr>
                </a:solidFill>
                <a:latin typeface="Aptos" panose="02110004020202020204"/>
              </a:rPr>
              <a:t> commands</a:t>
            </a:r>
          </a:p>
          <a:p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ant compile (–f build.xml)</a:t>
            </a:r>
          </a:p>
          <a:p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ant run (–f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build.xtml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Advantages</a:t>
            </a:r>
            <a:b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Handy to manage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jar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libraries.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dirty="0">
                <a:solidFill>
                  <a:srgbClr val="0E2841">
                    <a:lumMod val="75000"/>
                    <a:lumOff val="25000"/>
                  </a:srgbClr>
                </a:solidFill>
                <a:latin typeface="Aptos" panose="02110004020202020204"/>
              </a:rPr>
              <a:t>     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ant jar (–f build.xml)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Disadvantages</a:t>
            </a:r>
            <a:b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Syntax difficult for beginners.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800" dirty="0">
                <a:solidFill>
                  <a:srgbClr val="0E2841">
                    <a:lumMod val="75000"/>
                    <a:lumOff val="25000"/>
                  </a:srgbClr>
                </a:solidFill>
                <a:latin typeface="Aptos" panose="02110004020202020204"/>
              </a:rPr>
              <a:t>- Manually coding dependencies.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n-GB" sz="2000" dirty="0">
              <a:solidFill>
                <a:schemeClr val="tx2">
                  <a:lumMod val="75000"/>
                  <a:lumOff val="25000"/>
                </a:schemeClr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448489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000" b="1"/>
              <a:t>What is Rake?</a:t>
            </a:r>
          </a:p>
          <a:p>
            <a:r>
              <a:rPr sz="1800" b="0"/>
              <a:t>A build tool written in Ruby – "Ruby Make"</a:t>
            </a:r>
          </a:p>
          <a:p>
            <a:r>
              <a:rPr sz="1800" b="0"/>
              <a:t>Inspired by make; tasks defined as Ruby code</a:t>
            </a:r>
          </a:p>
          <a:p>
            <a:r>
              <a:rPr sz="1800" b="0"/>
              <a:t>Created by Jim Weirich (2003); cross-platform</a:t>
            </a:r>
          </a:p>
          <a:p>
            <a:r>
              <a:rPr sz="1800" b="0"/>
              <a:t>Tasks live in a plain text file called Rakefile</a:t>
            </a:r>
          </a:p>
          <a:p>
            <a:endParaRPr sz="1800" b="0"/>
          </a:p>
          <a:p>
            <a:r>
              <a:rPr sz="2000" b="1"/>
              <a:t>Key Features</a:t>
            </a:r>
          </a:p>
          <a:p>
            <a:r>
              <a:rPr sz="1800" b="0"/>
              <a:t>Full Ruby language available inside task bodies</a:t>
            </a:r>
          </a:p>
          <a:p>
            <a:r>
              <a:rPr sz="1800" b="0"/>
              <a:t>Declare dependencies between tasks</a:t>
            </a:r>
          </a:p>
          <a:p>
            <a:r>
              <a:rPr sz="1800" b="0"/>
              <a:t>Built-in file utilities (mkdir, cp, rm_rf …)</a:t>
            </a:r>
          </a:p>
          <a:p>
            <a:r>
              <a:rPr sz="1800" b="0"/>
              <a:t>FileList globs track source files automatically</a:t>
            </a:r>
          </a:p>
          <a:p>
            <a:endParaRPr sz="1800" b="0"/>
          </a:p>
          <a:p>
            <a:r>
              <a:rPr sz="1800" b="0"/>
              <a:t>Installation:  gem install rake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Rake for Java – A Rakefile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000"/>
            <a:ext cx="430000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 err="1"/>
              <a:t>Rakefile</a:t>
            </a:r>
            <a:endParaRPr sz="2000" b="1" dirty="0"/>
          </a:p>
          <a:p>
            <a:endParaRPr sz="2000" b="1" dirty="0"/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SRC_DIR  = '</a:t>
            </a:r>
            <a:r>
              <a:rPr sz="1100" b="0" dirty="0" err="1">
                <a:solidFill>
                  <a:srgbClr val="000000"/>
                </a:solidFill>
                <a:latin typeface="Courier New"/>
              </a:rPr>
              <a:t>src</a:t>
            </a:r>
            <a:r>
              <a:rPr sz="1100" b="0" dirty="0">
                <a:solidFill>
                  <a:srgbClr val="000000"/>
                </a:solidFill>
                <a:latin typeface="Courier New"/>
              </a:rPr>
              <a:t>'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BIN_DIR  = 'bin'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JAR_FILE = 'app.jar'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SOURCES  = </a:t>
            </a:r>
            <a:r>
              <a:rPr sz="1100" b="0" dirty="0" err="1">
                <a:solidFill>
                  <a:srgbClr val="000000"/>
                </a:solidFill>
                <a:latin typeface="Courier New"/>
              </a:rPr>
              <a:t>FileList</a:t>
            </a:r>
            <a:r>
              <a:rPr sz="1100" b="0" dirty="0">
                <a:solidFill>
                  <a:srgbClr val="000000"/>
                </a:solidFill>
                <a:latin typeface="Courier New"/>
              </a:rPr>
              <a:t>["#{SRC_DIR}/**/*.java"]</a:t>
            </a:r>
          </a:p>
          <a:p>
            <a:endParaRPr sz="1100" b="0" dirty="0">
              <a:solidFill>
                <a:srgbClr val="000000"/>
              </a:solidFill>
              <a:latin typeface="Courier New"/>
            </a:endParaRP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directory BIN_DIR</a:t>
            </a:r>
          </a:p>
          <a:p>
            <a:endParaRPr sz="1100" b="0" dirty="0">
              <a:solidFill>
                <a:srgbClr val="000000"/>
              </a:solidFill>
              <a:latin typeface="Courier New"/>
            </a:endParaRP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task :default =&gt; :compile</a:t>
            </a:r>
          </a:p>
          <a:p>
            <a:endParaRPr sz="1100" b="0" dirty="0">
              <a:solidFill>
                <a:srgbClr val="000000"/>
              </a:solidFill>
              <a:latin typeface="Courier New"/>
            </a:endParaRP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task :compile =&gt; BIN_DIR do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  </a:t>
            </a:r>
            <a:r>
              <a:rPr sz="1100" b="0" dirty="0" err="1">
                <a:solidFill>
                  <a:srgbClr val="000000"/>
                </a:solidFill>
                <a:latin typeface="Courier New"/>
              </a:rPr>
              <a:t>sh</a:t>
            </a:r>
            <a:r>
              <a:rPr sz="1100" b="0" dirty="0">
                <a:solidFill>
                  <a:srgbClr val="000000"/>
                </a:solidFill>
                <a:latin typeface="Courier New"/>
              </a:rPr>
              <a:t> "</a:t>
            </a:r>
            <a:r>
              <a:rPr sz="1100" b="0" dirty="0" err="1">
                <a:solidFill>
                  <a:srgbClr val="000000"/>
                </a:solidFill>
                <a:latin typeface="Courier New"/>
              </a:rPr>
              <a:t>javac</a:t>
            </a:r>
            <a:r>
              <a:rPr sz="1100" b="0" dirty="0">
                <a:solidFill>
                  <a:srgbClr val="000000"/>
                </a:solidFill>
                <a:latin typeface="Courier New"/>
              </a:rPr>
              <a:t> -d #{BIN_DIR} #{SOURCES.join(' ')}"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end</a:t>
            </a:r>
          </a:p>
          <a:p>
            <a:endParaRPr sz="1100" b="0" dirty="0">
              <a:solidFill>
                <a:srgbClr val="000000"/>
              </a:solidFill>
              <a:latin typeface="Courier New"/>
            </a:endParaRP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task :run =&gt; :compile do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  </a:t>
            </a:r>
            <a:r>
              <a:rPr sz="1100" b="0" dirty="0" err="1">
                <a:solidFill>
                  <a:srgbClr val="000000"/>
                </a:solidFill>
                <a:latin typeface="Courier New"/>
              </a:rPr>
              <a:t>sh</a:t>
            </a:r>
            <a:r>
              <a:rPr sz="1100" b="0" dirty="0">
                <a:solidFill>
                  <a:srgbClr val="000000"/>
                </a:solidFill>
                <a:latin typeface="Courier New"/>
              </a:rPr>
              <a:t> "java -cp #{BIN_DIR} Main"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end</a:t>
            </a:r>
          </a:p>
          <a:p>
            <a:endParaRPr sz="1100" b="0" dirty="0">
              <a:solidFill>
                <a:srgbClr val="000000"/>
              </a:solidFill>
              <a:latin typeface="Courier New"/>
            </a:endParaRP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task :jar =&gt; :compile do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  </a:t>
            </a:r>
            <a:r>
              <a:rPr sz="1100" b="0" dirty="0" err="1">
                <a:solidFill>
                  <a:srgbClr val="000000"/>
                </a:solidFill>
                <a:latin typeface="Courier New"/>
              </a:rPr>
              <a:t>sh</a:t>
            </a:r>
            <a:r>
              <a:rPr sz="1100" b="0" dirty="0">
                <a:solidFill>
                  <a:srgbClr val="000000"/>
                </a:solidFill>
                <a:latin typeface="Courier New"/>
              </a:rPr>
              <a:t> "jar </a:t>
            </a:r>
            <a:r>
              <a:rPr sz="1100" b="0" dirty="0" err="1">
                <a:solidFill>
                  <a:srgbClr val="000000"/>
                </a:solidFill>
                <a:latin typeface="Courier New"/>
              </a:rPr>
              <a:t>cf</a:t>
            </a:r>
            <a:r>
              <a:rPr sz="1100" b="0" dirty="0">
                <a:solidFill>
                  <a:srgbClr val="000000"/>
                </a:solidFill>
                <a:latin typeface="Courier New"/>
              </a:rPr>
              <a:t> #{JAR_FILE} -C #{BIN_DIR} ."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end</a:t>
            </a:r>
          </a:p>
          <a:p>
            <a:endParaRPr sz="1100" b="0" dirty="0">
              <a:solidFill>
                <a:srgbClr val="000000"/>
              </a:solidFill>
              <a:latin typeface="Courier New"/>
            </a:endParaRP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task :clean do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  </a:t>
            </a:r>
            <a:r>
              <a:rPr sz="1100" b="0" dirty="0" err="1">
                <a:solidFill>
                  <a:srgbClr val="000000"/>
                </a:solidFill>
                <a:latin typeface="Courier New"/>
              </a:rPr>
              <a:t>rm_rf</a:t>
            </a:r>
            <a:r>
              <a:rPr sz="1100" b="0" dirty="0">
                <a:solidFill>
                  <a:srgbClr val="000000"/>
                </a:solidFill>
                <a:latin typeface="Courier New"/>
              </a:rPr>
              <a:t> BIN_DIR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  </a:t>
            </a:r>
            <a:r>
              <a:rPr sz="1100" b="0" dirty="0" err="1">
                <a:solidFill>
                  <a:srgbClr val="000000"/>
                </a:solidFill>
                <a:latin typeface="Courier New"/>
              </a:rPr>
              <a:t>rm_f</a:t>
            </a:r>
            <a:r>
              <a:rPr sz="1100" b="0" dirty="0">
                <a:solidFill>
                  <a:srgbClr val="000000"/>
                </a:solidFill>
                <a:latin typeface="Courier New"/>
              </a:rPr>
              <a:t>  JAR_FILE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0" y="1600000"/>
            <a:ext cx="43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/>
              <a:t>Running Rake</a:t>
            </a:r>
          </a:p>
          <a:p>
            <a:endParaRPr sz="2000" b="1" dirty="0"/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rake            # runs :default → compile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rake compile    # compiles all .java files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rake run        # compiles then runs Main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rake jar        # packages app.jar</a:t>
            </a:r>
          </a:p>
          <a:p>
            <a:r>
              <a:rPr sz="1100" b="0" dirty="0">
                <a:solidFill>
                  <a:srgbClr val="000000"/>
                </a:solidFill>
                <a:latin typeface="Courier New"/>
              </a:rPr>
              <a:t>rake clean      # removes bin/ and jar</a:t>
            </a:r>
          </a:p>
          <a:p>
            <a:endParaRPr sz="1400" b="0" dirty="0">
              <a:solidFill>
                <a:srgbClr val="000000"/>
              </a:solidFill>
              <a:latin typeface="Courier New"/>
            </a:endParaRPr>
          </a:p>
          <a:p>
            <a:r>
              <a:rPr sz="2000" b="1" dirty="0"/>
              <a:t>How it works</a:t>
            </a:r>
          </a:p>
          <a:p>
            <a:endParaRPr sz="2000" b="1" dirty="0"/>
          </a:p>
          <a:p>
            <a:r>
              <a:rPr sz="1600" b="0" dirty="0"/>
              <a:t>Each task declares its dependencies.</a:t>
            </a:r>
          </a:p>
          <a:p>
            <a:r>
              <a:rPr sz="1600" b="0" dirty="0"/>
              <a:t>Rake builds only what is needed.</a:t>
            </a:r>
          </a:p>
          <a:p>
            <a:r>
              <a:rPr sz="1600" b="0" dirty="0" err="1"/>
              <a:t>FileList</a:t>
            </a:r>
            <a:r>
              <a:rPr sz="1600" b="0" dirty="0"/>
              <a:t> auto-detects new source files.</a:t>
            </a:r>
          </a:p>
          <a:p>
            <a:r>
              <a:rPr sz="1600" b="0" dirty="0"/>
              <a:t>task :run =&gt; :compile means run depends on compile</a:t>
            </a:r>
          </a:p>
          <a:p>
            <a:endParaRPr sz="1600" b="0" dirty="0"/>
          </a:p>
          <a:p>
            <a:r>
              <a:rPr sz="1800" b="1" dirty="0" err="1"/>
              <a:t>FileList</a:t>
            </a:r>
            <a:r>
              <a:rPr sz="1800" b="1" dirty="0"/>
              <a:t> globs:</a:t>
            </a:r>
          </a:p>
          <a:p>
            <a:r>
              <a:rPr sz="1600" b="0" dirty="0" err="1">
                <a:solidFill>
                  <a:srgbClr val="000000"/>
                </a:solidFill>
                <a:latin typeface="Courier New"/>
              </a:rPr>
              <a:t>FileList</a:t>
            </a:r>
            <a:r>
              <a:rPr sz="1600" b="0" dirty="0">
                <a:solidFill>
                  <a:srgbClr val="000000"/>
                </a:solidFill>
                <a:latin typeface="Courier New"/>
              </a:rPr>
              <a:t>['</a:t>
            </a:r>
            <a:r>
              <a:rPr sz="1600" b="0" dirty="0" err="1">
                <a:solidFill>
                  <a:srgbClr val="000000"/>
                </a:solidFill>
                <a:latin typeface="Courier New"/>
              </a:rPr>
              <a:t>src</a:t>
            </a:r>
            <a:r>
              <a:rPr sz="1600" b="0" dirty="0">
                <a:solidFill>
                  <a:srgbClr val="000000"/>
                </a:solidFill>
                <a:latin typeface="Courier New"/>
              </a:rPr>
              <a:t>/**/*.java'] collects every .java under </a:t>
            </a:r>
            <a:r>
              <a:rPr sz="1600" b="0" dirty="0" err="1">
                <a:solidFill>
                  <a:srgbClr val="000000"/>
                </a:solidFill>
                <a:latin typeface="Courier New"/>
              </a:rPr>
              <a:t>src</a:t>
            </a:r>
            <a:r>
              <a:rPr sz="1600" b="0" dirty="0">
                <a:solidFill>
                  <a:srgbClr val="000000"/>
                </a:solidFill>
                <a:latin typeface="Courier New"/>
              </a:rPr>
              <a:t>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Rake Task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172" y="1825625"/>
            <a:ext cx="639209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200" b="1" dirty="0"/>
              <a:t>Dependencies in Action</a:t>
            </a:r>
          </a:p>
          <a:p>
            <a:endParaRPr sz="2200" b="1" dirty="0"/>
          </a:p>
          <a:p>
            <a:pPr marL="0" indent="0">
              <a:buNone/>
            </a:pPr>
            <a:r>
              <a:rPr sz="1800" b="0" dirty="0"/>
              <a:t>When you run  rake jar :</a:t>
            </a:r>
          </a:p>
          <a:p>
            <a:endParaRPr sz="1800" b="0" dirty="0"/>
          </a:p>
          <a:p>
            <a:pPr marL="0" indent="0">
              <a:buNone/>
            </a:pPr>
            <a:r>
              <a:rPr sz="1700" b="0" dirty="0">
                <a:latin typeface="Courier New"/>
              </a:rPr>
              <a:t>  rake jar        requires  :compile</a:t>
            </a:r>
          </a:p>
          <a:p>
            <a:pPr marL="0" indent="0">
              <a:buNone/>
            </a:pPr>
            <a:r>
              <a:rPr sz="1700" b="0" dirty="0">
                <a:latin typeface="Courier New"/>
              </a:rPr>
              <a:t>  rake compile    requires  BIN_DIR to exist</a:t>
            </a:r>
          </a:p>
          <a:p>
            <a:pPr marL="0" indent="0">
              <a:buNone/>
            </a:pPr>
            <a:r>
              <a:rPr sz="1700" b="0" dirty="0">
                <a:latin typeface="Courier New"/>
              </a:rPr>
              <a:t>  rake directory  creates   bin/  (only once)</a:t>
            </a:r>
          </a:p>
          <a:p>
            <a:endParaRPr sz="1700" b="0" dirty="0">
              <a:latin typeface="Courier New"/>
            </a:endParaRPr>
          </a:p>
          <a:p>
            <a:pPr marL="0" indent="0">
              <a:buNone/>
            </a:pPr>
            <a:r>
              <a:rPr sz="1800" b="0" dirty="0"/>
              <a:t>Rake traces the dependency graph and executes each</a:t>
            </a:r>
          </a:p>
          <a:p>
            <a:pPr marL="0" indent="0">
              <a:buNone/>
            </a:pPr>
            <a:r>
              <a:rPr sz="1800" b="0" dirty="0"/>
              <a:t>task exactly once, in the correct order.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AF6D0-A115-5126-4D83-6E8297A5F8B8}"/>
              </a:ext>
            </a:extLst>
          </p:cNvPr>
          <p:cNvSpPr txBox="1"/>
          <p:nvPr/>
        </p:nvSpPr>
        <p:spPr>
          <a:xfrm>
            <a:off x="6731726" y="1825625"/>
            <a:ext cx="51032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Advantages of Rake</a:t>
            </a:r>
          </a:p>
          <a:p>
            <a:endParaRPr lang="en-GB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Pure Ruby – any logic can drive your build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Incremental builds: skips tasks already up-to-date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Simpler syntax than Ant XML or 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Makefile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rules</a:t>
            </a:r>
          </a:p>
          <a:p>
            <a:endParaRPr lang="en-GB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Disadvantages of Rake</a:t>
            </a:r>
          </a:p>
          <a:p>
            <a:endParaRPr lang="en-GB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Requires Ruby to be installed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Less common than Gradle/Maven in enterprise Java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Tools: A Goal-Oriented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6111240" cy="44184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200" b="1" dirty="0"/>
              <a:t>Imperative vs Goal-Oriented</a:t>
            </a:r>
          </a:p>
          <a:p>
            <a:pPr marL="0" indent="0">
              <a:buNone/>
            </a:pPr>
            <a:endParaRPr sz="2200" b="1" dirty="0"/>
          </a:p>
          <a:p>
            <a:pPr marL="0" indent="0">
              <a:buNone/>
            </a:pPr>
            <a:r>
              <a:rPr sz="1900" b="1" dirty="0"/>
              <a:t>Imperative (step-by-step):</a:t>
            </a:r>
          </a:p>
          <a:p>
            <a:pPr marL="0" indent="0">
              <a:buNone/>
            </a:pPr>
            <a:r>
              <a:rPr sz="1700" b="0" dirty="0">
                <a:latin typeface="Courier New"/>
              </a:rPr>
              <a:t>  1. Run "</a:t>
            </a:r>
            <a:r>
              <a:rPr sz="1700" b="0" dirty="0" err="1">
                <a:latin typeface="Courier New"/>
              </a:rPr>
              <a:t>javac</a:t>
            </a:r>
            <a:r>
              <a:rPr sz="1700" b="0" dirty="0">
                <a:latin typeface="Courier New"/>
              </a:rPr>
              <a:t>" on every .java file</a:t>
            </a:r>
          </a:p>
          <a:p>
            <a:pPr marL="0" indent="0">
              <a:buNone/>
            </a:pPr>
            <a:r>
              <a:rPr sz="1700" b="0" dirty="0">
                <a:latin typeface="Courier New"/>
              </a:rPr>
              <a:t>  2. Run "jar" to package the class files</a:t>
            </a:r>
          </a:p>
          <a:p>
            <a:pPr marL="0" indent="0">
              <a:buNone/>
            </a:pPr>
            <a:r>
              <a:rPr sz="1700" dirty="0">
                <a:latin typeface="Courier New"/>
              </a:rPr>
              <a:t>  3. Run "java" to start the program</a:t>
            </a:r>
          </a:p>
          <a:p>
            <a:pPr marL="0" indent="0">
              <a:buNone/>
            </a:pPr>
            <a:r>
              <a:rPr sz="1700" b="0" dirty="0"/>
              <a:t>  You specify HOW to achieve the result.</a:t>
            </a:r>
          </a:p>
          <a:p>
            <a:pPr marL="0" indent="0">
              <a:buNone/>
            </a:pPr>
            <a:endParaRPr sz="1700" b="0" dirty="0"/>
          </a:p>
          <a:p>
            <a:pPr marL="0" indent="0">
              <a:buNone/>
            </a:pPr>
            <a:r>
              <a:rPr sz="1900" b="1" dirty="0"/>
              <a:t>Goal-Oriented (declarative):</a:t>
            </a:r>
          </a:p>
          <a:p>
            <a:pPr marL="0" indent="0">
              <a:buNone/>
            </a:pPr>
            <a:r>
              <a:rPr sz="1700" b="0" dirty="0">
                <a:latin typeface="Courier New"/>
              </a:rPr>
              <a:t>  task :run depends on :compile</a:t>
            </a:r>
          </a:p>
          <a:p>
            <a:pPr marL="0" indent="0">
              <a:buNone/>
            </a:pPr>
            <a:r>
              <a:rPr sz="1700" b="0" dirty="0">
                <a:latin typeface="Courier New"/>
              </a:rPr>
              <a:t>  task :compile depends on BIN_DIR existing</a:t>
            </a:r>
          </a:p>
          <a:p>
            <a:pPr marL="0" indent="0">
              <a:buNone/>
            </a:pPr>
            <a:r>
              <a:rPr sz="1700" b="0" dirty="0"/>
              <a:t>  "I want :run – you figure out the steps."</a:t>
            </a:r>
          </a:p>
          <a:p>
            <a:pPr marL="0" indent="0">
              <a:buNone/>
            </a:pPr>
            <a:r>
              <a:rPr sz="1700" b="0" dirty="0"/>
              <a:t>  You specify WHAT you want; the tool resolves the how.</a:t>
            </a:r>
          </a:p>
          <a:p>
            <a:endParaRPr sz="17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12E708-0BE8-0B30-DEEE-16EA79F1740C}"/>
              </a:ext>
            </a:extLst>
          </p:cNvPr>
          <p:cNvSpPr txBox="1"/>
          <p:nvPr/>
        </p:nvSpPr>
        <p:spPr>
          <a:xfrm>
            <a:off x="7149737" y="1898469"/>
            <a:ext cx="478971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This shift mirrors other paradigms:</a:t>
            </a:r>
          </a:p>
          <a:p>
            <a:endParaRPr lang="en-GB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SQL  – describe the data you want, not how to fetch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CSS  – describe how things should look, not how to render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</a:t>
            </a:r>
            <a:r>
              <a:rPr lang="en-GB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Prolog</a:t>
            </a:r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– state facts and rules; query for goals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Goal-Oriented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9382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200" b="1" dirty="0"/>
              <a:t>Core idea</a:t>
            </a:r>
          </a:p>
          <a:p>
            <a:r>
              <a:rPr sz="1800" b="0" dirty="0"/>
              <a:t>Declare goals and their dependencies.</a:t>
            </a:r>
          </a:p>
          <a:p>
            <a:r>
              <a:rPr sz="1800" b="0" dirty="0"/>
              <a:t>The system determines execution order automatically.</a:t>
            </a:r>
          </a:p>
          <a:p>
            <a:endParaRPr sz="1800" b="0" dirty="0"/>
          </a:p>
          <a:p>
            <a:pPr marL="0" indent="0">
              <a:buNone/>
            </a:pPr>
            <a:r>
              <a:rPr sz="2200" b="1" dirty="0"/>
              <a:t>Key properties</a:t>
            </a:r>
          </a:p>
          <a:p>
            <a:r>
              <a:rPr sz="1800" b="0" dirty="0"/>
              <a:t>Idempotent – re-running achieves the same result</a:t>
            </a:r>
          </a:p>
          <a:p>
            <a:r>
              <a:rPr sz="1800" b="0" dirty="0"/>
              <a:t>Minimal work – only rebuild what has changed</a:t>
            </a:r>
          </a:p>
          <a:p>
            <a:r>
              <a:rPr sz="1800" b="0" dirty="0"/>
              <a:t>Composable – goals combine without side-effects</a:t>
            </a:r>
          </a:p>
          <a:p>
            <a:r>
              <a:rPr sz="1800" b="0" dirty="0" err="1"/>
              <a:t>Parallelisable</a:t>
            </a:r>
            <a:r>
              <a:rPr sz="1800" b="0" dirty="0"/>
              <a:t> – independent goals can run concurrently</a:t>
            </a:r>
          </a:p>
          <a:p>
            <a:endParaRPr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47074-85ED-DDB6-2D85-1BAE3A88DC93}"/>
              </a:ext>
            </a:extLst>
          </p:cNvPr>
          <p:cNvSpPr txBox="1"/>
          <p:nvPr/>
        </p:nvSpPr>
        <p:spPr>
          <a:xfrm>
            <a:off x="7088777" y="1898469"/>
            <a:ext cx="4876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Connection to broader CS concepts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Dependency graphs underpin package managers (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npm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pip, Maven)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Logic programming (</a:t>
            </a:r>
            <a:r>
              <a:rPr lang="en-GB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Prolog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 reasons about goals the same way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Dataflow languages evaluate nodes when their inputs are ready</a:t>
            </a:r>
          </a:p>
          <a:p>
            <a:endParaRPr lang="en-GB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GB" sz="2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Takeaway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Build tools teach us to think in goals and dependencies –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powerful mental model beyond software builds.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Build Tool Discussion</a:t>
            </a:r>
            <a:r>
              <a:rPr lang="en-GB" dirty="0"/>
              <a:t> Break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Prompt</a:t>
            </a:r>
            <a:r>
              <a:rPr dirty="0"/>
              <a:t>:</a:t>
            </a:r>
            <a:endParaRPr lang="en-GB" dirty="0"/>
          </a:p>
          <a:p>
            <a:r>
              <a:rPr lang="en-GB" dirty="0"/>
              <a:t>What are the limitations of manually building a project using command line tools?</a:t>
            </a:r>
          </a:p>
          <a:p>
            <a:r>
              <a:rPr lang="en-GB" dirty="0"/>
              <a:t>How can automation improve the development process?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Have a minute to think about this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Discuss with your neighbour for 5 minutes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Then I will ask for ideas from the class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6663264" cy="1162051"/>
          </a:xfrm>
        </p:spPr>
        <p:txBody>
          <a:bodyPr>
            <a:normAutofit/>
          </a:bodyPr>
          <a:lstStyle/>
          <a:p>
            <a:r>
              <a:rPr sz="4400" dirty="0"/>
              <a:t>Introduction to Gradle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8050" y="1670050"/>
            <a:ext cx="6364816" cy="3811588"/>
          </a:xfrm>
        </p:spPr>
        <p:txBody>
          <a:bodyPr>
            <a:normAutofit/>
          </a:bodyPr>
          <a:lstStyle/>
          <a:p>
            <a:r>
              <a:rPr sz="2400" b="1" dirty="0"/>
              <a:t>What is Gradle?</a:t>
            </a:r>
            <a:r>
              <a:rPr lang="en-GB" sz="2400" b="1" dirty="0"/>
              <a:t> </a:t>
            </a:r>
          </a:p>
          <a:p>
            <a:r>
              <a:rPr sz="2400" dirty="0"/>
              <a:t>A modern build tool for managing builds, de</a:t>
            </a:r>
            <a:r>
              <a:rPr lang="en-GB" sz="2400" dirty="0"/>
              <a:t>pe</a:t>
            </a:r>
            <a:r>
              <a:rPr sz="2400" dirty="0" err="1"/>
              <a:t>ndencies</a:t>
            </a:r>
            <a:r>
              <a:rPr sz="2400" dirty="0"/>
              <a:t>, and automation.</a:t>
            </a:r>
            <a:br>
              <a:rPr sz="2400" dirty="0"/>
            </a:br>
            <a:endParaRPr lang="en-GB" sz="2400" dirty="0"/>
          </a:p>
          <a:p>
            <a:r>
              <a:rPr sz="2400" b="1" dirty="0"/>
              <a:t>Key Features</a:t>
            </a:r>
            <a:r>
              <a:rPr sz="2400" dirty="0"/>
              <a:t>:</a:t>
            </a: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Supports multiple programming languages.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Highly customizable with Groovy or Kotlin scripts.</a:t>
            </a:r>
          </a:p>
          <a:p>
            <a:endParaRPr sz="2400" dirty="0"/>
          </a:p>
        </p:txBody>
      </p:sp>
      <p:pic>
        <p:nvPicPr>
          <p:cNvPr id="3" name="Picture 1" descr="data:image/png;base64,iVBORw0KGgoAAAANSUhEUgAAAT0AAAHWCAYAAAAFGF7cAAAAAXNSR0IArs4c6QAAIABJREFUeJzt3X1sI+d9J/AvV6vdri3FCa1Eq63UKtXtOsRZTrOeXMvcIdIdcKSaLAviGtx6hPW5up6l0q4KwuMWLVSA4h8qgsBjELcohFV62BpQdryAixKnvURkLlcpCMC0HqcplBwrOUp1XWXlTRTaCeXY3jfeHzMkhxRFUi/kkHy+H2CBFV+GvyGHX/6eZ2ZIRyaTyYCISBDH7C6AiKieGHpEJBSGHhEJhaFHREJh6BGRUBh6RCSU43YXQPu38X9/geTf/9zuMmz3UEcbhr7wUbvLoCbD0GtCb9++gw8+yODjj3/I7lJsc+f9+/j+t1IMPdo3hl6T+pDzBHo/8bDdZdjmvbQRekT7xTk9IhIKQ4+IhMLQIyKhMPSISCgMPSISCkOPiITC0CMioTD0iEgoDD0iEgrPyGhRqfgkZDVReKEUgjbjg/PIlt+PSEyB6wiWR1Qv7PRamhuKpiMW0xGLLUJBGLJ3EvEGPXsrFZ+E16siaXch1NIYesLogkcJQUICy/r2oZfm9FxGjF0eNSEOb0Xi7EcvgOj6FlLxMGS1H4qyAdUcBkvKImY8XUBqAVNyGHr2fgXD4hXMescQBWB0kpfhyY2XrdeVur7EsNt/FbHAoOXyBIJezbgqoiPAVKUjxtATSWoDmwCkgR7zAg3qcgha7HJ+ni+pwhvUICmLiHm6AGwjPjUC2btmzt8NIhDTEUiq8AY3LMs2ghK5+5kBJ0tYN8MrOSshGDWG3EYQGsueTeoIeC5DA+cJqfY4vBXGNuJqGDpkXDJDCXBDUaw7NrYRn9cAKQQld5vssFjDUpnJtuT1MHT/VaNTNDk9ISgSEF1aAVILmI8C/oi18+uCZ4bdHNUXO72WloAqS1Czf0ohaDEj5Ix9Gf3oK9iVu4V1HZAUd+EeXnNYvHlzG3B1YbcVLEUBYAzeaImre4GUHocON4a6D7lKRIfE0Gtpu+fUasqcnyslFQd2hyxR/XF4SxY9GJAAfTmBgqNazLnA3r5SXV7+ftjcwF5Hwzj7+oEKQ2SiemDokUUXPJdkQA/jei6czLlAKYSLe869mfN+ehjy7Er+4tQCprJ/u54x5veChccJJmfzfzMYqR44vKVCLgWxCOANSvlDT6o5k8Ppw4wGTMmF83p+ZREpAE5zp0XfrISgdZ7RH4JmeeyIX0Mw+9hSCAszPpw4wtUjcmQymYzdRdD+/MPfvoO3t+/jk//hUfuKMA9ZqeucocV76fv436/cxO+G+uv/4NTUOLylA8ge2uKBxB0T1GQ4vKV9sJxxUWZPLVEjY+jRPphnY9hdBtEhcHhLREJh6BGRUBh6RCQUhh4RCYWhR0RCYegRkVB4yEqTeufHH+CH//hzu8uwzZ33HthdAjUphl4T6vrlk3j7x3eQ/sn7tjx+KpXCd7/7XXR1deGJJ56wpQYAeEzqtO2xqXnx3Fvat9dffx2BQACf/exn8fLLL9tdDtG+cE6PiITC0CMioTD0iEgoDD0iEgpDj4iEwtAjIqEw9IhIKAw9IhIKQ4+IhMLQIyKhMPSISCgMPSISCkOPiITC0CMioTD0iEgoDD0iEgpDj4iEwtAjIqEw9IhIKAw9IhIKQ4+IhMLQIyKhMPSISCgMPSISCkOPiITC0CMioTD0iEgoDD0iEgpDj4iEwtAjIqEw9IhIKAw9IhIKQ4+IhMLQIyKhMPSISCiOTCaTsbsIamySJKHazeTRRx9FPB6vcUVEB8dOjyo6deoUAMDhcJT9d+LECUxOTtpcLVF5DD2q6NKlSzh58mTZ22QyGXR2dsLn89WpKqKDYehRRaOjo2hrays7xGWXR82CoUcVdXZ2lu322OVRM2HoUVXKdXvs8qiZMPSoKnt1e+zyqNkw9Khqpbo9dnnUbBh6VLXibo9dHjUjhh7ty+joKI4dO4ZMJsMuj5oSQ4/2pbOzE08//TQcDge7PGpKx+0uoBX9y+ov8NNbd+wuo2Y++at+fOrjP8Xw8DD+4W/fsbucmvrk0IdxjK1BS+G5tzXwDe3H+Nnb9/BIV/mzGKixrf79Oxj/81/D8RMOu0uhI8ROr0Z+xdWJjz/RaXcZdAjr3/2Z3SVQDbBxJyKhMPSISCgMPSISCkOPiITC0CMioTD0iEgoDD0iEgpDj4iEwtCj5pZU4fVOIp4CgG3EpyR4Z1fsrooaGEPPRqn4JKbi21Vf3lBSC5jySphNFl9hBo/X8m9qASk7aiQqgaFno9vrCejLiaJA2Ia+nIC+vmVTVdVJ6XHoUggXXZYLkyq83hGovVcRi+nmv0UoCOP6rnAksgdDzzbbuLkJQI9Dt6ZeKoFlHcDmRgN3Ryu4riYgDbnhzF6UWsBUUAP8VxELDFpu2wXPjI6Aq8RiiGzA0LPNFtZ1AEhgWc8PZVN6HDoA6Gu4nbt095AxN6w0h5nFw+FUfNIy15W/XX4ZKnLNV2oBU95JxFMrmLXcZs8hdjKOKGRc8nQV1e2GcnGw9H2K12V2wbJORXNypdYzp6jG+Y0Kj2eWPFu43IafPqCaYejZJbWBTbihKHLBEPf2egKSEoIfGpbMN3wqHsby0GJuyKgpbkSDZlA4fbjkR9Ew2ezElBA8ThjDTjmM3oieW0bEryFoDUUkoMpxDGeHpREZujpSInSA5JIG+D3IN2/GkBySB5Jz9+1LilrX6TI8zgrrCZjhPIaoPz98VoYqPZARpMHNELTsumkhQB3Bhf/BHR4iYujZ5fYadPSjz+OBPzfEXcFS1I0hyY0BCdi8aXQjTs9lzFi6KqdnHH5Lh+galguHyck4onBjSOoCsI34vAZJWSwYYroCVwuWAQD+iJIPMpcHfuRryFvBUhTwD1fq6Izb5rsya8ACkEJQLOtUzXomr4ehSyFoluGzs6+/fAnJV6DqMiIzvvxQ3OmDoriBv1mqYh2o1fD79GySXNIAKYRuDGLYn8C8vg1PXxxRyQPN2YXbvTB3ZhghkIpPQlYTBcuQsv9xPQNFGoF6fQWewKDZiV01ujxzjlDXR+BVd9ch7b6ogLUGo445RKUQtKrm6AYRiOm4GJ+EXPzYvf0o1RTuvZ5G2EqKu+T99pJc0gAAQa+267r29nP7WBK1CoaeLdLGTgzzje8clqHPJxDv1SANLRpv6gE3sLyBFAZxe1ZCMOqGoulGkGEFs94xbOaW1wXPJRlqMI7kxQ3MR91QtMJOTFIWC7qoAlXvMTGGsdJQqCh4utDXCyBqzEPuJ5SskhXX86BkRGKWLpaExuGtLW5hXQekgR7jT5cHfj0MNZodkprDNj0OPZXtcMz5OcAcvhZxPQNF0hCUw9D94/nbOvvRCxzNITCpBJb1wh0YuYe/GIIEDfMH3kFQaT17MCDtfz26B9wANnCzcXeFU50x9OyQ+ik2AfT2ZcNjEMN+FO4I6D4HCQms3y5+s69gdh7w7wqALkhDbgDF822DCERkIDpWuMcyqe57D2byehh6wQ4MC3OeTFdHis6IMHdyVFRpPc31K1qP1E3r3ttsxxnP7Zl2ekJQpARU2bK3GtuIT1n/JpFweGuHt7egw42h7vxFrmEZ0k3LfJXZoW3eBAJKCMvyGLxRIDdUSwLR4BziFy/nOiOnZxz+ZU/hAcMA4FIQiwDeoHVezw1/ZD9FmzswInvvwHB6LiMmLWAqV2tWNcPLLngqrafnMmJ9asF6SJK7cFUDi1A2RxD0bkDRLsPj7IJnZhGYGimc1/OHoKVw8LE4NS3+GloNfEP7MR45fYo/DNTk/lr9If7r9Mf5a2gthsNbIhIKQ4+IhMLQIyKhMPSISCgMPSISCkOPiITC0CMioTD0iEgoDD0iEgpPQ6uR99L38LOf3LG7DDqEzAOerNSKGHo18KFHj+MH/7iDzdUdu0upibt37yKdTqO9vR2dna17qt2HHj0BB89Aazk895b27fXXX0cgEMBnP/tZvPzyy3aXQ7QvnNMjIqEw9IhIKAw9IhIKQ4+IhMLQIyKhMPSISCgMPSISCkOPiITC0CMioTD0iEgoDD0iEgpDj4iEwtAjIqEw9IhIKAw9IhIKQ4+IhMLQIyKhMPSISCgMPSISCkOPiITC0CMioTD0iEgoDD0iEgpDj4iEwtAjIqEw9IhIKAw9IhIKQ4+IhMLQIyKhMPSISCgMPSISCkOPiITC0CMioTD0iEgoDD0iEoojk8lk7C6CGtunP/1pPHjwoKrbnjp1Ct/61rdqXBHRwR23uwBqfNnPRYfDUfZ2x44dw9NPP12PkogOjMNbqujChQs4efJk2dtkMhmcOHECo6OjdaqK6GAYelTR+Pg47ty5g3IzISdOnMDTTz+Nzs7OOlZGtH8MParozJkzFbu9trY2dnnUFBh6VJVy3V57ezu7PGoaDD2qyl7dXiaTYZdHTYWhR1Ur1e2xy6Nmw9CjqmW7vRMnTuQuO378OLs8aioMPdqX8fFx3L17F5lMhl0eNSWGHu1Ltttra2vjXB41JaHPyPjxv3yA+/d4Ft5+/c7n/hte/+YP4PP5sPOTduz85H27S2o6H+k+gV96mD2HHYQ+9/bq9D/j4Ufa4ThW/vQqoqP0s5/cwb//zx/DwBMP212KkITu9ADgM/+pB6c62uwugwSSiL5ldwlCY39NREJh6BGRUBh6RCQUhh4RCYWhR0RCYegRkVAYekQkFIYeEQmFoXcEkrMSvFMLSNXsEVYw65UwFd+u2SM0pm3EpyR4Z1fsLoRaiPBnZFQttYApOQzd/NMf0RFw2VpRBSuY9Y4hWnRp49dtN/N5819FLDBodzFUA+z0qpCcleCV13AppiMW0xGLLWJgXsJs0u7KquC/atasI6aFsBlk51ReDwYku2ugWmKnV0EqPolgVEYkpiDfIHXBM6OXuVeDcvowowFT8himBhYx4+myu6IGZLy2HrvLoJph6JW1gutqApISQjUjwtvxSchqwvyrOCiNjjFoGW9KSlHwFA2hSy2jeFn7Hq463RiSAHU5gZTHB2elxzWv6/XLiEa1vWvfNZx2Q9Euw+PMX4fIIgbmR6Dm5gh2DyFTBc+hG1Jx11X2Oar2cfaq1XJ50X3KvnZJFd6gZrkyhL+e8aED1IgYeuUk44gC8PdV0RHpYcwPLSIWM26bnJUQnDoHbcYHJ7YRnxqBihC0mDVoRuBdN99c5htHUhYRM99Mqfgk5NkVxALFdakIRq2hsh9d6OsFEF3DbQBO83H9ER0zZngmZyUEvRvG8s17ReFBLKYYfxTXbgYRimuXJaxbQjkaDEPRdMSc2WUUdpxGsLihaLolLBPQe/PrXbZWZxWPkw1Na6glVXjVBUgzPgRiV4GCQKz02gGz5uvGzrk5cE7vqEghKJaNvnvADehGsCD5ClRdRmTGfNMAgNMHRXED0TiS2EZ8XgP8VwveOE7P5d2T6akFTAU1+CMHCbxixuNKymJBt+gKXIUfCSzr+b3F/mFLHQW1A8nrRogU1h6CIgHRpfz8oaSE8jWbHae+vpVbr/koitbLOr9Wfa3lHid5PQxdCkGzPq8uBTHra2NV8bUz5NaDGh47vZrawM0UgCVj6BP0aiVu0w+kEljWAWmop8LythBXw9DhxlD3EZRnPq6uj8Cr7r663Hy+s68fxvqtYD0KAGPwFu8qBoDeEpdZbW4ghUFAj0OHjEt7DdUPUWv+cYClKAB/f+mAKyFZ6bXDIAIRGdHgGLy75n6pETH0yuk+BwnA5s1twHXYoUuZN0RqAQDQW2EYratj6I0sQsEIVHM4tv9mbxs3NwH4PXBhA0Cp+TlrbVUutuwhHke3t7j8MLK6bksaqPThUqxCmLkUxGKKMaT3ShWeC7Ibh7flZIdG6is4zNEp3QNu5Lq+ko/Tj14UDgVLMYZ2XfAoIUh6GOpBDlY2Oyb/8GDucQ8yNDM6oH70Oc0hqNlJHVS+c9zrBgevNc+oVV9OVF1rxdfOWqLnMmIRGYiOYenmIcqkmmLolWUGDDQEvWpB8CVnqz9DwpjfSkCVrcvYRnwq+/cgLipuIDpWuMykWvoxzDklXQ0jvq+kWcGsOYlvzIsZQ7NqHnfzZuH1wSggKc/AhXwIy9bj/1ILmNrP8YAuD/wofo62sJ7bTVt9rXvrgueSDOyj1sqvHTUbDm8rcfowE3MjPjVSNK8jQ4lsIYVqhr1d8MwsAsXL8IegpQA4zS6hT4U3aJ2zkqGUmkqC+WZcHoEqq+grN/SKWufa3Pm9mlkuBbEIih7XDX+kaDnLYXhzh5IUDTMtx/9Z5/X8yiLM1avCIAKxRQwUPEdFh6xUW2s5LgUx7VxRrW4okdAetVZ67Xaf+SIpixju20dNVFfC/xrafxz7Ff4wUDnZ4/R4+tqRSUTfguvTnfw1NJtweEtEQmHoEZFQOKdH5Tl9mIn57K6C6Miw0yMioTD0iEgoDD0iEgpDj4iEwtAjIqEw9IhIKAw9IhKK8MfpLfzFBhx2F1HBgwcZZDIPkMlk0NbWBoej0Suur/v3HyCTeYBjx47B4TiGRn967t/LwPXpTrvLEJbQ594+eACggdf+q1/9Kr785S9ja8v4OqXTp0/jS1/6Es6dO2dzZY3lj//4j/HNb34TANDR0YHPf/7zeOqpp9DTs9/vzaufY8eAhv+0bVFCh16junHjBq5cuVIQdhMTE/D5eGbEXm7duoW5uTncuHEjd9mFCxcwPj6OM2fO2FgZNRqGXoNIp9NYXl5m2B0Sw48qYejZLJ1OQ9M0XLt2DTs7OwCA8+fPY3x8HNKu3z+kamXDb2lpKfe8MvwIYOjZhmFXH+l0GteuXYOmabnneXh4GE899RSfZ0Ex9OqMYWePUuH35JNP4tlnn+XzLhiGXp0w7BoDw48YejVWKuw4t2S/vcLvhRdewGOPPWZzdVRLDL0aYWfXHEqFHz+UWhtDrwaKj7Nj2DU+hp84GHpHiGHX/EqFnyzLGB8fR2cnTx1rBQy9I6DrOl5++WWsra0BYNi1gnQ6DVVVcwc5d3R0YHR0FLIsM/yaHEPvEG7duoVwOIw33ngDAM+gaEXFZ3j09PRgYmICFy5csLkyOiiG3gGk02nMzc1B04xfvO/o6MD4+DhGR0dtroxqZXV1Faqq4jvf+Q4A4Ny5c3jhhRfYzTchht4+aZqGK1eu5OZ7nn32WYyOjnLIIwhd1zE9PY233noLgHF2xwsvvMCdHU2EoVel4nm7oaEhKIrCjV1Q165dw9zcHHZ2dnLzfePj43aXRVVg6FVQPKF9+vRpTE9Pc1hDu7aNnp4ehEIhbhsNjqFXxtLSEqanp3Of5py3o1KK5/t4iEtjY+iVkE6nEQ6HsbS0BIBDWapO8ZB3enoaw8PDdpdFRRh6RYq7O264tB+3bt3C9PQ0u74GxtCzUFU1dxjK0NAQpqenubHSgSwsLEBVVezs7KCnpwcvvfQSv8igQTD0YAxnJyYmsLa2ho6ODiiKwgOM6dBu3boFRVHw5ptvcrtqIMKH3urqKiYmJrCzs4OzZ89ienqan8h0pF566SW8+uqrAIzhrqIoNlckNqFDzxp4HM5SLVmHu0899RRefPFFu0sS1jG7C7CLNfAuXLgAVVUZeFQzPp8PV65cQUdHB1599VUsLCzYXZKwhAy94sCbnp62uyQSwGOPPZYb2obDYQafTYQb3qbTafh8PgYe2WZhYQHhcBgAEAqFuHOjzoTr9LJfFnD+/HkGHtnC5/MhFAoBMA6TSqfTNlckFqFCT9d1vPrqq7mDjons4vP5MDQ0hJ2dnVzXR/UhTOhlTy0DwN89oIYwPT2Njo4OLC0t5U55pNoTJvSuXbuGra0tnD9/nl8aQA2hs7MzN+KYnp7mMLdOhAm97OllHNZSIxkeHsb58+exs7PDbq9OhAi9paWl3BkXHNZSo8nuvWXo1YcwoQeAw1pqSD6fDx0dHVheXsatW7fsLqfltXzopdPp3Dfb8iuiqFFlt012e7XX8qG3uroKwPiqKJ5mRo2KoVc/LXVGhiRJOHXqFNra2nKX3blzBx988AFOnjyJEydO5C7f2dmBrut2lEkESZLQ3t6OkydPAgAymQx2dnbQ1taGhx56qOC277//Pr797W/bUWZLOm53AUfp8ccfx/e+971dlzscDty5cwd37twBYGxgp06dqnd5RDlerxdf//rXcz8lChjb6YMHDwouy2QycDgcdpTYslpqePsHf/AHAIwNpZwTJ07g6aefrkdJRCU9//zzePDgQcVttb29HV6vt05ViaGlQk+SJDz++ONlPxkzmQza2tq4J5dsdebMGXi93oKpmGKZTAb37t3D888/X8fKWl9LhR5QudvLdnncqUF2q9TtZbs8Hlt6tFou9Mp1e+zyqJGU6/bY5dVOy4UesHe3xy6PGs1e3R67vNppydAr1e2xy6NGVKrbY5dXWy0ZesDubo9dHjWq4m6PXV5ttWzoWbs9dnnUyKzdHru82mvZ0APy3V57ezu7PGpo2W6vra2NXV6NlT0j48EDAE18ltr5Tz2JJwY/ifX1dTx1UcaD+827LoADx/Y+pKspNPfzX1unu3sw4v0tfP3rX8dzgef5XJXhcDjgOES7Vvbc26/91Vv45++9i2Mt3Q82hwf3M3hO/Vd2l3FgO+/cw1+FN3C8nadU0cE9eAD82uMPY+R3Tx94GWU7vUwG+Le/cxq95x4+8APQ0bj+5z+wu4RD6/zIcVx4vt/uMqiJba69i1v/dLiv1WcPR0RCYegRkVAYekQkFIYeEQmFoUdEQmHoEZFQGHpEJBSGHhEJpflDL6nC651EPGV3ISuY9UqYim/bXQgRlXHoX0NLxSchq4CiXYbHeRQl1VhShTeomX+4m6duIaxg1juGaNGlkrKIGU+XLRXVRME2mNVg26JZoz+iI+Cyu5ij1fydXtW2EZ+S4J0/By2mIxbTEYuNY11uhC6RCvivmq+PjljsKnrVEXhnV+ytqQYjCn9Ez69npB+qLGE2eXTLP5Tuc5AKLjDfP3a/DkdAmNBLzo5ARQjajA/5D9NBBGIN9OlKJQxi2A8gGkej5EFNuDzwA4guNUioOH2YibVelwfU6ce+k7MSgpYxy+6WuXhYY231txGfGoGql7t/BakFzEcBf8QaeKVvNyWHkX8oGZGYAte+brNVWK//KmKBwYKHKX4+Wm74VgvSOXRn/1/uNUgtYEqOYyjiwXIwe5vs9dbtrHg4WbydWa63DEdVWYKKotesmu2m2tUc6Mn935g6SuSvtGxLxnX98Ps1RHPbUokhcvFQumB73OO9hfx9jPea5Xb6GLzR4nUs89xlr+sNQdkMm7dxQ/6tBLSfFDchxm2Xh17DjKd2X0xR49DLPhmWJyipwhuUsJndaLIbjPXFSKrwqguQZnxAPIzloUXEZowNLBWfhBycxMA+5j9Sehw63BjqLnerbcTVOIY0HTOWFys4dS7/wpgbkKQsIuax1DO7gljAWIquzmFI0xFzAtkwnxrIvkHM5wMhaDFzmakFTMkj8K7vDkcCkFQRjAKS4i54DfwRHTNmqiRnJQS9G8YbDQCQgDrvgRbT4YT5Gk0tQOldw3BMRyD7Osgq+qxhKOVfl1R8ErIsYT2iI+BSEIsA3uDGnqGyZz1VbqPJ2TFE4YYideWXEZURiV02g8Wo0btpBIVBA4b13LZXWHM+NPNNQtEy4uHC92ZOdn2zYdkFz8wiMDUCtbd4O6303Jk3i4axrOTfx0iq0IJx6Clf/jlKJbCsu+H/09p+E09th7fJV6DqgD9ieVJdCiJ+QF9OIAUgeT0MXQpBsz6RLgUxM2icnssFXZDTMw4/EljWj3ovaRc8M9aNtAueSzKgx6GnAGAb8XkN8F8tqudywUYgKSHLMnowIAH6+pbxZ/IVYyOzfro5fVAUNxCNY+eI16hpRcfg9UrGv+AGFE3Pf2jMGx861k7fFbi6a5vwX8o/x07JA0kPY304ux2ary02cDMFpOJzRuAolvt4QlCkSsPN6uspuZpBKbeewc0QtOxUS2oB81E3FM0aRoMIRKzbIwDIGLY8bmHNK7iuJgD/VUttpZZhPAcHVfVzJ4WgWEczrmegSIXPUUqPQ5c8cHUcvJ5q1LTTS93cQPELAwDdA24guobbWMFSFIC/v+ywc1ebDxRNsh6V3e0+4DaLSGBZB6ShnlJ3LG9zAykM4vaS8ckZ9BbvuQMAfs9cjtn1Z1/39duA0UIYr4Guj8Cr7r7bQbeJ2+sJQApBKtgIu9DXi9xrV3L7PGQ9hUPHNeRWU49DRwK6OZQu5C6zREvNKWATgH+4aPTQfQ4SNKzfBjyeEJTlEaiyhOUDTrFUfu7M90tv8Xu8C9KQG+pyAimPD05sQ19OQBoKocaZV585vUqs8xjFjDbfDUXTzQ7KaKc397F8Z18/YL7Qe6fr7jbdGLpsFNyqt++wc28Hn+8RjTP7pgyqGLY8Z2XnQG3YE3+4OdkueJQQluUwgrMey6ih/CEsR7OaXfDM6PBgBbPeEXjV+h4245Q8kNQwrid9CHQnsKzLuDRT+7ntmg5vs2GzVLTbzfh0OIfu7PDPHOruZnSCBUPGZHzXcVwVZfeMzS/svbEk47va9OSSpSNz9qMXh9u71j3gxmGHE2IxAkGChvn4du41yE0XHJHuAXfRkA8AtnFzEyU6FIujqic3xTGHeCr7vjE73H0xR069/XDutb3eXoMONwYK5rcHEYgtQpESUNUy75ESDvzcAYDTh0t+o8aUHofu99SlGajtnJ7rGWNsbw0bc2LamHPJzpuFIVuP/0ktYGp2BbvmxLCC2XnAb72s+xykivMn2bmMMOQp64tqHHs0m8wvJ7ehJVXMQ7ZcNoiLihuIjhWedZFUqz4Lw5jrSECVVcvhF9uIT6mtfTjGYZhvDF0NI54yX8dDvAYlH8KcJ1av57fBVDwMVXdDuWh2XiW3s6OrJ1eDuoCUOe8dDRYeF5icLT5OsPADNLcz5OIg8tvrnOU+K5gNaoB//ADdnDlkLTp0qKoBdAdbAAAVKUlEQVTnrgzXsAxE56AuJ3YPxWvkiIa3idyufCt/REfA3Osje8OFl2cj3aUgpp3DlJzdFQ4AbiiREFK51r9oN3kSiAbnEL94GR6nDzORNXiDFfaAuhTEYh7MescKaoEUgoIV89M2DjkoGZ2kOa+UhIbg/AIuzviMnRZ9qvFYuZWVoZSaoispvxesYF7PH4KWQpmht9hcgavwR8dye1uNPYvW18ANf+QwjzCIQOwq4C3aBq1Dvez2oWYf19wWXUdVjxGg0WAY8mw/YgEdEUgIWt9XkozixS6r0h6Hihg72TQYe1Jzy9h12It1rlxGJLb3YV3Z1yG77RrD+iqeu3JcHvgxhihCUOo051P219C+evUt/PInOvnDQA3g+p//oOl/De2v//smfxjoiGSP02v++eHssXnVzYtmfxjot8YO/mtowpyRQUQNKPkKVN2NIal+B+c3xN5bIhJN9uwY6wHY9cHQI2pCTs9lxDx2V3EYgwjEdARseGQOb4lIKAw9IhIKQ4+IhMLQIyKhMPSISCgMPSISCkOPiIRS9jg9hwP43vJPsfb379SrniP34MF9ZDIZHDvWBofDYXc5QvtF+j7+z/yP7C6jYXFbrezOe/fh7D5xqGWUPff27R/fxfvv3j/UA9jtS1/6ElZXV/FHf/RH+MQnPmF3OQfmcACn+3/J7jIO7MH9DG7/ywd2l9HQWmVbrbVfergNH/lY+4HvX7bTMxZ88IU3gnfvb+LHP19F50fvoefjzRsaze5Ym4PPfwXcVuuDc3pEJBSGHhEJhaFHREJh6BE1iJ0d40dAH3vsMZsraW0tH3rnzp0DkN+giBrV2toaAKCzs9PmSlpby4dedgNaXV21uRIiagQtH3pEzeTs2bN2l9DyWj70svMjW1tH+1upREdJ142fNOPQtvZaPvSyc3pvvPGGzZUQ7S07n5fdXql2Wj70zpw5g9OnT2Nrawu3bt2yuxyikrIfypIk2VxJ62v50APyG9LS0pLNlRCVtry8DAB48sknba6k9QkResPDwwA4xKXGlP0wPn/+POf06kCI0Mt+er7xxhtIp9M2V0NUKLsTI/vhTLUlROh1dnbi/Pnz2NnZwbVr1+wuhygnnU7jxo0bABh69SJE6AHA+Pg4AEDTNHZ71DCuXbuGnZ0dXLhwAWfOnLG7HCEIE3qSJLHbo4aSTqehaRqA/Icy1Z4woQew26PGcuXKFXZ5NhAq9CRJwtDQEHZ2dqCqqt3lkMBWV1fx6quvAmCXV29ChR4AKIqCjo4O3LhxAwsLC3aXQwJKp9OYmJgAADz77LPs8upMuNA7c+YMpqenAQDhcJjfvkJ1NzExgZ2dHQwNDeXCj+pHuNADjEMDXnjhBQDGBsjT06hepqensba2hrNnz+Y+fKm+hAw9ABgdHcWFCxews7ODF198kTs2qOZUVcWNGzfQ0dGB6elpnn1hE2FDDzDm986ePYu1tTWMjo5yqEs1Mz09nTs8ZXp6ml8JbyOhQ6+zsxNzc3M4f/48tra2MDExkTsliOgopNNpvPjii7kO7ytf+QrPvLCZ0KEH5IMvO9T9/d///dwnMtFhrK6uYmJiAktLS+jo6MCVK1fY4TUARyaTydhdRKO4du0aXn75ZQDGzo5QKMR5FzqQhYUFqKqKnZ0dnD17FnNzc9yWGgRDr4iu63jxxRexs7ODjo4OvPTSS/xiR6paOp1GOBzOfV3UU089hRdffNHmqsiKoVdCOp3G9PR07osdZVnG+Pg4P6mprKWlJUxPT+c+MKenpzl/14AYemVcu3YNc3Nz2NnZQU9PDxRF4UZMuxR3d0NDQzwkpYEx9Cq4desWpqen8Z3vfAdA/sBmnjpEgPHlFdkvDujo6ICiKPD5fHaXRWUw9KpknZju6OjA6OgoTxQXmK7r+PKXv5z7CQJ2d82DobcP6XQ6d1Q9APT09CAUCnFHh0CKt4HTp09jenqa20ATYegdgK7rUFUVb775JgDjNzhCoRCHvC0s+4Wf2W867ujogCzL/MKAJsTQOwTrkBcALly4gPHxcYZfi7lx4wauXLmCra0tAHydmx1D75DS6TSuXbsGTdMK5vtkWeb8TpPTdR3hcDgXdufPn8f4+DiHsk2OoXdEbt26hbm5udxcD8OveRXvpOC8XWth6B2x4kNc9rOnV5IkfuFBDVT7vJYKu4mJCR6C0mIYejWi6zrm5uZy4dfT04OJiQlcuHBhz/s8+eSTaG9vxx/+4R9idHS0XqW2rHQ6jc997nN47733yoZecdjxeLvWxtCrsVLh5/P5dg17JUlC9qVwOBz4yle+wm/kOKQvfOELuHnzJu7fv4/jx4/j29/+dsH1pcJOlmWMjo5ySqKFMfTqpDj8iuf8fvM3fxP37t0DAGQyGTz00EP46le/yjffAb300kt47bXXcPfuXTgcDmQymVy4MezExtCrs1Lht7Ozg0wmA4fDkbvdsWPH8MQTT+Av//Iv7Sq1aS0tLeFP/uRPcoGXdezYMXzqU59i2AmOoWcTa/gVBx5gdHvt7e34whe+wK8m2ofV1VX83u/9Ht57772Sz6nD4cDp06fh8/kYdoJi6NlM13VMTEzseoMC+TfpSy+9xG93qUI6ncYzzzyDW7du5aYKirW1teHv/u7v6lwZNRLhvy7ebs8991zJwAOQm4v6sz/7M/5MZRW++MUv4q233toz8ACUvY7EwNCz2f3798te73A4cO/ePUxOTvJnKsu4du0avvGNb+CDDz4oezuHw4HPfOYzdaqKGhFDz0Zut3vPLs/q7t272Nrawhe/+MU6VNV8VldX8fLLL+/acbGXO3fu1KEqalRCzOm9+/P7+J9XfmR3GbscZMjKk9xLa4Xn0vXpD+HXhz9sdxkt77jdBdTDg/sZvP/uAww91VgbOXDa7gJaSHM/lxvfS2PnHc431oMQoQcAbccdeOSjJ+wug6ikUx3Hcf/9u3aXIQTO6RGRUBh6RCQUhh4RCYWhR0RCYegRkVAYekQkFIYeEQmFoUdEQmHoNYqkCq93EvGU3YU0um3EpyR4Z1fsLoSalDBnZFS2glnvGKJFl0rKImY8XbZUdPS2EZ8agVr0GzmttY61YD5vCEGb8cFpdzl0KAy9Yv6riAUGzT9WMOsdgXfdelkLkKxvXnMdl/mG3lsX+noBbNpdBx0FDm/LGsSwH0A0jqTdpdTMIAKxq/DrYcgcMu7JFdAR44dCS2CnVw3pHLqz/08tYEoOIz9ClBGJKXABKDV89Ed0BIwrkZyVEIyWvq6YcVvrsoHcENzSjRYv82BDVSPco9E4koFB8/GKh/tuKNpleJz56zb9MhDV8s+Ff3dHXK6+5KyEIK5CG5iDrCbMWxSvM5CKT1qud0OSiuuvXCsiixiYt7w2VdeK/GsqFXbDZZ/7stsJ2YmhV05SRTAKSIrb2NCTKrxBDf6IjhlrkHk3oGiXIelhqHqpjTsbhpbrkiq8QQmbe4SU62IIUjSMpaQCl7mwVHwOUciIBAZRMM8UM9+IqQVMyQcbjncPuAFs4GYKcMF4w0JZRMysLRWfhCxLWLcEtb55DlpMtwyTx+DdzAZDlfVFx6Aqi4jFunLrFJw6lwsXI1jcUDTdEmIJ6L1m4anqao0Gw1A0HTFn9j5jmBrIPvclXh+sYNYbRly6DM/MIjA1ArX49dxz3XoQV8PQSwQr2Y/D22LRMXi9kvEvuAFF0/NvjHkNkrJY0J25AlfhRwLL+rZ5iREcBZKvQNUBf8QShi4FET+gLydQcoet040hCYguZYec29CXE4DfY4bmK8ab1DrkcvqgKO5DD8eT1403rDWMnZ4QlIJ6AGnIbRnuDSIQkQE9Dj21j/qkEJTc43RBGnID+hpuA0BqAfNRwB/Jdm0A0IMBS6dXda1KKL8M87nV17fMhbwCVXdD0awfVoMIxKyPa32Cqly3zY3Sry3Zip1eMfPTOTukWr8NwAkglcCyDuj6CLzq7rtJMN9syyNQZQnLlg4udXMDgIzhorFN94AbiBpv8N3vrS54LslQg3OIX7wMDxJY1t1QFHNYu6QBAIJercRK9B907QGsYCkKAGPwFu/KBoDeEpdldZ+DBA3rtw9bn/HB0a3HoUPGpT3HhIeoFTBDaRC3lzQAMvqqnLCrvG5d8CghLMthyN64ZahNjYCht4dcgAVVDFuGq5XmzDwzOjzZPaKqMbe0awqqWq5noEgjWNa30bdudjQFb56jmye6vZ4ApBAkJ7AOlJzzyqt2h0f5+o5s59BR1Gqdt61Khefe6cNMzGdMY8gSVIl7xxsFh7d7Mj6tJWiYj28Dzn70wjIkKmsQgdgiFCkBVV0A+voBaFgqepcbQVPuzWZ0e7o6YsxrXcy/sa1zcIdndEzGcNUcPh5gaJbS49DhxkD30dTn7OuvsIyD12rVPeDOD8urvX216+ZSENNCxnxvfLvy7anmGHrlOH245Ad0NYx4ypyzio5hyrrxJtXCv0txPWPMMc0v5N+c5k4S/yXz07/7HKSCucHsfT3wA4DkgWRpE4x5qwRUWbV0TNuIT6n77KC2EZ8aQzQ3t2aGffEhLKkFTBUd0lLwAZBagKomAP84PM4jqs/lgR/Fy9jCem6XaPW1luP0jJd4nL1rPbrnnuzA4W0FrsBV+KNjUGUVfTEFsQjgDVrn9dzwR4z/FR5aARhDICPUsnsAZW84d23BIStOH2Yia8ayC/a+DuKi4gb6iodGXbllFswt+UPQUig1SZinh3fVEbOO05w+zGjAlFw4V+ZXFmFdtLQ5B6/Xsr4Fw8xD1JdjdMwDBcsoOmSlylr3/ziApFyFUnIhldatxJkv/qu5vctkLyF+AjL99j38zV/8CJ8P/KrdpbQI8zg9nr52ZNZe/xnuv38X/87P57PWOLwlIqEw9IhIKJzTowMYRCCmV74ZUQNip0dEQmHoEZFQGHpEJBSGHhEJhaFHREJh6BGRUIQ5ZOWDX9zHd7/xU7vLICrp7bfex+lfOWl3GUIQ4jS0ux88wPcTP7e7jJZx8+ZNvPbaaxgYGMBv//Zv211Oy/ho30n88sApu8toeUJ0eu0nj+HXhz9sdxkt4+7rb+L7P/pfeHTgs/j14f9idzlE+8I5PSISCkOPiITC0CMioTD0iEgoDD0iEgpDj4iEwtAjIqEw9IhIKAw9IhIKQ4+IhMLQIyKhMPSISCgMPSISCkOPiITC0CMioTD0iEgoDD0iEgpDj4iEwtAjIqEw9IhIKAw9IhIKQ4+IhMLQIyKhMPSISCgMPSISCkOPiITC0CMioTD0iEgoDD0iEgpDj4iEwtAjIqEw9IhIKAw9IhIKQ4+IhMLQIyKhODKZTMbuIqix/cZv/Abu3btX1W0/9rGP4Wtf+1qNKyI6OHZ6VNEjjzwCAHA4HHv+A4D29nY899xzdpZKVBFDjyqanJzEyZMnK97uIx/5CHw+Xx0qIjo4hh5V5PP50NHRgb1mQjKZDLs8ahoMPapKpW6PXR41C4YeVWWvbo9dHjUbhh5Vba9uj10eNROGHlWtuNtjl0fNiKFH+1Lc7bHLo2bD0KN9sXZ77PKoGTH0aN8mJyfhcDjY5VFT4mlodbD1w/eRfP3ndpdBFXR8+Dj+jddpdxlUY8ftLkAEqdt3kLp9F7/6eKfdpdAe3t+5j7XvpBl6AmDo1Unnoyfwa5/8kN1l0B7Sqbv4f99P210G1QHn9IhIKAw9IhIKQ4+IhMLQIyKhMPSISCgMPSISCkOPiITC0CMioTD0WlwqPgmvV0Wywu2SsxK8UwtI1aUqIvvwjIxGkVThDWpFF7qhaJfh2ceZUan4JGQV+75fdctNFF4ohaDN+HAUD2Msvx+RmALXESyPaC/s9BqMP6IjFjP+RfwJqHLlLs3K2ddfs9qMEM7WtwgFYcjeScQbtD2stsslsTD0GphrWAawgZv7CRWXgljsaLu80rrgUUKQkMCyvn3opTk9lxFjl0d1wNBrWNuIz2uA5IFkBljJebekCq/ZbRmdjZT7u6ykat7WuP385gFKdPajF4C+vpXrquK5GiRMxc0wTC1gKvdYxeuwgllLHYV1W68rvV4py+N5vRK8syu5y43huIaged0sWz4C5/QaTjQoIWr+3x/REdtH6+P0XIYGY06vnGwg+CM6Ai4A2EZ8agT6fotNbWATgDTQY16gQV0OQYtdzs/zmXOVkrKImKcr91iyd82cvxtEIKYjkFThDW5Ylr2AKTkM5O5n1i1LWDfrTs5KCEaNIbfR2RrLnk3qCOSeC84TUiF2eg3GOqc3vFRl17YvK7iuJiApi2bgAUAX+nr3u5xtxNUwdMi4ZIYS4IaiWHdsZLvVEJTcbbLDYg1LZTqv5PUwdP9VzOTuBzg9ISgSEF1aAVILmI8C/oh1KN8Fz4xuWS+i3djpNTBXYBHK5ghUdQHSzBF9LXsyjijcUKSuyrfdJQFVlpBrJKUQtJgRckYu96OvYC5xC+s6ICnuwj285rB48+Y24CpVxwqWogAwBm+0xNW9QEqPQ4cbQ90HWA0SGkOvoZkdWHQNt+0uBcBBDqE5FP9VxAKDJa9KxYHdIUtUGYe3DW0bNzcBSOdwZA1N9zlISGC9LinagwEJ0JcThTtfzLnA3r69uk3jftjc2PNgaePQnPJDZKJSGHoNLBUPQ9UB/yVjCNk94Ab0OPRcEqxgdtcBzYV2hYPTjSEJiAatc4VmuB65LnguyYAexvVcOJlzgVIIF/ecezPn/fQwZHNvLABj50b2b9czxvxesHDOMzmb/5vBSKVweNtgrHtvswcDZ4eTTs9lRNYlBHPzajIiERlR617PYi4FmrIBOShhU1nEjMeY7O+btS7HDUmq0Qq5FMQigNe6XtWcyeH0YUYDpuTCeT2/sogUACdKrQcAfwi5jwGXgohfQzD72FIICzM+nDjC1aPmw5+ArIPvJ36OzR9+AGnko3aX0rjMQ1bqOmdokU7dxbde28KlP/2V+j841RWHt9QAdh+ITVQrHN6SjVYw6x0zhp5l9tQSHSWGHtnIPBvD7jJIKBzeEpFQGHpEJBSGHhEJhaFHREJh6BGRUBh6RCQUHrJSJ+++cxeb//Su3WXQHt7buWd3CVQnDL06eKSrHQ89fAxbb6btLoXK+Pi/fsjuEqgOeO4tEQmFc3pEJBSGHhEJhaFHREJh6BGRUBh6RCQUhh4RCYWhR0RCYegRkVAYekQkFIYeEQmFoUdEQmHoEZFQGHpEJBSGHhEJhaFHREJh6BGRUP4/H/b+TySv0l8AAAAASUVORK5CYII=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75033" y="704321"/>
            <a:ext cx="3488267" cy="51646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Gradle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sz="3200" b="1" dirty="0"/>
              <a:t>Gradle Example</a:t>
            </a:r>
            <a:endParaRPr lang="en-GB" sz="3200" b="1" dirty="0"/>
          </a:p>
          <a:p>
            <a:pPr marL="0" indent="0">
              <a:buNone/>
            </a:pPr>
            <a:r>
              <a:rPr sz="3200" dirty="0"/>
              <a:t>A simple </a:t>
            </a:r>
            <a:r>
              <a:rPr sz="3200" dirty="0" err="1">
                <a:latin typeface="Courier"/>
              </a:rPr>
              <a:t>build.gradle</a:t>
            </a:r>
            <a:r>
              <a:rPr sz="3200" dirty="0"/>
              <a:t> file</a:t>
            </a:r>
            <a:r>
              <a:rPr lang="en-GB" sz="3200"/>
              <a:t>  (using Groovy language)</a:t>
            </a:r>
            <a:r>
              <a:rPr sz="3200"/>
              <a:t>:</a:t>
            </a:r>
            <a:endParaRPr lang="en-GB" sz="3200" dirty="0"/>
          </a:p>
          <a:p>
            <a:pPr marL="0" indent="0">
              <a:buNone/>
            </a:pPr>
            <a:br>
              <a:rPr dirty="0"/>
            </a:b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plugins {</a:t>
            </a: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id 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'java'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repositories {</a:t>
            </a: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mavenCentral</a:t>
            </a: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dependencies {</a:t>
            </a: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testImplementation</a:t>
            </a: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'org.junit.jupiter:junit-jupiter:5.7.0'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Gradle Build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Running a Gradle Build</a:t>
            </a:r>
            <a:br>
              <a:rPr dirty="0"/>
            </a:br>
            <a:r>
              <a:rPr dirty="0"/>
              <a:t>1. Install Gradle.</a:t>
            </a:r>
            <a:br>
              <a:rPr dirty="0"/>
            </a:br>
            <a:r>
              <a:rPr dirty="0"/>
              <a:t>2. Navigate to your project directory.</a:t>
            </a:r>
            <a:br>
              <a:rPr dirty="0"/>
            </a:br>
            <a:r>
              <a:rPr dirty="0"/>
              <a:t>3. Run commands:</a:t>
            </a:r>
            <a:br>
              <a:rPr dirty="0"/>
            </a:br>
            <a:r>
              <a:rPr dirty="0"/>
              <a:t>- </a:t>
            </a:r>
            <a:r>
              <a:rPr dirty="0" err="1">
                <a:latin typeface="Courier"/>
              </a:rPr>
              <a:t>gradle</a:t>
            </a:r>
            <a:r>
              <a:rPr dirty="0">
                <a:latin typeface="Courier"/>
              </a:rPr>
              <a:t> build</a:t>
            </a:r>
            <a:r>
              <a:rPr dirty="0"/>
              <a:t> (build the project).</a:t>
            </a:r>
            <a:br>
              <a:rPr dirty="0"/>
            </a:br>
            <a:r>
              <a:rPr dirty="0"/>
              <a:t>- </a:t>
            </a:r>
            <a:r>
              <a:rPr dirty="0" err="1">
                <a:latin typeface="Courier"/>
              </a:rPr>
              <a:t>gradle</a:t>
            </a:r>
            <a:r>
              <a:rPr dirty="0">
                <a:latin typeface="Courier"/>
              </a:rPr>
              <a:t> test</a:t>
            </a:r>
            <a:r>
              <a:rPr dirty="0"/>
              <a:t> (run tests).</a:t>
            </a:r>
            <a:br>
              <a:rPr dirty="0"/>
            </a:br>
            <a:r>
              <a:rPr dirty="0"/>
              <a:t>- </a:t>
            </a:r>
            <a:r>
              <a:rPr dirty="0" err="1">
                <a:latin typeface="Courier"/>
              </a:rPr>
              <a:t>gradle</a:t>
            </a:r>
            <a:r>
              <a:rPr dirty="0">
                <a:latin typeface="Courier"/>
              </a:rPr>
              <a:t> clean</a:t>
            </a:r>
            <a:r>
              <a:rPr dirty="0"/>
              <a:t> (clean build files).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Benefits </a:t>
            </a:r>
            <a:r>
              <a:rPr lang="en-GB" dirty="0"/>
              <a:t>and Limitations </a:t>
            </a:r>
            <a:r>
              <a:rPr dirty="0"/>
              <a:t>of Gradle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Advantages of Gradle</a:t>
            </a:r>
            <a:br>
              <a:rPr dirty="0"/>
            </a:br>
            <a:r>
              <a:rPr dirty="0"/>
              <a:t>1. Faster builds with incremental compilation.</a:t>
            </a:r>
            <a:br>
              <a:rPr dirty="0"/>
            </a:br>
            <a:r>
              <a:rPr dirty="0"/>
              <a:t>2. Flexible scripting with Groovy or Kotlin.</a:t>
            </a:r>
            <a:br>
              <a:rPr dirty="0"/>
            </a:br>
            <a:r>
              <a:rPr dirty="0"/>
              <a:t>3. Built-in support for dependency management.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Challenges of Gradle</a:t>
            </a:r>
            <a:br>
              <a:rPr lang="en-GB" dirty="0"/>
            </a:br>
            <a:r>
              <a:rPr lang="en-GB" dirty="0"/>
              <a:t>1. Steeper learning curve for beginners.</a:t>
            </a:r>
            <a:br>
              <a:rPr lang="en-GB" dirty="0"/>
            </a:br>
            <a:r>
              <a:rPr lang="en-GB" dirty="0"/>
              <a:t>2. Requires a configuration file (</a:t>
            </a:r>
            <a:r>
              <a:rPr lang="en-GB" dirty="0" err="1">
                <a:latin typeface="Courier"/>
              </a:rPr>
              <a:t>build.gradle</a:t>
            </a:r>
            <a:r>
              <a:rPr lang="en-GB" dirty="0"/>
              <a:t>).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What is Maven?</a:t>
            </a:r>
            <a:br>
              <a:rPr dirty="0"/>
            </a:br>
            <a:r>
              <a:rPr dirty="0"/>
              <a:t>A popular dependency and project management tool for Java.</a:t>
            </a:r>
            <a:br>
              <a:rPr dirty="0"/>
            </a:br>
            <a:endParaRPr lang="en-GB" dirty="0"/>
          </a:p>
          <a:p>
            <a:pPr marL="0" indent="0">
              <a:buNone/>
            </a:pPr>
            <a:r>
              <a:rPr b="1" dirty="0"/>
              <a:t>Key Features</a:t>
            </a:r>
            <a:r>
              <a:rPr dirty="0"/>
              <a:t>:</a:t>
            </a:r>
            <a:endParaRPr lang="en-GB" dirty="0"/>
          </a:p>
          <a:p>
            <a:r>
              <a:rPr lang="en-GB" dirty="0"/>
              <a:t>Uses an XML file (</a:t>
            </a:r>
            <a:r>
              <a:rPr lang="en-GB" dirty="0">
                <a:latin typeface="Courier"/>
              </a:rPr>
              <a:t>pom.xml</a:t>
            </a:r>
            <a:r>
              <a:rPr lang="en-GB" dirty="0"/>
              <a:t>) for configuration.</a:t>
            </a:r>
          </a:p>
          <a:p>
            <a:r>
              <a:rPr dirty="0"/>
              <a:t>Simplifies dependency management with Maven Central.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Maven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sz="3800" b="1" dirty="0"/>
              <a:t>Maven Example</a:t>
            </a:r>
            <a:endParaRPr lang="en-GB" sz="3800" b="1" dirty="0"/>
          </a:p>
          <a:p>
            <a:pPr marL="0" indent="0">
              <a:buNone/>
            </a:pPr>
            <a:r>
              <a:rPr sz="3800" dirty="0"/>
              <a:t>A simple </a:t>
            </a:r>
            <a:r>
              <a:rPr sz="3800" dirty="0">
                <a:latin typeface="Courier"/>
              </a:rPr>
              <a:t>pom.xml</a:t>
            </a:r>
            <a:r>
              <a:rPr sz="3800" dirty="0"/>
              <a:t>:</a:t>
            </a:r>
            <a:endParaRPr lang="en-GB" sz="3800" dirty="0"/>
          </a:p>
          <a:p>
            <a:pPr marL="0" indent="0">
              <a:buNone/>
            </a:pPr>
            <a:br>
              <a:rPr dirty="0"/>
            </a:b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&lt;project&gt;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modelVersion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4.0.0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GB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modelVersion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com.example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GB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my-program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GB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1.0.0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&lt;dependencies&gt;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org.junit.jupiter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GB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junit-jupiter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GB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5.7.0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&lt;/dependencies&gt;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&lt;/project&gt;</a:t>
            </a: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Maven Build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Running a Maven Build</a:t>
            </a:r>
            <a:br/>
            <a:r>
              <a:t>1. Install Maven.</a:t>
            </a:r>
            <a:br/>
            <a:r>
              <a:t>2. Navigate to your project directory.</a:t>
            </a:r>
            <a:br/>
            <a:r>
              <a:t>3. Run commands:</a:t>
            </a:r>
            <a:br/>
            <a:r>
              <a:t>- </a:t>
            </a:r>
            <a:r>
              <a:rPr>
                <a:latin typeface="Courier"/>
              </a:rPr>
              <a:t>mvn compile</a:t>
            </a:r>
            <a:r>
              <a:t> (compile the project).</a:t>
            </a:r>
            <a:br/>
            <a:r>
              <a:t>- </a:t>
            </a:r>
            <a:r>
              <a:rPr>
                <a:latin typeface="Courier"/>
              </a:rPr>
              <a:t>mvn test</a:t>
            </a:r>
            <a:r>
              <a:t> (run tests).</a:t>
            </a:r>
            <a:br/>
            <a:r>
              <a:t>- </a:t>
            </a:r>
            <a:r>
              <a:rPr>
                <a:latin typeface="Courier"/>
              </a:rPr>
              <a:t>mvn package</a:t>
            </a:r>
            <a:r>
              <a:t> (create a distributable JAR file).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Benefits </a:t>
            </a:r>
            <a:r>
              <a:rPr lang="en-GB" dirty="0"/>
              <a:t>and Limitations </a:t>
            </a:r>
            <a:r>
              <a:rPr dirty="0"/>
              <a:t>of 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Advantages of Maven</a:t>
            </a:r>
            <a:br>
              <a:rPr dirty="0"/>
            </a:br>
            <a:r>
              <a:rPr dirty="0"/>
              <a:t>1. Standardized project structure.</a:t>
            </a:r>
            <a:br>
              <a:rPr dirty="0"/>
            </a:br>
            <a:r>
              <a:rPr dirty="0"/>
              <a:t>2. Large ecosystem of plugins and dependencies.</a:t>
            </a:r>
            <a:br>
              <a:rPr dirty="0"/>
            </a:br>
            <a:r>
              <a:rPr dirty="0"/>
              <a:t>3. Integration with many IDEs.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Challenges of Maven</a:t>
            </a:r>
            <a:br>
              <a:rPr lang="en-GB" dirty="0"/>
            </a:br>
            <a:r>
              <a:rPr lang="en-GB" dirty="0"/>
              <a:t>1. Verbose XML configuration.</a:t>
            </a:r>
            <a:br>
              <a:rPr lang="en-GB" dirty="0"/>
            </a:br>
            <a:r>
              <a:rPr lang="en-GB" dirty="0"/>
              <a:t>2. Less flexible than Gradle.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14" y="137583"/>
            <a:ext cx="6854611" cy="1054524"/>
          </a:xfrm>
        </p:spPr>
        <p:txBody>
          <a:bodyPr>
            <a:normAutofit/>
          </a:bodyPr>
          <a:lstStyle/>
          <a:p>
            <a:r>
              <a:rPr sz="4400" dirty="0"/>
              <a:t>Build Tools</a:t>
            </a:r>
            <a:r>
              <a:rPr lang="en-GB" sz="4400" dirty="0"/>
              <a:t> </a:t>
            </a:r>
            <a:r>
              <a:rPr sz="4400" dirty="0"/>
              <a:t> Comparison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320921"/>
              </p:ext>
            </p:extLst>
          </p:nvPr>
        </p:nvGraphicFramePr>
        <p:xfrm>
          <a:off x="1951308" y="1350433"/>
          <a:ext cx="8289383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0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Tool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Strengths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Weaknesses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CLI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Simple, lightweight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Tedious for large projects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Batch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Automates repetitive CLI tasks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dirty="0"/>
                        <a:t>Limited functionality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Makefiles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Widely used, simple for small builds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Complex syntax for larger projects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Gradle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Flexible, fast, modern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Steeper learning curve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Maven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dirty="0"/>
                        <a:t>Standardized, integrates with IDEs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dirty="0"/>
                        <a:t>Verbose XML syntax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540406"/>
          </a:xfrm>
        </p:spPr>
        <p:txBody>
          <a:bodyPr>
            <a:normAutofit/>
          </a:bodyPr>
          <a:lstStyle/>
          <a:p>
            <a:r>
              <a:rPr sz="4800" dirty="0"/>
              <a:t>Choosing the Right Build Tool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402772" cy="3811588"/>
          </a:xfrm>
        </p:spPr>
        <p:txBody>
          <a:bodyPr>
            <a:normAutofit/>
          </a:bodyPr>
          <a:lstStyle/>
          <a:p>
            <a:r>
              <a:rPr sz="2800" dirty="0"/>
              <a:t>When to Use Each Tool</a:t>
            </a:r>
            <a:r>
              <a:rPr lang="en-GB" sz="2800" dirty="0"/>
              <a:t>?</a:t>
            </a:r>
            <a:endParaRPr sz="2800" dirty="0"/>
          </a:p>
        </p:txBody>
      </p:sp>
      <p:pic>
        <p:nvPicPr>
          <p:cNvPr id="3" name="Picture 1" descr="data:image/png;base64,iVBORw0KGgoAAAANSUhEUgAAAfoAAAMKCAYAAABtGIZ5AAAAAXNSR0IArs4c6QAAIABJREFUeJzs3XtcVHX+P/AXV8VrIIkaJElb4FezpamkNmnLZWzJlbbMprC0b0uRouB4XUIiY7s5immLqaUmhm7fWvgau0JW4reW8jeyJbWQqy4lpSRCqSjKZX5/zJxhhusMzJzPzJnX8/Hw8RCYOec9c87M63wu5xwvg8FgABERESmSt+gCiIiIyHkY9ERERArGoCciIlIwBj0REZGCMeiJiIgUjEFPRESkYL6iCyDq6Nt/XcC/vzwvugyiLg0f4Yub44JEl0FkMwY9uZzT31/CuYZWhEUNFl0KkZXGn1tw7HAjg57cCoOeXFLgqAG45oZhossgstJQexknjzaKLoPILhyjJyIiUjAGPRERkYIx6ImIiBSMQU9ERKRgDHoiIiIFY9ATEREpGIOeiIhIwRj0RERECsagJyIiUjBeGY/cU6UO6tT8Dr/UIKdYiyiHLb8a2vz1EHG10/qSFGh0ZR1+68DXZ3ctEPZeEFH/sEVPbi0hR4/iYuO/nIR8pKpVyK0UXVV3KpCrViG9pM7Gx8dAm9/++vK11UhVp6Ck3qlFdhIUFi7vCp3C3veeSDkY9KQYUclbkQCgYH+FAxamRXGxa7Vgg1RxUKEMpXqZw8oF3wsish2DnhRkNCJUAGqqUV+pg1qdgpISHdRqlfFfrukAoH4P0qXfqVVQp+9BeyO5DiXp7X/r2DtQmWvxvC5biMaWY/tjpBZ4BXLVc1EAQK+b1sV6bRcaFmx7PR1fa64OuRavqzK3izqk967e2G1v/Tqk3+lQYv6b5Xq7e/3tf8uttHyM9Pee3/d6i3VZbUvza0xBSb31uq1r6ua97/j+qHVw2Q4hoj7iGD0pyEkc0wNICEcQjgAog04Xjpxiffu4tmlsX6Xdi+K4YBgDZho06iOm8e9gxGXrEVe/B+maLItlGx+nQybyi6cjCDCGhGYa1Me2ojh5ounnLOgTTD9L69PtgSp7OpKLtwLquajR7kV2XDDsU4cSXRb00CAxysZ6Or1WUz0FQIKNaw2KW498GMforeVDV5qJ/OL1MDf0pffMYn31JSnQaFQ4lqNHsmkjFKSWIKdYj2SpHo0O0ALQ6lEcZDz4SE1NQYRpTkBlrgqpBRrkFK83bUdjcKtrMpGfbXrtKINOE2693NRpyA3TIzlqYjfvvek9tdxeRArEFj0pRmXuXBQgBtpZ7V/aCTmWk9fqUJKXD6gyoTV/2QcjTpsJFfKxv6emXOV26PQa5JiDBUDQdGi1MUBBCSoBVO7Ogl6ViXzL0IjSotjyOXYpg04jtTSnQRe6FcXSZLxe6+nqtQIIuQ6qPtXSUQy0WuvXVbnbGJqWBzFBcZnQqqyHU1Tax9q3SVQcEpCPUjxmHhqImpUJFcpwrBZA/R7kFcRAm2+5HSciOUcD6Eugt+iKsNrWUXFIAFBzwoZhjprqPvWsELkLtujJrRWkqlBg/sliVnotAMQgIsTy0cYWv0obYx28QeEIhSkUorpuaVfuN87wT1V3nOkPAOEAKrC/AKbeBEeJMc10N3U911SjHhMRZFM93bxWhwlHmNWCTa8fc6Eu6OLhoX1bS72+BHqUQa9RoVOnAmJ6fb7+2EkA3fWeGA/ySjVZ0KhLeFYBKRaDntxagkWXsPP1dHpbBfYDUEWMdsJ6jS3YgtQs6EpiLFrMvdcjux67wfs6STKm5xDuT3M8aDqyi6ebhhBU0KkshwOIlIFd9+RBjJP19KVl1tlQX40aWE9y6ygkIgZANU50GyrdLNtRorTISQD0uu2odIV6ulmfo7vBjaf2mbrxnSlKi+L8TKj0WdDxFDxSGAY9eZBgxCVqAH0WdpvH400TslSZmNVDz4BxrLkMOo3lrOw6lKRLP7cvW9NxRrj55/6Fr3HsOh+puRV21WMVXLVHoLdYZkhETIex7grkdroQkS1Mcx16fP19YDrAKUi1vn5AZa691xOQ+8CHyHWw6548S5QWxTmA2nJs36bu2mDEZe8F0qdZj4snZCK/HkCQadn51yFdYzlOHQNtTiaMD7EcEzbO6Ldr6CFoOrTaEmh0c5EesRfZttSTA6hTp0EtDXCrYqwm4wXFrUfOMRVSzWPgGuTkaFCQWm1jUdb1Zeejw+sHErR7IZXUF1HJeuTAskYAKg1y7FpKV+/9XkTkTYPO8sgnYWv7GQpECuFlMBgMoosgsqT/oAHnzxkwMVbgSKnpVLFQWecAyECpr0smDbWXof9bLR5aHCa6FCKbseueqAuVu43nrN/JMCQiN8eueyIz00Vo9DB25xdz9jURuT8GPZGZ6ap4ostwJul0MiLyGOy6JyIiUjAGPRERkYIx6ImIiBSMQU9ERKRgDHoiIiIFY9ATEREpGE+vI5fUfLkNF8+1iC6DyMqlC62iSyCyG4OeXM6AAG/UVP2Mmqrzoktxe21tbWhuboa3txf8/PxFl6MIwVfxfST3wmvdEymYXq/HU089hejoaGzatEl0OUQkAMfoiYiIFIxBT0REpGAMeiIiIgVj0BMRESkYg56IiEjBGPREREQKxqAnIiJSMAY9ERGRgjHoiYiIFIxBT0REpGAMeiIiIgVj0BMRESkYg56IiEjBGPREREQKxqAnIiJSMAY9ERGRgjHoiYiIFIxBT0REpGAMeiIiIgVj0BMRESkYg56IiEjBGPREREQKxqAnIiJSMAY9ERGRgjHoiYiIFIxBT0REpGAMeiIiIgVj0BMRESkYg56IiEjBGPREREQKxqAnIiJSMAY9kYJdf/31oksgIsEY9EQKNnToUNElEJFgDHoiD3DkyBHRJRCRIAx6Ig9w/vx50SUQkSAMeiIiIgXzMhgMBtFFEJFjqFQq2PqR9vLygl6vd3JFRCQaW/REChIcHAzAGOI9/fPz84NarRZcLRHJgUFPpCDz5s2Dn59fj616g8GAlpYWzJs3T8bKiEgUBj2RgkyfPh2RkZE9PkZqzY8ZM0amqohIJAY9kcLMnz+/21a91Jq/7777BFRGRCIw6IkURqVSITIyEl5eXp3+5uXlhQkTJkClUgmojIhEYNATKdD8+fMBwKpVL/1f+hsReQYGPZECqVQqTJo0CX5+fla/Z2ueyPMw6IkUatWqVWhpaYHBYIDBYICfnx9b80QeiEFPpFBjxoyBWq02t+oDAwPZmifyQAx6IgWbN28eWlpa4Ovri6efflp0OUQkAIOeSMHGjBmDWXHpGD3yGkyfPl10OUQkgK/oAojIef725kmop8dh0KWJokshIkHYoidSqKI3TiI0ahiuum4wHvrjtXhNe1R0SUQkAIOeSIEsQ17CsCfyTAx6IoWRQj70+sGd/sawJ/I8DHoiBekp5CUMeyLPwqAnUghbQl7CsCfyHAx6IgWwJ+QlDHsiz8CgJ3JzfQl5CcOeSPkY9ERurD8hL2HYEykbg57ITTki5CUMeyLlYtATuSFHhryEYU+kTAx6IjfjjJCXMOyJlIdBT+RGnBnyEoY9kbIw6InchBwhL2HYEykHg57IDcgZ8hKGPZEyMOiJXJyIkJcw7IncH4OeyIWJDHkJw57IvTHoiVyUK4S8hGFP5L4Y9EQuyJVCXsKwJ3JPDHoiF+OKIS9h2BO5HwY9kQtx5ZCXMOyJ3AuDnshFuEPISxj2RO6DQU/kAtwp5CUMeyL3wKAnEswdQ17CsCdyfQx6IoHcOeQlDHsi18agJxJECSEvYdgTuS4GPZEASgp5CcOeyDUx6IlkpsSQlzDsiVwPg55IRkoOeQnDnsi1MOiJZOIJIS9h2BO5DgY9kQw8KeQlDHsi18CgJ3IyTwx5CcOeSDwGPZETeXLISxj2RGIx6ImchCHfjmFPJA6DnsgJGPKdMeyJxGDQEzkYQ757DHsi+THoiRyIId87hj2RvBj0RA7CkLcdw55IPgx6IgdgyNuPYU8kDwY9UT8x5PuOYU/kfAx6on5gyPcfw57IuRj0RH3EkHcchj2R8zDoifqAIe94DHsi52DQE9mJIe88DHsix2PQE9mBIe98DHsix2LQE9mIIS8fhj2R4zDoiWzAkJcfw57IMRj0RL1gyIvDsCfqPwY9UQ8Y8uIx7In6h0FP1A2GvOtg2BP1HYOeqAsMedfDsCfqGwY9UQd/e5Mh76oY9kT2Y9ATWWDIuz6GPZF9GPREJlLIX3UdQ97VMeyJbMegJwJD3h0x7Ilsw6Anj8eQd18Me6LeMejJozHk3R/DnqhnDHryWAx55WDYE3WPQU8eiSGvPAx7oq4x6MnjMOSVi2FP1BmDnjwKQ175GPZE1hj05DEY8p6DYU/UzstgMBhEF0HkbAx5V1WHkvRp0Omln2OgzV+PuCDHLH3Xn45inu5axyyMyE0x6EnxHB/yFchVz0VBh98m5OiRHOWI5ZvCL3QripMnOmKBdqvMVSHV6gVqkFOshfHlmV5/goPqq69DfVAwggDUl6RAowtHfrEWDsp6hj15PHbdk6I5tSWfsBXFxXrjvxwNClJVUOdWOH49DlGHknTb6qsvSUFqQQy0+abXlp8JVUIc2o9hRiNC5cDSTCEPAEGqOKhQjcbLjls8u/HJ0zHoSbFk7a6P0iInAUBBCSr7vbBgxGXrBbXm66AvLQMSktq7z4OmI9uqFufVV68vgb73h9mNYU+ezFd0AUTOIGJMPiQiBkA1TtRXYL9mLmq0mQjVZZm6+Nu7vjt2i1t1+VfqoE7NN/5flYn87OntXdj1e5CuybIIQsvudNPTOyxbpd2L7Di0j4Pr50Jd0PVzrdRUox4Tu+g+txi2SNiK4uTRHcbYLVmsw4baUb8HOl0ZkLAVYf7dFdZ3UtizG588DVv0pDiiJt7VHisDEI4wUzrqdVlAjqn7u1iLKFP3eWqBBjkduvzTS+qMT4rSorhYb+wdsFSpg1qThVDz8vTISchHqjoFJfUAulp28VaE6rJQUh+MuOy90KpgMdzQXcgHIy5RA+izoDEv29JEJBdvRYLl47Pbayou1iNfGwMASMgxraPX2k3167KgV2Ui34k9GWzZkydi0JOiFL91Cr+4JUj+2fWVOqQWACrtY+0BmrDVenJe5Xbo9BYBCJi7/PWlZeiUqWZ1KMnLh0q712p5UclbkYAylOrrTMuOgTbfMsAnIrm4DzPYo7TGcXmUQadRQd1l4HfDolVurNWG2gFT/RrkWPZgOMlDf7wW7274HucaWpy8JiLXwK57UpSpj4TgjYz/4H7tOOevrEDqBjdq74I/CQBQRYy2enj9iWoAGtzZoSkdEhEDFBxBLdB1yNWXoVQP6PXToNZ1/rMKQOX+fAAac29CvwVNR3bxdEhd9TpNCtDraW+mVjk0yJFa5TbUDqn+hK3dDyU40MGiWoy/ZSiGBvLrjzwD93RSFB8fL8zJCMe2VcedH/aOOr3MRsbx9uAu/1aZC0B1HUIcvtaJSM7PRI0mC6X6OsR1s35jDdO66FUw6ql2wHSwc8xBJffgYFEtwiMDEHXLMOevjMhFsOueFMc/wBtzMsLxru646FKsBIWFA8jH/g7T8muPlfUc0kHhCAWgP3ay22WHRMQA+hLobe1it4dp/T0yD11kWrf6bagdAILi1jv9oIkhT56KQU+K5JJhH/UYtCqgIG9P+3i8KSATEnsam56I5BwNUDC3fdKe6bnSz0FxSUhAGXQancXpfXUoSZd+DkZYKGw6/a++JAW5Fg+qzJ2LAsQgVtVdi7wCuan5gCoT2k6t9t5rN65DBbVaZf0YB2LIkydj1z0plhT2snTj28Q4+x3p06BRZ5l/a9MV9aK0KM4B1KmWY90xSMiR/j8RycV7EZE+DanqfPPTVNqt0NYDCDJNgCuYa/57193pxvPoC/Qqiyv/9XQqXh1K0k2n2+mzrF6X+XK2vdbuXAx58nS8BC4p3uWLbdi2qtpFwt42lbkqpNZ0OI+e7MaQJ2LXPXkAl+zG70n9HuQVAKrYGIZ8PzDkiYzYoieP4fIte4ur4jnuBjmeiSFP1I5BTx7F5cOe+o0hT2SNXffkUdyuG5/swpAn6oxBTx6HYa9MDHmirjHoySMx7JWFIU/UPQY9eSyGvTIw5Il6xqAnj8awd28MeaLeMejJ4zHs3RNDnsg2DHoiMOzdDUOeyHYMeiIThr17YMgT2YdBT2SBYe/aGPJE9mPQE3XgH+CNOSsZ9q6GIU/UNwx6oi74D2TYuxKGPFHfMeiJusGwdw0MeaL+YdAT9YBhLxZDnqj/GPREvWDYi8GQJ3IMBj2RDRj28mLIEzkOg57IRgx7eTDkiRyLQU9kB4a9czHkiRyPQU9kJyns33nlqOhSFIUhT+QcDHoiO509exbPPb8S2z+ei7+8/G/R5SgCQ57IeRj0RHb44IMPcP/992Pv3r1obr2IYRPK2Y3fTwx5IufyFV0AkTuor69HVlYWPv30UwDAhAkT8Nxzz+Hqq6/G5aY2bHvuOO7XjhNcpfs5WFSLZp8a/NzWDGCy6HKIFMnLYDAYRBdB5Mref/99rFmzBmfPnsWgQYMwf/58zJw5E15eXubHGMO+mmFvh4NFtQgOa0Naxkw0NTUhKSkJSUlJossiUhwGPVE36urqkJ6ejkOHDgEAbr31VmRlZSE4OLjLxzPsbWfZXb93715kZWWhubkZt9xyC1544QUMHz5cdIlEisGgJ+rCu+++i3Xr1uHChQsIDAzEkiVLEBcX1+vzGPa962pM/ujRo1i0aBF++OEHXHnllVi7di0iIyMFVkmkHAx6IgsnT55ERkYGvvjiCwDAvffei0WLFmHYMNsnijHsu9fTxLvGxkasWLEC//jHP+Dn5wetVosHHnhAQJVEysKgJwJgMBjw9ttvIzc3F01NTRg1ahSeffZZqFSqPi3vclMbtmZV44HFDHuJrbPrt23bhj//+c9oa2uDWq1GRkYGBg4cKFOVRMrDoCeP99133yE9PR2VlZXw9vbGww8/jKeeeqrf4XL5Uhu2PsuwB+w/he7QoUNYtmwZfvrpJ4SHh2PdunW46qqrnFwlkTIx6Mljtba2Yvv27di8eTOam5sRERGB5557Dtdff73D1sGw7/t58nV1ddBqtfj6668xaNAgrFq1CrGxsU6qkki5GPTkkY4ePYr09HQcO3YM/v7+SEpKwuzZs+Hj4+PwdXly2Pf3YjgtLS1Yt24d8vPzAQCJiYlISUlxynYiUioGPXmU5uZmbN68Gdu3b0draytuvPFGPPvsswgNDXXqej0x7B15xbvS0lKkp6ejqakJN9xwA3Q6HQIDAx1QJZHyMejJY1RUVCArKwvV1dUYPHgw0tLSkJCQINv6PSnsnXFZ2++++w6LFi1CdXU1RowYgZdffhmTJk1y2PKJlIpBT4rX1NSE3Nxc7Ny5EwAQGxuLFStWdHvhG2fyhLB35rXrm5qasHLlSnz00Ufw8fHB/PnzMXv2bIevh0hJGPSkaP/85z+RkZGBU6dOITAwEEuXLsVvfvMboTUpOezlukHN7t278corrwAA7rzzTmRlZWHw4MFOXSeRu2LQkyI1NjZizZo1KCwsBADcc889WLJkiV0XvnEmJYa93Heh++qrr7BkyRKcPn0aY8aMwZo1a3DttdfKsm4id8KgJ8X57LPPkJmZiTNnzmDkyJFYuXIlJk92vTujKSnsRd1q9ueff8aKFStw8OBB+Pn5ITMzE9OmTZO1BiJXx6Anxfjpp5/w0ksv4YMPPgAA3H///UhNTUVAQIDgyrqnhLAXfT95g8GAzZs3Y/PmzTAYDEhISMDSpUvh7+8vpB4iV8OgJ0X4+9//Dp1Oh59++glXXXUVnn/+eUycOFF0WTZx57AXHfKWPv/8c6xYsQJnz55FREQE1q1bh1GjRokui0g4Bj25tbq6OmRmZuLzzz83X7726aefdrvWnDuGvSuFvOTHH3/EkiVL8PXXX2Pw4MH405/+hNtvv110WURCMejJbRUWFmLt2rU4f/48wsPDkZ2d7dDL18rNncLeFUNe0tLSgpycHOzatQsA8Nhjj+Hpp5/m1fTIYzHoye2cOXMGGRkZOHjwIHx8fPDYY48hKSkJvr6+okvrN3cIe1cOeUsffvghMjMzeTU98ngMenIr77//PnQ6Hc6dO4exY8fihRdewHXXXSe6LIdy5bB3l5CXdLyank6nw4QJE0SXRSQrBj25hYaGBmRmZuIf//gHvL298eijj+LJJ5+En5+f6NKcwhXD3t1CXmJ5NT1fX18sXLgQGo1GdFlEsmHQk8vbu3cvXn75ZZw9exZjx47F888/j6ioKNFlOZ0x7P+DBxZHiC7FbUPe0q5du5CTk4OWlhbcddddeO655zBw4EDRZRE5HYOeXFZDQwNWrVqFAwcOwNvbG4mJiUhOTlZsK74rzZfa8KbgsFdCyEu++uoraLVanDlzBuHh4VizZg2uvvpq0WURORWDnlxSaWkpsrKycPbsWYSGhuKFF17wiFZ8V0SGvZJCXtLQ0ACtVovDhw9j4MCByM7ORmxsrOiyiJyGQU8u5fz583jhhRdQXFwMLy8vPPLII0hOTsaAAQNElyaUiLBXYshLWltb8eqrr5rvaPjoo49i3rx5PAWPFIlBTy6jvLwc6enpOH36NEaNGoXs7Gzeb9yCnGGv5JC3VFpaivT0dJ6CR4rGoCfhmpubsX79erz99tsAgOnTp2PJkiUYNGiQ4Mpcjxxh7ykhL6mursbChQvx/fffY8SIEcjJyfHYYSJSJgY9CXX06FEsX74c1dXVGD58ODIzMzFlyhTRZbk0Z4a9p4W85Pz583jmmWfwySefwNfXFxkZGYiPjxddFpFDMOhJiLa2NuzYsQO5ubloaWlBTEwMsrKyEBQUJLo0t+CMsPfUkLe0ZcsWvP766zAYDHjggQewePFiRVxxkTwbg55kd/LkSaSnp+Pw4cMICAjAokWLcN9994kuy+04MuwZ8u3KysqwfPlyNDY2YsKECVi7di3H7cmtMehJVkVFRXj55ZfR2NiIG264AdnZ2Rg9erTostyWI8KeId9ZTU0NFi1ahOPHj2PEiBFYvXq129z2mKgjBj3J4vz588jKysLHH38MX19fJCUlYc6cOfD29hZdmtvrT9gz5LvX1NSEjIwM8z67dOlS/P73vxddFpHdGPTkdF9++SWWL1+O06dP46qrrsIrr7yiuBvRiNaXsGfI2yYvLw+vvvoq2traMH36dKSnp3PcntwKg56cpqWlBRs3bsT27dthMBhw7733Yvny5by+uJPYE/YMefv885//RFpaGs6fP48bbrgBq1ev5sRRchsMenKKmpoaLFu2DN988w0GDx6MZ555Br/5zW9El6V4toQ9Q75vTp48iYULF+L48eMIDg5GTk4OIiMjRZdF1CsOkJLDvffee5g1axa++eYbTJgwAbt372bIy8RvgDcef/Ya/M/qY13+nSHfd6NHj8Zbb72FX/3qV6irq8Pjjz+Ov//976LLIuoVW/TkME1NTVi1apX5OvWPP/44kpKSeP1wAZpN97O/3+J+9gx5x9myZQs2btwIAJg9ezZSUlI4sZRcFoOeHOK7777DkiVLcOzYMQQFBeHFF19EdHS06LI82uWmNmzLMoY9Q97xysrKsGTJEjQ1NeGWW27Byy+/jCFDhogui6gTBj3124cffojMzEzeGMQFtVw24C9rT+BXCVfi6usDRJejONXV1UhJScHJkycRGhqK9evXIywsTHRZRFbY10R91tzcjJdeegnLli1DU1MT5syZg82bNzPkXYivvxeOXHwTz+sWoq6uTnQ5ihMeHo6dO3ciOjoaNTU1SExMxOeffy66LCIrDHrqkx9//BFz5szBO++8g8GDB2PdunWYP38+x+Nd0Jdffony8nK0tLSILkWRhg0bhtzcXMyaNQuNjY1ISUlBfn6+6LKIzBj0ZLfPP/8cDz30EL755htcf/312L17N26//XbRZVE3WltbAYAHYU7k4+ODJUuWYOXKlfDy8oJOp0NWVhYPrsglMOjJLlu2bMG8efNw9uxZPPDAA9i2bRtGjRoluizqgRQ2vJqb8/3ud7/Dpk2bMHz4cOzZswdJSUn46aefRJdFHo5BTzZpampCamoqNm7cCF9fX/zpT3/C8uXL4efnJ7o06gVb9PKaNGkSdu7cibFjx+Lw4cN45JFHUF1dLbos8mAMeupVbW0tHn30UXzyyScYMWIEtm7diri4ONFlkY3a2toAsEUvp1GjRmHHjh2YPHkyamtrMXv2bJSVlYkuizwUg556VFFRgYcffhjHjx/HhAkTsGvXLkRFRYkui+wgnUHLM2nlNWjQILz66qt46KGHcPHiRSxYsAB//etfRZdFHohBT90qKirCE088gZ9//hm//e1vsWXLFp4654bYdS+Ot7c3Fi9ejPT0dHh5eSE7Oxtr1qzhQRfJin151ElbWxt0Oh12794NX19fLFu2DDNnzhRdFvWRFCpeXl6CK/Fc9913H8LCwpCWloa3334b3333HV588UXeyZFkwRY9WWlqasKCBQuwe/duDB48GK+//jpD3s2xRe8aVCoVtm/fjpCQEHzyySeYM2cOzpw5I7os8gAMejI7c+YM5syZg88++wyjR49GXl4eJk2aJLos6ie26F3HuHHjkJeXh+uuuw5Hjx7F7NmzOSOfnI5BTwCAf//730hMTMTRo0dxww03YOfOnbxmt0JIs+7ZoncNgYGBePPNN3Hbbbfhxx9/xGOPPYbDhw+LLosUjEFPKCsrw5w5c3D69Gncfffd2LRpE4YN413OlEIKenIdAwcORE5ODu6//340NjbiySefxL59+0SXRQrFoPdwf/3rX7FgwQJcunQJTz75JF566SWeb60wbW1tvFe6C/L29saKFSuwYMECNDc3Y/ny5cjLyxNdFikQP/0ebMOGDcjOzgYAZGdn4w9/+IPgisgZGPSu7dFHH8WLL74IPz8/5OTk4IUXXuDpd+RQ/PR7IIPBgOeffx7btm2Dn58f1qxZA7VaLboscgIs8nH+AAAgAElEQVQpMBj0rm3q1KnIzc3FoEGD8O6772Lp0qW8IQ45DD/9HqalpQVLly5FQUEBBg4ciNzcXNxxxx2iyyInkcbnGfSu78Ybb8Sbb76JwMBAfPzxx5g3bx4uXrwouixSAH76Pcjly5excOFCfPzxxxgyZAi2bNmCG2+8UXRZ5EQMevdy7bXXYvv27QgNDcWhQ4fwxBNPoL6+XnRZ5Ob46fcQLS0tSE1Nxeeff47AwEBs27YNkZGRossiJ2PQu58xY8Zg27ZtuPbaa/HNN99gzpw5OHXqlOiyyI3x0+8BWlpasGDBAhw8eBAhISHYvn07wsPDRZdFMuA59O7piiuuwJYtWzBhwgT88MMPmDNnDr777jvRZZGbYtAr3OXLl80hHxoaiu3bt2PMmDGiyyKZSJe/5VXx3M+QIUOwceNG3Hzzzairq8PcuXNx/Phx0WWRG2LQK9jly5eRkpKCgwcPYuzYsdi6dSuCg4NFl0Uy4qx79zZw4ECsX78eU6ZMwc8//4zHH38clZWVossiN8NPv0JJIX/o0CGEhobyFrMeSmrRM+jdl6+vL1555RXExsbi/PnzSEpKwldffSW6LHIj/PQrUFNTE0OeALBFrxQ+Pj546aWXcNttt+HixYtITk5GVVWV6LLITXgZeAmmHjU3N+Py5cuiy+jEz88P/v7+nX7f1NSEp59+GocPHzaHPLvrXY9c+9WFCxewfft2DB06FImJiU5fHwAEBATwwMJJmpub8T//8z/4/vvv4e/vjxkzZrjM55vb3XUx6HvR2NiI8+fPiy6jk0GDBmHo0KFWv2ttbTWPyTPkXdv58+fR2NgougynCAoKgp+fn+gyFKu2tlZ0CV0aMWIE75Phonj4pSDPPfccDh48iODgYGzevJkhT0REDHpX1bAvA/Hxm9A+CteAfRnxiN/U9bjcG2+8gaKiIgwZMgSvv/46rrzySrlKJRdWtSke8Rn70CC6ECIShkFvE1PIxlv8c6Evz5KSEuTm5sLf3x+vvfYaxo4dK7okslHDvgxk7Ou8J3X3e0esLz4+A05YNMnG9H3kQt9B5No4oGKDqk2JWFs+A7qiJEQaf4GMmpvgCvPYy8vLkZGRAW9vb6xZswb/9V//JbokskPt8XKUnziEhqlTLfanBhwqLUd5WC3g4L0sMDQMwAmHLpOIXBuDvlff4kAhEJ02E+Yrw0cmYZULXCa+uroaaWlpaG1txcqVKzF58mTRJZFdGlBzAkB5KQ41TMVUKdMbDqG0HABq0IBIx0Z9ZBKKihy5QCJydQx6G5Uf7651VYVN8VpApwO0WhQCAKKRlrcKUwMbsC8jEWvLjY+coStCknSA0LAPGYlrUW5ejkWPgQ2kc2kbGxsxa9Ys/O53v+vrSyNhanG8HADKUXqoAVNNSd9wqNS4X5Qfh/VeZ9zXCs0/S/uZxSKrNiFeW2j+e3R0+58a9mUgcW251fOqNsVDeyINeassehSqNiFee8L0mD7u3yRWL98vxn0hDGlpJ7DWtAGj0/KwamqgxX5iYYYORdLG7WbZtzvz9VC/cIy+V2MxMy0aKNR2mBxnrVB7AFOKilBUVIQiXRjWJm7Cvn3vAIuMv9PNAAq10thoA/atKUVsnunxRXlIiy6E1o4xtw8//BCnT5/GrbfeiiVLljjmpZK8GmpwAtFIS5uB8tJD5m1fe7wc0WlpmIFCHJB2uIZ9yIjX4kRanmmfKUJeGrA2MR7S/MyGfRmI1xZihk7arxYh1mJ1gVNXIS/NIvntYN/+TWLZ+v1SiLWlscgzbdf2kA+DzrytZwAAZowLMT63ahPiE9cizLyPFUE3oxDa+AxUX5L/lZJtGPQ2CJy6yrTDF0IbH99l4Ft37U/BDBSiFDPNra3ImWmIRjmO1wJAIKausmyJBWLqIzNMXbi21dTQ0IDQ0FC89NJL/XtxJE7tcZQjDKFTp2CGedtX4UBhNGJvugnjooETNcYdouqdtSifocMqi+Z74NRFSIsGCg9UAajCO2vLEZ2WZ9GqDkRomGNKtW//JrFs/X6JRtqiznNDMGNKh20NFB6vRSAasG9nYYd9DIhM0mEGyvHtSSa9q2LXva0ik1BUlGTuttLGw66u9s6suz2NbG9teXt7Y/Xq1RgyZEifKyCxqoyTPxCCSEyZUY6dhxowNfQACqNjkRcYiNowacioFgcKAUCL+MIuFhQGoOoAChGNtJtcYYooiWfL90sYQu3ZXUxzR8rLExG/tvOfb7O/SJIJg95egVOxSncc8dpCHKhKQmSfkt401hqdhrwi0xG1aVzUVr/85S9x7bXX9mXl5BLOGyfihYUiEEDglBko33kI+8IKER2bZ9wnxkUDpTVoQKjxKZbjpB1VHZCnbHIDff1+CcRNsdHA2gOoSoo0nWF0AIUAZkyJBFADoH0sv6MRIwY49FWQ4zDo+yJknB1t7y5IrS+LbrOqA4Wwp0U/fvz4/lRAwtXjeDkQHRti/DFyCmaUa7G2PBppeca9IjA0zNTdugjjogGc6GEWfsg4RKMQ3c4ZJc/Rj++XwKmLkFaaCK1F11H7JMtQhMHYjc+dzL1wjN4GVZssJxk1YN+atSjHDEzpa799yDjr8cyqTdiJGVa/M57vbDEZSxpvLTzQ7YRAciPnT8HYoJe+MCMxZQaA6FiYe9/N+0kgpi5KQ3T5WiRaXhmxYR8ypJ8Db0JsdMcJcabT93oQMi66w9htFTZpuxofILdhw/dLt6rewVqkmSfoFRVZnkkRiSTjrEvrizlVbXLKxZ3Icdii79W3OFBYjsLCeJiHpSy7xPoicCoWpZUiURtvPF3J1CVbhUJod+7DzFVTERiZhLy0E0jUxuOEqassMikPaScSoY0/gZf26HD30N5WRC6rvh7liIbUoAeAyCkzEG15IaZAYwvqRE0DEDkVq/KAjETrcfoZaXloABCIQExdVYTQTfHQJkr7qvXpdV0JnLoKuuOWz5kBnW4GCu0YRiJBytcisdNgufFUt96+X+xdrrlVH5mEIh0Qr7Ucp4/GDJ1DXhE5Ce9e1wt3unsduQ/evY76Su6717Wfctfz5GPevc51seueiIiMGvZhU4du+Nrj5d08mNwFD7+IiAiA8XoNhYVAoWXPfX+HKkk4Bj0REQEAIpOKUJQkugpyNI7Ru6hPPvkEqampGDp0KPbs2cML41Cf6PV6PPXUU5g8eTI2bNgguhwSqLm5GXFxcTh37hxyc3Nx8803iy6JZMIxehdkMBiwevVqAMBTTz3FkKd+8/LyEl0CCebn54eHH34YAJCXlye4GpITg94FFRQUoKamBqGhoXjggQdEl0NuTOqwY9ATAMyaNQsDBgzAp59+iv/85z+iyyGZMOhdTFNTE1577TUAQGpqKnx8fARXRERKMWzYMMyYYbwj3e7duwVXQ3Jh0LuY7du346effsKECRNw5513ii6H3Bxb9NTRgw8+CADYv3+/4EpILgx6F9LQ0IC33noLALB8+XLB1ZASMOipo/DwcIwcORJ1dXU4cuSI6HJIBgx6F7J9+3ZcunQJcXFxiOzbbfGIrPCkGurKlClTAACffvqp4EpIDgx6F3H58mW89957AIA//OEPgqshpWGLnizdfvvtABj0noJB7yL+9re/4cKFC1CpVLjmmmtEl0NECnbrrbfCz88Phw8fdsl7eZBjMehdhHReqzRRhsgROEZPXfH390d4eDja2trw73//W3Q55GQMehfwxRdfoLq6GiNHjuRMe3IoBj11Z9SoUQCA06dPC66EnI1B7wKk81lnzpwJb29uEnIcBj11h0HvOZgqgp05cwYfffQR/Pz88Pvf/150OaQwnHVP3WHQew7evU6wd955B62trbjnnnswfPhw0eUQkUKpVKouD/x27NiBHTt2WP0uICAAn3zyiVylkZOxRS9QS0uL+ZQ6jUYjuBpSMnbd08CBAwEY94We/vn7+2P27NmCqyVHYtAL9Nlnn6G+vh4TJkzA9ddfL7ocUiCO0ZNk9uzZ8PPz6/ExBoMBPj4+5rvckTIw6AWSusbuuecewZWQUjHoSfLwww/Dz8+vx3kb/v7+mDp1KoYOHSpjZeRsDHqBpJtK3HXXXYIrIaWSAp5BT0OHDkViYiIGDBjQ5d8NBgOam5uRlJQkc2XkbAx6QY4ePYq6ujqMHTsWV155pehySKGk1htn3xMAPPnkkxgyZEiX+4OPjw/UajXGjBkjoDJyJga9IFK3vXTNaSIiOaSkpHRq1RsMBrS1tWHevHmCqiJnYtALwqAnIhGmT5/eqVXv5+fH1ryCMegFOH/+PL744gsMGDAAKpVKdDmkYJyMR11JSUmBr68vDAYDDAYDWlpa2JpXMAa9AP/3f/8HAJg8eTJ8fHwEV0NEnmb69OnmC3SxNa98DHoB2G1PRKKlpKTAz88PLS0tuO+++0SXQ07ES+DKrLW11Rz0d9xxh+BqiMhTxd0djw/ePYKLvkc5hKhwDHqZHT9+HI2NjQgPD+dpdUQkzLsbavDoo3/At1+fE10KORm77mX2zTffAACioqIEV0KegOfPU1fefvk73Do9BNdMGob/+lUQ3l3/veiSyIkY9DKrqqoCAF7bnoiEkEL+ipHGc+mvvDqAYa9wDHqZSS36yMhIwZUQkafpGPIShr2yMehl9q9//QsAg56I5NVdyEsY9srFoJdRTU0NLl26hDFjxmDIkCGiyyEPwgvmeLbeQl7CsFcmBr2MqqurAQDXXHON4EqIyFPYGvIShr3yMOhldPLkSQDA6NGjBVdCRJ7A3pCXMOyVhUEvox9++AEAg56InK+vIS9h2CsHg15GbNGT3HhTG8/U35CXMOyVgUEvo1OnTgEAbx5BRE7jqJCXMOzdH4NeRlKLftSoUYIrISIlcnTISxj27o1BL6MzZ84AAEaMGCG4EiJSGmeFvIRh774Y9DI5d85444hhw4ZxvJRkwzF6z+DskJcw7N0Tg14mZ8+eBWAMeiIiR5Er5CVXXh2A8b8KwrsbGPbugkEvE6lFP3z4cMGVEJFSyB3ykpFXB2D87Qx7d8Gglwlb9ETkSKJCXsKwdx8MeplIQc8WPcmJY/TKJDrkJQx798Cgl4nUdT906FDBlRCRO3OVkJcw7F0fg14mFy9eBAAMGjRIcCVE5K5cLeQlDHvXxqCXSUtLCwDAx8dHcCVE5I5cNeQlDHvXxaCXiRT0vr6+gishInfj6iEvYdi7Jga9TBj0JII0GY/cl7uEvIRh73oY9DJpbW0FwKAnItu5W8hLGPauhUEvE47RE5E93DXkJQx718Gglwlb9CQCz593T+4e8hKGvWtg0BN5AI7Vuw+lhLyEYS8eg56IyEUoLeQlDHuxGPRERC5AqSEvGXl1AMbfFoT3GPayY9ATEQmm9JCXjBwbgCiGvewY9EREAnlKyEsY9vLzMnCWjlPcdNNNNj3Oy8sLer3eydWQp7j55pvR1tZm02NHjBiBkpISJ1dEPfG0kLf047cXUfmPevx+/lWiS1E8tuidxM/PD4AxyLv7R+RoAwYYA6O3/c7X1xcpKSkiS/V4nhzyAFv2cmLQO0lkZGSvj/Hz84NarZahGvIUs2fPNod9T4YPH47p06fLUBF1xdNDXsKwlweD3knmz58PPz+/bs9fNhgMaGlpwbx582SujJTs4Ycfhre3d4/7nY+PD1vzAjHkrTHsnY9B7yQqlarHVr3Umh8zZoyMVZHSDR06tNdW/RVXXMHWvCAM+a4x7J2LQe9E3bXq2ZonZ+quVW8wGDg2LxBDvmcMe+dh0DtRd616tubJmXpq1XNsXgyGvG0Y9s7BoHeyjq16tuZJDh1b9RybF4chbx+GveMx6J2sY6uerXmSQ1eteo7Ny48h3zcMe8di0MvAslXP1jzJRWrVA2BrXgCGfP8w7B2HQS8DqVXv5eXF1jzJRmrVe3l5sTUvM4a8YzDsHaPHS+CePN6E+h8vy1mPYn377bfYsWMHUlJSMHz4cNHlKEJI2AAEX+W+X6QXzrXiP183OnUdTU1NePXVV6FWqzFp0iSnrit4tD9Cxg506jrcAUPe8X787iIqP+Xlcvuqx6D/MP9H1P/YjKFBfnLWRNSrhlOXcO2kwbg5Lkh0KX128ngT/rbtJK76xWDRpfTbz6cvY8y4gbgjIVh0KUIx5J2HYd93vr09IHziUIybNEyOWohsVnGgXnQJDjFshD9u/u1I0WX025H/9zNamppFlyEUQ965Rl4dAMDYjc+wtw/H6ImI+okhL4+RVwcg6naO2duLQU9E1A8MeXkx7O3HoCci6iOGvBgMe/sw6ImI+oAhLxbD3nYMeiIiOzHkXQPD3jYMeiIiOzDkXQvDvncMeiIiGzHkXRPDvmcMeiIiGzDkXRvDvnsMekep1EGtTkGJMq7jIpMK5KpVSC+pE12Ih+D73VcMeUerQ0m6Cmq19M8x350M+645MOg7bLjcCsctWhGMX7I9vS/1JSkyHCx0/LI31dXhH8PAlVQgV61Dpc2/J0dyeMhX6qBWq5Dr0RsuGHHavcgv1qO4WI98LaDT6OCIrz6GfWeOCfpKHdTqaTiWaNxoxcV65EdsYtjbKSgs3PkrqSxBATRIjOtwTfKEreZtV5yjgV43zb4vIvZoOE99NWqQj/0dt0dlCQpQjRN8z52GLXknCgqGdKeKIFUcVKhGo4Puocawt9b/oK/fg/TUfCTk6JEc1f7roLj1KE6e2O/Fe5QoLYqL18N592mpQ0lePpAQh6ieHhYVhwQANSfYqncJtUegB1Cw3/rAuXJ/PoAyHKsVUpXiMeTlU68vgd7By2TYt+v1pja9qdydBb0qE9oekwMwdu1Pg868NWOgzW8PtcpcFVKxFTmYi9QC4+9U2r3IjgtGfUkKNLoy4y8TtpoPIPrynM51wOogpb4kBZrSOOQnHoEmNb/LWo0qkKueC9NqoVLF9P5m9aC93vZ1Sa8vP2JT+2uBBjnFWqugrsxVmV+/5XvQeSVlKNXHQKvt+QCsvmQTChADrcpiGZU6qM3vBwBVJvKzpxuPyC3+ptOooOtYQ/0epGuyLD7IHV/DSettYrW9qP5EtfE/BSWoTJ5oet8qsN+0zWtO1AFRpve6p+3UBWnf6fQZMO9v8MjtITrke/xM1+9BuqYEsflJOKax+A7q8LnvuAzLx1TmqpBa02HfqNRBnVrd/l3X6+e253UANu5L9Xug05UBCVsR5m/Lu2O7kVcHAIYgvPfa9/j9PM+9EU4/g77a+GWTEN7tF4mRKRRVmcgvNu5Y9SUp0GhUOGbZE1AwF/tz9ChOlp4zDbnIBJCJ4uJg0444F+kRFju0nc+pL8lCaexeFGdb7IipKYiwDHJ9FjShW1FcrAVg2pk1OoRJO7n0AbDYaetLUqDpxyFpUNx65CMFGl2HPxTMhU671/haTAcpqenXmT6gpoMWtL+vxtqmQX2s8weqXl8CvSoO2q42VsFcqKUPbMJWFBdbPrcCualATrHeHDK56rnQ5IYb1xGlRXEOrL8kJKbgUWn3otjyw59bYdpmgF63CbH5ehQHtS/baht7uNpjZUBCJrQ1WdhfqUVUFEzd+RpotdXQlZahPm46gnrbTh1V6pBa0MUBd4EGOcXrrZah7hgKCiY65FGpQyosPoOVOqhTpyE3zLLXtAw6TThyivVI7uIx5iC3/L7VAaFhthZRhxJdCWLz9cgOMv1s9d3T+zps25fqUKIzNhbznXQwOXKs6a53Hhz2ssy6N7cQte1fFEFxmdCqOnRHqjIxy7wjT8SdCUBBKTBL+sKPegxaFaA/drLPzwmKW28VIEFxSUhAGUr1lt3UGuRY7HRRd2oAi7FQqRfDcsd02vi6KhNac73BUMXGAPojqAWAyu3Q6TXIsfwCDpoOrTbG2PqzWlAd9KVlUMXGdP1lbTlGf2dJhwl5E5FsdSQ/EbO6XEdH0lDB1g7vufWwjkqbaXFwMBoRHbexR6vDiRpAFREDVWyM+fNSry+BPiEOcWHh7fuDPdvJPORmcWBWvwd5BTHQ5lsvIzlHA+hLoFf4XICLja0o3PgDbrtvtNju+iit9YGZ6Tus49BNQo7FdrIabjP29lh+1o1j4GWoOWFrEcGIy7Y8aA9GXKLlftDLOmzdl7r6DnOCkWMDMOGOEfj7tlO4dKHNiWtyTf3uurdF7bEyQJUJldWWDEZYKICaatRD3m7BTt1JAFS9Pss0Fhpk2sG13QSmLEwHHfuNXbSp6vwuHtPhwMP8gbKhlRylRb62GhpdFkpU0ofdeqiiy3V0VF+GUj2gih3d+zo7Mu0XntCC7JHpPQxNDEZQSBxUuhJUJo/GidIyJCSuB0KqoUIJTtQDUTZvp5PGVhRiEBtisSp9CfQog940/GKtf0NT7iBgsA9Cxg7Ed5Xn8F+3C97zOg7BAEBo709z7AFy52FOW/cDW/elyv3GhkCvI78OcKLqPEaFD8SAQZ53Vnk/g34EIlRwqy9lY3dSDLT5eqsAqxFdWJ91Hjfrir0fKGMPRb5polc3QxWdP8FdCg1jF3yf1R5pD+SgGMSqsrC/5DrU6DVIzAaAcISaJ+TZtp30urkIzdkLLaZBp9sDlVVrqqv5KJ5j8j1B+Ozv9fj603phYS81RNrnTUhDdLYy9mymmod0pODtMO+mR52HW6UxfJvWoQds2ZdCImKAYza/sD774sM6BI30xS/vvML5K3NB/Ty0GWrqSs7C7h76cEMiYrro+jN2SSK0t/F9R5Ja4xZdxZUlHVo/vXGdruWQiBjAptOrKrC/IAbaWbb3nBgngMUgIkT6AFsOZxiHAXoVFI5QdO5yJNsZt0M4woIAaeimQJcFvfnMCeP+WLC/wubtpNLuRXJUMOK0mVDps6AzDdEYD+44i3/yPUHw9wO+/lTEWIVpmyVsbR+PN/Xq2CMqeSsS9FnQmK6LodHBvgO4ypJOw62V+617GHpah637khxnZ3l6yAMOGKM3j7WndrgARKUO6vQ9qEf7OLhud/sXfn1JFnR6+8Kn/zqGdAVy84AEu4LbNE5eMNfqojLmmdEyMr73ZdBpLC+aUoeSdOuLqNSXbEKBKq7D0EkPzLNgkyw+tO0HFPUlWTgWaj1vASHXQdVproM0Rmz9XqFSxwvy2Mg47HUdpB524zgokHCn9LlpHwKDLdvJkmk+h16XZbz+QZQWOQlAQar19RAqcz3v+gjiwt5ySBMwTlY7gtAEy9/1rr5kEwos5910OG23c+OrArmWQwWmz7M5qCt1yIPG6nc9rsPGfaky17kX6GLIGzlgjD4Ycdl6qEpSoElVWbWOE7RbUVsPBAVNRHLxVkBtMbNbSBehsRVTqpHqMHV7VwIFqZtQMmu9DWP1pqPQMOMsV7WpP83m0+ssZ7dLTKdA2S8Ycdl7gfRp1uP0CZnIrwdgmi1rnISX2XPPSYe6LGfJGz+0KqRanjqXDETUTINudwXikieaQqMEGp30npje2y7eK0ADbVfTCqiDS517vYJiEKvSIMxiDCYkIgYoOILa7N62U+c1BMVlQls6DTrprJJkPXLQvgwAgEqDHGe+TBfl7G78gg7fl4C0zbYiQT0XGnUWpO/JZFyHGk0WdldOR3JIV0vragUdv2vav3OD4tYj55jldtYgJ0eDAqlrXvo8SzWahoMqkY/UvD2YJX1f9bAO0fsSQ76dl8FgMHT3xw/zf8SwkIEYN2mYnDUR9ariQD0GDwZuduPB5JPHm/DJnjO4K9H9T/k58v9+RktTM+5IUN58jM/+Xo/LzRA/Qa+fujx33g3XYQuGvDXPm35IRGQHsWP2fVSp63AJa9OcKHdbRx8w5DuT5fQ6IiJ35gqz8W1nvH5FgT7femjAoVc4lGMd9mPId41BT0RkA/cJe+O8qTi3X4d9GPLdY9c9EZGN3LIb3wMw5HvGoCcisgPD3rUw5HvHoCcishPD3jUw5G3DoCci6gOGvVgMedsx6ImI+ohhLwZD3j4MeiKifmDYy4shbz8GPRFRPzHs5cGQ75sez6P38jK+sV8d4M5LrqX5Uht++Wv3/7CfPtGE/10v/w2RHK3lchsib/HsS2W7z3n27okh33c9Xuv+clMbmi93+2ciofwHeMNvgJfoMvqsrRW42NgqugyH8R/gBb8B7CRUyrXxXQlDvn96DHoiIrIfw95xGPL9x8NvIiIH45i9YzDkHYNBT0TkBAz7/mHIOw6DnojISRj2fcOQdywGPRGREzHs7cOQdzwGPRGRkzHsbcOQdw4GPRGRDBj2PWPIOw+DnohIJpPvCYK/L8O+I4a8czHoiYhkNPm3DHtLDHnnY9ATEcmMYW/EkJcHg56ISABPD/svPqxD0JUMeTkw6ImIBPHUsDeHvAJuTOUOGPRERAJ5Wtgz5OXHoCciEsxTwp4hLwaDnojIBUz+bRC+qarAV5+cEV2KU3zxYR0GDG7CoWP/I7oUj+MrugAiIgJWr16NXX/Zhem3L4KX1zRF3eJWasmvXJOMkydPwtfXF3PmzBFdlsdgi56ISLCdO3di165dGDBgAGY+eaOiuvEtu+ufeeYZeHl5YcOGDfj4449Fl+YxGPRERAJ9/PHHWLt2LQDgxRdfxPjx4xUzZt9xTP7WW2/FsmXLAAArVqxARUWFyPI8BoOeiEiQiooKrFixAgCQmpqKO+64w/w3dw/77ibePfDAA3jwwQfR0tKCBQsW4MSJE4Iq9BwMeiIiAaqrq7FgwQK0tLTg/vvvR2JiYqfHuGvY9za7fvHixbjllltw7tw5JCcn4+zZszJX6Fm8DAaDQXQRRESe5MyZM0hMTMTp06dxyy23YMOGDfD27r7d9dnf6nG5BW4xQc/WU+guXryI2bNno7q6GhMmTMDmzZvh5+cnU5WehS16IiIZXbx4EU8//TROnz6Na6+9FjqdrseQB9ynZW/PefIBAQF47bXXMHz4cHz11VdYsWIF2O50DgY9EZFMWlpaoNVqcezYMYwYMYvC4D0AACAASURBVAIbNmxAQECATc919bDvy8VwQkJCsH79evj5+WH//v149dVXnVih52LQExHJJCMjAwcPHsTAgQOxYcMGBAcH2/V8Vw37/lzxbvz48Xj++ecBADt27MD777/v6PI8HoOeiEgGGzduxAcffAAAeOWVV/CLX/yiT8txtbD/8qM6BF7p06/L2t5999148sknAQDPPvssysrKHFUegUFPROR077//PrZs2QLAeP54TExMv5bnKmH/5Ud1uCLYB9G/Duz3sv7whz9ArVYDAJYvX47q6up+L5OMOOueiMiJysvLkZycjNbWViQmJiI1NdVhyxY5G9+RIS+5fPkynnjiCfzrX//CmDFjkJeXh2HDhjls+Z6KQU9E5CQnTpxAYmIiGhsbcdttt2HdunXw8vJy6DpEhL0zQl7S0NCAhx56CGfOnMGkSZOwadMm+Pj4OHw9noRd90RETvDTTz8hOTkZjY2NuP766/Hyyy87POQB+bvxnRnyABAYGIhXX30VAwYMwJdffok//elPTlmPJ2HQExE5WHNzM+bNm4dTp07hyiuvxGuvvYaBAwc6bX1yhb2zQ15y/fXXmwO+sLAQu3btcur6lI5BT0TkQAaDAStWrMA333yDwYMHIzc3F1dc0fcZ6bZydtjLFfKS2NhYJCcnAwB0Oh3Ky8tlWa8SMeiJiBxo/fr12L9/P7y9vbF27VqEh4fLtm5nhb3cIS/57//+b9x9990wGAxYvHgxTp06Jev6lYJBT0TkIHv37sVbb70FAFi5ciWio6Nlr8HRYS8q5CWrVq1CREQEzp49i4ULF+Ly5ctC6nBnDHoiIgc4fPgwMjMzAQCPPvoo7r33XmG1OCrsRYc8APj7+2PdunUYNmwYjh07hqysLGG1uCsGPRFRP/3www9YuHAhWltb8atf/QopKSmiS+p32LtCyEtGjRqF1atXw8vLC8XFxcjLyxNdklth0BMR9cP58+cxb948nDt3DuHh4XjxxRedchpdX/Q17F0p5CXR0dFYuHAhAGDdunWcnGcHBj0RUR+1tbVh0aJFOHHiBIYPH+700+j6whz2n9gW9q4Y8pLExET8+te/hsFgwJIlS3DmzBnRJbkFBj0RUR+tWbMG5eXl8PPzw/r16xESEiK6pC5N/m0Q/P16D3tXDnmJNDnv559/xtKlS9HW1ia6JJfHoCci6oP//d//NV/I5fnnn8f48eMFV9Sz3sLeHUIeAAYOHIi1a9di0KBB+PLLL/Haa6+JLsnlMeiJiOz0xRdfmO+h/sQTT+Duu+8WXJFtugv7Lz86gytGuH7IS8aMGWOefb99+3b84x//EFyRa2PQExHZ4dSpU0hLS0NbWxumTJmCp556SnRJdukY9saQ90b0Xe4R8pJf//rXeOCBBwAAf/zjH/Hjjz8Krsh18e51REQ2ampqwuzZs/Gf//wH11xzDXbs2OFyk+9s9fneenz7zQX8YtIQ/PJO51+i1xmam5vx2GOP4ciRIxg/fjzefPNN+Pr6ii7L5TDoiYhstGjRIhw4cABDhw5Ffn4+Ro0aJbokj/fDDz9g5syZuHTpEpKSkpCUlCS6JJfDrnsiIhts2bIFBw4cMF/DniHvGsaMGYM//vGPAIA33ngDx48fF1yR62HQExH1oqysDBs3bgQALF26FDfeeKPgishSfHw87r77brS2tuKZZ55Ba2ur6JJcCoOeiKgHNTU1WLp0KQBgxowZ5glg5FoyMjIQEhKCI0eOYOvWraLLcSkcoyci6saFCxcwe/ZsfPvtt5gwYQLeeOMN+Pj4iC6LulFRUYHHH38c3t7eyM/Px7hx40SX5BLYoici6saKFSvw7bffIjAwEGvWrGHIu7iJEyfi8ccfR2trK1auXAm2Y40Y9EREXdi2bRs+/fRTeHt7Y82aNQgKChJdEtkgKSkJERERqKqqMl+50NMx6ImIOigvLzdfWnXx4sWYOHGi4IrIVj4+Pnj22WcBAH/+859RW1sruCLxGPRERBZOnTqFxYsXw2AwQK1W48EHHxRdEtkpKioKs2bNwsWLF7Fq1SrR5QjHoCciMmlpaUFqairOnj2LiIgIZGZmii6J+mjevHkYMWIEPvvsM3z00UeiyxGKQU9EZLJmzRocPXoUAQEByMnJgb+/v+iSqI8GDRpkvpDOSy+9hAsXLgiuSBwGPRERgAMHDuAvf/kLACA7OxujR48WXBH1V2xsLO68806cOXMGGzZsEF2OMAx6IvJ4J0+eRHp6OgDgkUcewZQpUwRXRI6yfPlyBAQE4C9/+QsqKytFlyMEg56IPNrly5eRlpaGixcvIjIyEikpKaJLIgcKDg7G/PnzAQDPPvusR14el0FPRB7tlVdewdGjRzF8+HCsWbOGtzlVoAcffBCRkZE4duwY3n33XdHlyI5BT0Qe68MPP8Rf//pXAMDLL7+MkSNHCq6InMHLy8s8MW/jxo24ePGi4IrkxaAnIo906tQpZGVlAQAeffRR3HTTTYIrImcaP3487rrrLpw9exZvvfWW6HJkxZvaEJHHMRgMmDNnDr7++mtcd911eOutt9hl7wG+//573HffffD390dhYSFGjBghuiRZsEVPRB7nzTffxNdff40BAwZg9erVDHkPcdVVVyEhIQFNTU3YvHmz6HJkw6AnIo9SVVWFTZs2AQCWLVuGMWPGCK6I5PTkk0/C398f7733Hr7//nvR5ciCQU9EHuPSpUtYtmwZWltbceedd+J3v/ud6JJIZiNGjEBiYiLa2tqwfv160eXIgkFPRB7jtddew/fff4/AwEDzHc7I88ydOxfDhg3Dvn378K9//Ut0OU7HoCcij/D111/j7bffBmC8cMqQIUMEV0SiBAQE4IknngAAvP7664KrcT4GPREp3qVLl8znUd977724/fbbBVdEos2cOROBgYH49NNPUV1dLbocp2LQE5EwBoMBbW1tTv+Xl5eHCxcuICIiAlqtFm1tbeCZxZ6l4z7h4+ODOXPmIDAwELt27ZJlP7T1n6PxPHoiEubChQs4d+6ckHX7+/sjMDBQyLpJfrW1taJLsNnIkSPh5eXlsOWxRU9ERKRgDHoiIiIFY9ATkQtpwL6MeMRn7EOD6FJIuRr2ISM+HvGmf5uqen9sV4+p2tS+DFfeZxn0RETkMao2xSM+8TgeKSpCUVERioryMG5n92HfcKgU5dFpmBlp+Utj+O8cl2daRhGKHjmORBcNe17gmYiIPELDvgxoC2dAV5SE9twOxNRVRd08owrv/P/27j446vrQ9/hnScKD8iAxgECiKB6bYKnHuCopHUHNSfDEHLZai4vxeOg5ZUorc4M7c/sHwzCMw9wzd+6a3Ns/uIfzgG1DU6RqUsSSvfgQi0brmlPl1FArik1siIREIDwK2fvH7m+zm8fdZHd/+/vt+zXjtIR9+JJN9r3f7/e3v61pVfGmpzQ74ms7q2qkTXV6ujTiYM7C9dr/dJIGPkHM6AGktyM7B5ZHBy2RBpdOdyp6MnZEOysqVGFM0Ua5PjKJEe1HVDj2hUNXeUONWq3HIoLee3D3kK+Nfhs7x/iZO6KdFVt0MIk/lIQeQBo7op0eyRteZvVqdWuNqkIRL3xkk4rVqDciSm88EXvXF455fWSQI2+oUVJBfuxvqTzyRqO0+p6IFwa9eq+5VSq+SfOSMMRkIfQA0lih1kctsxbqkU3FUuMbwVn87Du0olhqDJc+9EQcfnIe+fofp+4fAUs6omDnY57/py326AGkuSPaWeFRY9TXCkL/O1ulj61WjWe3Dj7ytEr1nppbi7XpqcIYrw8Mr/fgbjUWb1LduDo/9GeuqqJGklQc2ts/srNCnugLqCZ4AR36l7WaOu6RD0XoAaSfgvzgwU+9B7Wlqkatq73avz74jNt7cIuqaiIuW/iINhVXqfm9XuV/Erzs08bqbCzXR2aYd5OKJbV39EqFYy3fB1eGildEHoQnSbOVXyCp8RN1SRr5Vgq1fv9+rZeCe/S7b1Ld06VRly9cv1/7gxfQzorduqnuaRnb/lPi/KeNhaV7AGmr971mtYb326Xw0nyU4Ky+taZKnsZibYp4H1Rs10dGCG3ztNbs1ZhHaPS+p+bW4Q+4K7xntaRG7U7m0XMJRugBmOfMf0afjKT3PQW32INhnp1fIKldHaHn1N6Dz+iTgtVRX5MkFd6j1ZJUvEJ3RDw3j3b9rp4k/ruQhmar9KngwZueQe/UOLKzQlsiwn1kb41aow7Ci1C4Xt7VUmtNVdR1gu+tH/wOkPTAh9oAMM25c+f05xerVVUzMMsuHvT+5Mi9zODfSQe3VKmmYGA5Xgouye/Nf1rrBz07j3T9X9y9Q/v/8c6k/duQXgY+1KY3+PMTtbCzWpu89+iOwkLNDu2vy7t/yM9SlCM7VeGJPvKjeNMmPZZfqsIJHr+X6A+1IfQATMOn1yFV+PQ6AABgS4QeAAAbI/QAANgYe/QATBMIBDTRp6B33nlHW7ZsUXFxsf75n/855us5HI6E7oMivfX398d1+b6+Pj300EPKysrSr3/9a+Xk5CRpZENNmpTYOTgnzAFgmkTEtrW1VV9++aVuu+22hD9Bwj7i/dmYOXOmFi5cqD/84Q9699139a1vfStJI0s+fisAWNrhw4clSV//+tdNHgnspqSkRJL01ltvmTySiSH0ACyrv79fH3zwgRwOh2699VazhwOb+eY3vylJamlpMXkkE0PoAVjWxx9/rEuXLulrX/uasrPZiURiLV26VNOnT1d7e7uOHz9u9nDGjdADsCyW7ZFMDodDy5YtkyQdOnTI5NGMH6EHYFmEHslm7NO3tlr3w5AIPQDL+uCDDyQReiRPcXGxJOnDDz80eSTjR+gBWFZ7e7sk6YYbbjB5JLCrgoICTZ8+XR0dHerr6zN7OONC6AFY0rlz5xQIBDRt2jROfIOkKgx9HN1//dd/mTyS8SH0ACzJ+NS7WbNmmTwS2N2SJUskWXf5ntADsCRjGXXmzJkmjwR2R+gBwASEHqlSVFQkybqh50NtAFhCSUmJpkyZEv7z5cuXdf78eWVnZ2vatGk6d+6crly5Ikl67733zBombGrlypXq6+uTz+dTbm6u2cOJCzN6AJbQ39+vM2fOqK+vT319fbpw4YIcDoeuXLmivr4+9ff3y+FwaPLkyWYPFTZknGL5D3/4g8kjiR+hB2AJsRx0FwgEOBUuksJYvif0AJAkGzduVE5OzqifX5+Tk6OqqqoUjgqZwjggr62tzeSRxI/QA7CEyspKzZ49e8S/N2bza9euTeGokCkWL14sKfhBSlZD6AFYxo9//OMRZ/U5OTl6/PHHNWPGDBNGBrvLz8/XpEmT1NXVpUuXLpk9nLgQegCWsXLlyvBZyiIxm0eyZWVlacGCBZKkjo4Ok0cTH0IPwFKefPLJIbP6yZMnM5tH0uXn50sa+IwFqyD0ACzF6XSqsLAwfH77QCCgrKwsZvNIuuuvv14SoQeApHvyySclBSM/efJklZaWMptH0hF6AEgRp9Op2267TVlZWfrqq6+0fv16s4eEDMDSPQCk0IYf/FCBfqm8vDx8kBSQTFad0XMKKQCWdPS3c7Xpu8/r3kfmmD0UZIiFCxdq0qRJ6uzs1JUrV5SVlWX2kGLCjB6A5ex5pl3FZXNV/o8F+m1jtzo/vWD2kJABIt9iZ6VZPaEHYClG5HPnBz/J7v7H84k9UqagoEASoQeApBgceQOxR6oY+/R//vOfTR5J7Ag9AEt4rmb4yBuIPVLhuuuukyR1dXWZPJLYEXoAae+5mnbd/jcjR95A7JFs1157rSTp5MmTJo8kdoQeQFqLNfIGYo9kIvQAkEDxRt5A7JEshB4AEmS8kTcQeyRDXl6eJKmnp8fkkcSO0ANIO8/VtOuvS8cfeQOxR6LNmjVLknTq1KmoT1BMZ4QeQFoxIn/tgolF3kDskUgOh0Nz5gTPxnjixAmTRxMbQg8gbSQ68gZij0Qy9umtsnxP6AGkhT3PJCfyBmKPRDH26a1yQB6hB2A648C7ZEXeQOyRCFY78p7QAzBVspbrR0LsMVEs3QNAjFIdeQOxx0QYoe/u7jZ5JLEh9ABMsbe2XX99/5yUR95w/+P5OvTrk/rLJ+dNuX9YV25urqTgW+ysgNADSLm9te267b45unbhVFPHcV/VQr25r4fYIy5XX321JOns2bMmjyQ2hB5ASqVL5A3EHvEi9AAwgnSLvIHYIx6EHgCGka6RNxB7xGr69OmSpL6+PpNHEhtCDyDp0j3yBmKPWDCjB4AIVom8gdhjLIQeAEKsFnkDscdoJk2apKlTp+rSpUvq7+83ezhjIvQAksKqkTcQe4zG2Kc/ffq0ySMZG6EHkHBWj7yB2GMkVlq+J/QAEsoukTcQewyH0APISHaLvIHYY7CrrrpKknTu3DmTRzI2Qg8gIewaeQOxRyQrvZee0AOYMLtH3kDsYWDpHkDGyJTIG4g9JEIPIENkWuQNxB5TpgQ/XvnixYsmj2RshB7AuGRq5A3EPrNlZWVJkq5cuWLySMZG6AHELdMjbyD2mSs7O1uSdPnyZZNHMjZCDyAuRD4asc9MhB6ALRH54RH7zMPSPQDbIfKjI/aZhdADsBUiHxtinzkIPQDbIPLxIfaZgdADsAUiPz7E3v44GA+A5RH5iSH29saMHoClEfnEIPb2RegBWBaRTyxib08s3QOwJCKfHMTefpjRA7AcIp9cxN5eCD0ASyHyqUHs7YOlewCWQeRTi9jbAzN6AJZA5M1B7K3PmNETegBpi8ibi9hbm8PhkCQFAgGTRzI2Qg9kICKfHog9UoHQAxmGyKcXYo9kI/RABiHy6YnYI5kIPZAhiHx6I/ZIFkIPZAAibw3EHslA6AGbI/LWQuyRaIQesDEib03EHolE6AGbIvLWRuyRKI6AFd7tDyAuRN4+Xq37XMsrc7XgpmlmDyWj3Xnnnerv74/pstdee618Pl+SRxQ7ZvSAzeytbddt988l8jbBzD49TJkyRVLwjHij/Td58mRt3LjR5NFGI/SAjYQjv2CK2UNBAhF78z3++OPhD7IZSSAQ0IwZM1RZWZmiUcWG0AM2QeTtjdiba+3atZo8efKo57ZPx9m8ROgBWyDymYHYm2fGjBmjzurTdTYvEXrA8oh8ZiH25hltVp+us3mJ0AOW9lwNkc9ExN4cI83q03k2LxF6wLKeq2nXX5cS+UxF7M0x3Kw+nWfzEqEHLInIQyL2Zhg8q0/32bxE6AHL2fMMkccAYp96kbP6dJ/NS4QesJQ9z7Tr9r8h8ohG7FPLmNU7HI60n81LnAIXsAwij7Fwutyg831X9Ef/maTex8WLF/Wv//qvuvfee3Xrrbcm9b6uXTBFBbeM/zEl9IAFEHnEithL3Z9fVMOOv2jR0hlmD2XCTp24pGvysnX/o3PHfRvZCRwPgCQg8ojHfVULib2kq2dl6/bSPLOHMWGfvH9ap7+4MKHbYI8eSGNEHuPBnj0iEXogTe15pl3FZUQe40PsYSD0QBoyIp87n8hj/Ig9JEIPpB0ij0Qi9iD0QBoh8kgGYp/ZCD2QJog8konYZy5CD6QBIo9UIPaZidADJvull8gjdYh95iH0gIl+6W3XHeV2iXy3fJudKt9x2GK3HaFnnzaXO7WjLZ4rJW9sbTucKi8f+C++cY2M2Cde2w6nyjfvU4/ZAxkGoQdMkvDIt3lHiM1h7Sh3arOvOzH3kxTBMZYP+99G+ZL27Bm637giHQr7qE/qsVxmbEVrDqi+ya+mJr+aat1qqN6od/smcIMRjNh/fjSTY39YO8q9Gvr6aaSvWxOhB0yQtJl8w7o0D/oYXLuCUYv67ycqy03WHc7XYme818lTQf44LtPmjf9FS26ewv/0ojK51KLe3jiuP4b7qhbqrZcyOPY9x9Sher0+uOhtPjXomNrTcXo+DoQeSLFkL9f7vduSOAO2mzyVbferacPSuK5VtMGvpu2VGu31RyyXiUubTw2Juq0IGR37ro/kl9TwevSKTtvr9ZJadLTLlFElHKEHUij5e/Ilcrkkr3usZcfBS+XDzDRD+9UDlxl6mz2+jRF/v03NcV4/EQbvY4dXNIz7j1qWj1yqj/geDF66f907wt54aEm+fLRl+WEu0+ZVeXUwHl53xDhHmOUHv6+R36/D2lFdLzm36psF4/5WjShTY9/Tfiz4fxp8Ud/r10OvqDraI1bH4v15bvMO+dmK/n1JwTEnIYQeSJFUHXi3eM1WeZz1qh7pSaRnnzaXr1OH50B4ebzeI3ndEUFr86rcvU35tQNL6LWuelVHRKlth1Nur+SpNy6zXvl+40665fNukz9qKd6jooT+S4NBre7YOrCPXb9V8q4KPoHmVmp7/VY5G9aF/11tO9apwblV9RuWSlqqDU275BrmlhtUFvG9KVFDtfECIk9l2w/IM+py/zCXKfKoqdYtqST8/dpelhdejm/2R263dMvf3CKn54nw96ttxzo1yK3a7ZWaPu7v1+gyMfZdR1skV/D3Jbx833NMHXLL4ymRv7kl9GKuWz6vTyvCP+sHgr9jI77YC74wc3oOhFeLgr8vi1Qb/n3YJVfDupQcwEfogRQ48OzxFB5dn6ey7cEnkeH269v2BAO8vWzgIzxzy7bK4zSWMLvlqws+SW2IKHPRhl0DUerZp7oGyVUbuX8+zH53x7H4nsQa1sU+42n7qbz+YPzCQ8itlMdTMjBDC/25odqrtjavqhtK5PGMvZzuWjmwlJ9b9hPVuiS/96dJWJFYqjVRQZHU06Jmf4lWOEOPT88+1TWUyFOf6BdKQ91XtVCH3zyjjz9I0BF/aa1b7R2Sc3GJnCtKwsv3PX6f/K4ylRUskvwfKbh6n6ey7ZE/63kqq3JLfp/8Q37Au+XbvE4Nkb9jwz6GS7WhdqTbSCw+jx5IgZtvn66Pf39KufPnpugeg08i5dXb5HOuj/i6sSy5TuXDbfjmKxQaye9fpXLv0Is4FXoylFtVI5YnT2WerWp2b5O73CdPfYwH1Ll2xbxfHtxHlarL64f520Xh/5dbtlWe5lWqrpZctf5xHdhXtNItNQQPzipK8IGBuc4yOb0++XsqVZYb+t46y+QJ3c/gPyfTqROX1HP8gm7+Rqp+Tk0U+jnPr8pT7rzgY9C2Yb7am1vkqvqJNO+YnPJFPObd8m1eJa8/8kZKhtxsl2+bvH7JuWL+wF35ffKrRX63U0N/pYbeRqIReiAFbr5tui6d79e7L3+hO/82RU+iRR7VezbK7V4nKRjosNGC2hPct3R6DkTN+qMu4ovh/nMrtb2pMrQN4JTXuVX1iTw4TZLkVu1YWwKhJ3RJaqjbpzUJH8ME5ZZohXObvHsOq2zDfPlDoTHGmFuwaNSrJ8qpE5f09q+Pa+1/vz4l92e6ro/kV4lWzFP4MXjdd4s6/G5VbZekRco3DsjLPawd5aFtn6bQz0+bV+XVx6Jv079N1fm7VO+R3N5t8jkjX+CWxP6CN8FYugdSZMmymbr+r6bq3Ze/SNl9GkvyA0LL66MtqecuUr4k/9HOkW+3YJEU69uPijxqqt8qp3+bvAl869+8xSUxjCHiWIEJjCF40NYiFSTlSTq0DNzgU1tPi5r9bq2MfOVS5Ens0fvDyLjIa/Bjmhdcvvduk99VFnrhGPxdaXj9cOgdD9HbPsaKUpTQ8R/B37sWeb3B/ffg74t5R/ETeiCFUh/70H595J89weC5I/e/e/Zpc/jPob3DwXv8bd6BP4cOIos+ur9TR6OWNRP77yjIV9TR0eEn06gxdMu3eeDPPb5t8vpL5FmzNLxfH8vbDwcfbe31Rh8cN9bYhjXvFjmHHHgXUlQml+pV5/VFhMb4N2xM6hHamRh5KXQgnvMWzQv9OddZJqcij88IPa4dx9QTeuzCoW7zqk7u6K9FGfg98/q6pSKPal1SQ3X0OyzadiTzZFADWLoHUmzJspmSlMJl/GC4N7eH/phbqe310mZ39D69y3MgOPuQQkeJS+XVkfv0JXLVRtxm0wEt3rwqYo+8RM7w6sEw+5muXWoaYSsgFkUbDsjTsUrV5cdCS6DBo9sVNQZJrq2q75HU5ZXb2yKn50B4udTYr/e6vSoYccnfrRXapvLyloGbrPVHHZg49tiGuVBupTwen9xe43saue2wVCtdUnWD5PHE957+icjUyEsX1d4hKX9RxIGcJVrhdKsg4nGet7hEavhIXbme4GNX7QyeyyC09dWmelWHtoOGiHi8dxT4tWGDX7Vyqjpyn97pVu3QayacIxAIBFJwPwAG+fDt0/rzny6kbs8eaa3Ht1Hu5rIkHMcwPDtHvvvzi/p/v/hCZd9LwkkHUuyT90/r9BcXdP+j43+eYOkeMIkZe/ZIV4e1x9si54oSIo+EI/SAiYg9gmf2WyfV+kd8l0MiEfnMwx49YLIly2ZKjlTu2SOdFG3wq2lDau6LyGcmZvRAGlhy90xdfwszeyQPkc9chB5IE8QeyULkMxuhB9IIsUeiEXkQeiDNEHskCpGHROiBtETsMVFEHgZCD6QpI/a/20/sER8ij0iEHkhjS+6eqRu+RuwROyKPwXgfPZDmltwdPDf+7/Z/obsqeJ89RkbkB/R0XtSv/tcnZg9jwgJXArrljhkTug3OdQ9YxIfvnNZnf7xA7DEsIj8gEJAuX7JP2iZlSVnZjnFfn9ADFkLsMRwij9GwRw9YCHv2GIzIYyyEHrAYYg8DkUcsCD1gQcQeRB6xIvSARQ3EvsvsoSDFiDziQegBC1ty90wtKpym371E7DMFkUe8CD1gcUV3zdQNxD4jEHmMB6EHbGDJ3cTe7og8xovQAzZB7O2LyGMiCD1gI8Tefog8JorQAzYzEHveemd1RB6JQOgBGwrGfiqxtzAij0Qh9IBNEXvrIvJIJEIP2Bixtx4ij0Qj9IDNEXvrIPJIBkIPZABin/6IPJKF0AMZgtinLyKPZCL0QAYhcRswJAAAFaFJREFU9umHyCPZCD2QYZbcPVOLioh9OiDySAVCD2SgoruIvdmIPFKF0AMZitibh8gjlQg9kMGIfeoReaQaoQcyHLFPHSIPMxB6AAOx30/sk4XIwyyEHoCkUOwLiX0yEHmYidADCCP2iUfkYTZCDyAKsU8cIo90QOgBDEHsJ47II10QegDDIvbjR+SRTgg9gBER+/gReaQbQg9gVMQ+dkQe6YjQAxgTsR8bkUe6IvQAYkLsR0bkkc4IPYCYEfuhiDzSHaEHEBdiP4DIwwoIPYC4EXsiD+sg9ADGJZNjT+RhJYQewLgV3TVTN3wts2JP5GE1hB7AhCy5O3NiT+RhRYQewIRlQuyJPKyK0ANIiCV3z9T8Gyfpd/u7zB5KwhmR/5t108weChA3Qg8gYfx/bNALL/+L3mzoMHsoCXPqxCW1NHZq33/+WFVVVWYPB4gboQeQEBcuXFBdXZ3+8+Nfa9a8i7ZYxjdm8o/9+AZdddVVOnnypBobG80eFhAXQg8gIZ5//nn19fVp2bJlWvHgYsvv2Q/ek3/sscckST/72c8UCATMHBoQF0IPYMIuX76sn//855KkJ554QpK1D9Ab7sC7lStXasGCBfrss8/05ptvmjg6ID6EHsCEvfTSS+ru7tbixYt15513hr9uxdiPdHT9pEmTtHbtWknBWT1gFYQewIT09/fr3/7t3yRJ3//+94f8vZViP9Zb6Fwul6666iq1trbqT3/6U4pHB4wPoQcwIQcPHtTx48c1f/583XfffcNexgqxj+V98lOnTtXDDz8sSfr3f//3VA0NmBBCD2BCjOD9wz/8gyZNGvkpJZ1jH8/JcNxut7KysvTKK6/o888/T8HogIkh9ADG7dChQzp69KiuueYa/d3f/d2Yl0/H2Md7xru5c+eqtLRUgUBAu3fvTvLogIkj9ADG7T/+4z8kBd96lpOTE9N1jNi/+7L5sR/vaW2NE+c0Njbq9OnTyRgakDCEHsC4/P73v9cHH3ygadOm6Tvf+U5c111y90xd/1dT5P+NebGfyLnri4qKdPvtt+vixYt67rnnkjA6IHEIPYBxefbZZyVJDz/8sGbMmBH39Zcsm6WCm82JfSI+oObv//7vJUm/+MUvdOnSpUQNDUg4Qg8gbp999pkOHTqkrKys8BnjxsOM2CfqU+i+9a1vaeHChTp9+rRefvnlBI0OSDxCDyBuxvvmKyoqNGfOnAndVipjn8iPmnU4HOGzANbV1XFaXKQtQg8gLidOnJDP55M0cLrbiUpF7JPxefIPPvigZs6cqWPHjumtt95K2O0CiUToAcTl2Wef1ZUrV7Ry5UrdcMMNCbvdZMY+GZGXpMmTJ2vNmjWSgrN6IB0RegAxO336tBoaGiRJ3/ve9xJ++8mIfbIib3j00UeVk5Ojd999V3/84x+Tch/ARBB6ADH75S9/qYsXL+qOO+7QkiVLknIfiYx9siMvSbNmzVJFRYUkqb6+Pmn3A4wXoQcQk6+++iocMuOtZcmSiNinIvIG450Hv/nNb3Ty5Mmk3x8QD0IPICaNjY06c+aMrr/+ei1fvjzp9zeR2Kcy8pJ04403atmyZbpy5Yr27t2bkvsEYkXoAYwpEAjopz/9qSRp3bp1Kbvf8cQ+1ZE3GLP65557jhPoIK0QegBjam5uVmdnp6655ho98MADKb3veGJvVuQlqaSkRIsWLeIEOkg7hB7AmH7+859Lkh5//HFlZ2en/P5jib2ZkTe43W5JvNUO6YXQAxjVhx9+qPfff19XXXVV3B9ek0ijxT4dIi9JlZWV4RPovPPOO6aOBTAQegCjMvbmv/3tb+vqq682dSxLls1S/s1T5D9wIvy1dIm8FDyBzkMPPSSJt9ohfRB6ACP64osv9Oqrr8rhcEzow2sS6dZls5S/eLL8B06kVeQNbrdbDodDhw4d0vHjx80eDkDoAYzM+LCW+++/X3PnzjV7OGG3Lpulv/rGVWp782RaRV6Srr32Wt1///2SmNUjPRB6AMM6e/Zs+HS3a9euNXk0Q9209GpV/ON8s4cxLOP89w0NDbpw4YLJo0GmI/QAhvXiiy/q3LlzWrJkib7xjW+YPRxLuf3223XjjTfq7Nmzeumll8weDjIcoQcwRH9/v3bv3i1JqqqqMnk01mR83/bs2WPySJDpCD2AIV577TWdOHFCc+bMUWlpqdnDsaQHHnhAM2fO1Keffiq/32/2cJDBCD2AIYxZ6Jo1azRpEk8T4zF58mS5XC5J0q9+9SuTR4NMxm8wgCiffvqpWltblZOTo29/+9tmD8fSvvvd70oKrpB0d3ebPBpkKkIPIIqxN19RUaFZs2aZPBpru+6667R8+XJduXJFL774otnDQYYi9ADCzp49q/3790tS2pwgx+oeeeQRScHl+/7+fpNHg0xE6AGEPf/88/rqq6/kdDp14403mj0cW1i+fLnmzZunkydPqrm52ezhIAMRegCSgp85bxyE9+ijj5o8GvtwOBzhWf3zzz9v8miQiQg9AEnSm2++qa6uLs2bN0/33HOP2cOxFZfLpaysLL399tvq7Ow0ezjIMIQegKSBt4A99NBDvKUuwa655hrde++9kqQXXnjB5NEg0/DbDEDHjx/XoUOHlJWVZepnztuZ8VbFF154gYPykFKEHoD27t0rSbrvvvt4S12S3HXXXbruuut06tQpDspDShF6IMNdvnw5/B5vZvPJ43A49PDDD0ti+R6pReiBDHfw4EGdPn1a+fn5uuOOO8wejq25XC45HA61tLSoq6vL7OEgQxB6IMM1NjZKUni2ieSZPXu2li9fLknhExMByUbogQzW2dmpd999V1lZWaqsrDR7OBnB+D4bL7CAZCP0QAYz9uZXrFiha665xuTRZIYVK1Zo+vTp+vzzz/X++++bPRxkAEIPZKj+/v7wrJJPqUud7OxsPfjgg5Kkl156yeTRIBMQeiBDvf322zp58qTy8vK0bNkys4eTUSoqKiRJTU1Nunz5ssmjgd0ReiBDvfzyy5KkBx98UA6Hw+TRZJaioiLl5+fr3LlzOnTokNnDgc0ReiADnT9/Xq+++qoklu3NYszqDxw4YPJIYHeEHshAr7zyii5duqRbb71VCxcuNHs4GWnVqlWSpN/+9rc6e/asyaOBnTkCgUDA7EEAiM/58+cntLf72muvqbOzU06nU7fcckv469nZ2Zo2bVoihohRnDlzRpLk8/nU3d2tb37zm1q0aFHctzNt2jRlZ2cneniwGUIPWNCXX36pixcvJvx2p0yZwtvsUiBRZ8WbNWuWpk6dmpDbgn2xdA8AgI0RegAAbIzQA1b08fOqqKjQziND/6r34BZVVGzRwd7UDwuxOqKdFTs1zMOnIzsrVLHloHj4kCiEHrCimx9W3aZiNXoGxaL3oJ6padVq79MqnW3W4BCbRnkIOlKA0AMWNbv0KW0qbpQnPK3v1cFnatS62qv1haYODbFqrdEzLL0gyXhfBmBZs1X61CY1V3m08579eqTjGdW0rpb3aaPyR7SzwqOBz0gr1qa6gZn+kZ0V8kR8gFrxpjr9z4rrUjd8qHj1aqmmSjvz94/64mzwY7XaO/rlgUiEHrCy2aV6alOzqjwVapS02vu0CiWp96C2VNVIm+q0P1T23oNbVFVVoU+8+7VeO+VpjA4/THDTI3pqU7uqPDt1z/71GtruXh3cUhV8AWf8/ZGdqvBUqH1Tnf7Pw7NSPmRYD0v3gMUFl/AlRSzZH9kbXMJ/OqLixuUa3zCW+lv1SWLezo0JmF36tLyrR9ivP7JXNa3Sam/Ei4DC9fKullqb39OZ1A4VFsWMHrCdI3qjUZI8qmgc5q8LFIpFozyeCjWu9mo/68CmKlzv1eoKj545eIcei/h6b0e7pNW6Z9DDM++mYqnxE/VJmpPCccKaCD1gV2MEvHD9fu1fH1warqgI7vtuvC2F40OEQq2v26QtVVXySFKx2eOBnbB0D9jOPN1ULKm9I4a3bs1W6dP75V0tNXp26uPkDw4jmV2qpzZFF352foGkRr0x6A33XZ+0SsU3aXrqRgcLI/SA7QSPxi9urVFV5Bl1eg9qy3Bn2EHaCO7XR3yh8JHgcRW7I/bvj+yUp1Fa/VipZpgwRlgPS/eAHc0u1dN10paq6H361Zvq1Ctp9pGdqoh8v5aKtaluvW5O9TgxROF6r1Zv6Qj9abZKgw+kqipqwpfh7XWIB59eB1gQn15nbXx6HVKJpXsAAGyM0AMAYGPs0QM219/fr/7+fjkcDmVlZZk9HIzh8uXLkqTsbJ6ekRjs0QM25/V6VV9frx/84Af6p3/6J7OHgzEsX75cFy9e1Ntvv03skRAs3QM219nZKUlasGCBySNBLIzH6S9/+YvJI4FdEHrA5o4fPy6J0FvFddcFP0HQeNyAiSL0gM0xo7eW+fPnSyL0SBxCD9jYhQsXdOrUKU2aNElz5841eziIAaFHohF6wMaMfd6FCxeaPBLEyli6T9RJdQBCD9gY+/PWw4weiUboARvr6emRNBAPpD/jFMS9vWN/9iAQC0IP2NiFCxckSbNnzzZ5JIiVce768+fPmzwS2AWhB2zMiMWUKVNMHgliNW3aNEmEHolD6AEbM2LBJ5xZhxF6YzUGmChCD9gYM3rrmTx5srKyspjRI2E41z1gE06nM67L+/3+JI0E8eBxQ7Ixowdsory8PKYPQQkEAnxYShqZM2eOYplvMSfDeBF6wCZ+9KMf6fLlyzEFobCwMAUjQix++MMfKicnZ8zHLSsrS+Xl5SkaFeyE0AM2sWDBApWXlysnJ2fEywQCAeXk5OjJJ59M4cgwmsrKyjHf/hgIBNTf368f/ehHKRoV7ITQAzYSy6y+sLAw7n1hJNdYs3pjNs8ZDjEehB6wkdFm9czm09dos3pm85goQg/YzGizembz6WukWT2zeUwUoQdsZrhZPbP59DfcrJ7ZPBKB0AM2NNysntl8+hs8q2c2j0Qg9IANRc7qmc1bR+Ssntk8EoXQAzZlzOolZvNWYszqmc0jUQg9YFPGrN7hcDCbtxBjVs9sHonCue6BJDt7+oqee6bd7GGYYt4NU/S36+abPYwJ2f0/PtOli5nzNFn5/fnKW8iHINkJJ7wGkizQH1AgIJWtyzd7KCnV03lRH/2u1+xhTNiZLy/rge9fr6xsh9lDSbrf7u3UlcuZ86ImUxB6IAUmTZKmzcisX7eppy+bPYSEmTY9W1k59g99JryYyUTs0QMAYGOEHgAAGyP0AADYGKEHAMDGCD0AADZG6AEAsDFCDwCAjRF6AABsjNADGa1bvs1Ole84HPrzYe0od2qzr9vUUQFIHEIPpJke30aVlzsj/tsoX4/Zo8LouuXbPNzjNNLXgdQh9EDaCM6m3d5Fqm3yqyn0X71H8u45PPbVYaJOHfW3qNk/aCWkp0XN/hYd7TJnVIBE6IE00S3f5nVqkFu1TR4VRfxNbtlP1LRhqWkjQwx6jqlDkr+5RZGT9x6/T35JHe1shcA8hB5IBz0tavZLTs8TUZEfVps3uJzv8w4s74f22Nt2OKOW/Yfba4/eGtim5pjGt0+bo7YTvGqL999oZ10fyS9Jfp/84dJ3y9/cIknyH+0cuOxo38vQ3w1+3IKP2cAWwJDtnR2HB93+Rvl6gitEo/0sIDMQeiANBGd+JVrhzIvxGi3yejWwxL9hqdTmVbV2hZf8m2rd8ntXaUdEkdt2OOX2Sp56Y2tgvfL9Y9xVm1fl7m3Krx3YTqh11auaYwfCetqPSc6t8rgil+87ddRfIo/HLTX4QjHvls/r04rw9/+APM56VW/eF1wJyK1UlWvwysBh7fG2yOnZqrJc4zGM3N7ZJVfDOpUbtyFJapHX7dPKUX4WkDkIPZDGImfog2dkrtroJX4VeaKX+IuekMcpNbwemu317FNdg+Sq/YnKco0Lzddi52gj6Javrl5OzwFtiLizog275NIwe9IZqutoi5S/SGUr3QORbvOpwVkmp/MWOXVM7T2SlKey7ZHf/zyVVbmjVgKKVkb/WW0+NRgvAnv2qa6hRJ76yMd+qTbUDrqOBv18FJXJJbYQMlVmfUA2YDFFG/xqWrNPm93bBv1NiRbPG+YKbV6VV9dHfy0/+D/BVQO3qsbcG4gQ2lLw+1ep3Dv0r0d9jZAxDuv1BsnpmR8Mqn+n/D2VKni9Xs4VB5Sb26l8hQ7Iy5WCx2OskjdqJaVk4P8WPSGPc5W8ew6rbMNStb1eL7l2qSxX6vH55FeL/G6nhj4cJUO+MlhwCyHWVSPYBaEH0kBuwSJJ9RExiF+Pb6Pc3ha5av2h2XcoKAkYn9NzQNvLCMSwQgfi5RfkScrTSleL6vz7lN9QohX1we/ZYqfU3N4tFXVqR/k6NTi3qr6pMvhQt3lVXn0s4gaDs3xvtU9ta46FZvCRB2OWyFMfuSoweDzJ+EfCyli6B9KBscxet2+cz9OhA79cuwaW2EOzcUPwxYSxhByj3EXK16CDyRCt6yP5I1ZYila65fduCy7b50pSngryQ/vuoWV4j6cy/Hqu7fX6obdZ9ERw7969TX7X+nDUg48hb9dDfAg9kBbyVObZKqd/m9yDjmg33qI11vUL8iV1HAu9UOiWz/uR8l0RXysqk0st8rojb79TR6NuPLhnP3AwWGj/t2Fd9DECbV6O4g7paT8maZEKjHKH9sOdK0rCMZ+3uETyf6SuebfIGRnqNq/q5I7+miQpT84VwaV418rI4y48qnVJDdXRB0K27eDASIyMpXsgXeRWantTiXybV6m6PHqWN7AcP7KiDbvkKl8nd/k2Gcu7G3SLOtzbtKetUhuKlmpD0wEtjrr9EjmjNtrzVLZ9l46Wr5O7/KPge/qLPGqqlcqrI/fpS+SqTci/2vK6jrZIzjINHDKxVCtdJWqPeAdFeDVFHnk8PrmrnWqQJNcuNW1YqjbVq7pun9ZsH5jp55atl6u5TGsGPe5FG/yqlVPVkfv0Trd4ODASRyAQCJg9CMDO+r68rF/97w5VPrnI7KGk1MnPL+iD17r1nf+Wb/ZQJuT//vioHtp0k7JyHGYPJele+VmHVjyUp3k3TDV7KEgglu4BALAxQg8AgI0RegAAbIzQAwBgY4QeAAAbI/QAANgYoQcAwMYIPQAANkboAQCwMU6BC6TAVxf79ekHp80eRkr19V42ewgJ8+nhM8rKgGfL831XzB4CkiADfnQBc+VMnqSblk7XqeMXzB5Kyt349avNHsKEFd01U33dmfHY5d88TdOmkwW74Vz3AADYGHv0AADYGKEHAMDGCD0AADZG6AEAsDFCDwCAjRF6AABsjNADAGBjhB4AABsj9AAA2BihBwDAxgg9AAA2RugBALAxQg8AgI0RegAAbIzQAwBgY4QeAAAbI/QAANgYoQcAwMb+P8pSFYWJF5ZTAAAAAElFTkSuQmCC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696373" y="270933"/>
            <a:ext cx="4141894" cy="638019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b="1" dirty="0"/>
              <a:t>CLI/Batch</a:t>
            </a:r>
            <a:r>
              <a:rPr dirty="0"/>
              <a:t>: Small, simple projects.</a:t>
            </a:r>
          </a:p>
          <a:p>
            <a:pPr lvl="0"/>
            <a:r>
              <a:rPr b="1" dirty="0" err="1"/>
              <a:t>Makefiles</a:t>
            </a:r>
            <a:r>
              <a:rPr dirty="0"/>
              <a:t>: C/C++ or small Java projects.</a:t>
            </a:r>
            <a:br>
              <a:rPr dirty="0"/>
            </a:br>
            <a:endParaRPr dirty="0"/>
          </a:p>
          <a:p>
            <a:pPr lvl="0"/>
            <a:r>
              <a:rPr b="1" dirty="0" err="1"/>
              <a:t>Rake: Ruby-enabled scripting; </a:t>
            </a:r>
            <a:r>
              <a:rPr dirty="0" err="1"/>
              <a:t>great for polyglot or custom build workflows.</a:t>
            </a:r>
            <a:br>
              <a:rPr dirty="0"/>
            </a:br>
            <a:endParaRPr dirty="0"/>
          </a:p>
          <a:p>
            <a:pPr lvl="0"/>
            <a:r>
              <a:rPr b="1" dirty="0"/>
              <a:t>Gradle</a:t>
            </a:r>
            <a:r>
              <a:rPr dirty="0"/>
              <a:t>: Modern, scalable projects with advanced requirements.</a:t>
            </a:r>
            <a:br>
              <a:rPr dirty="0"/>
            </a:br>
            <a:endParaRPr dirty="0"/>
          </a:p>
          <a:p>
            <a:pPr lvl="0"/>
            <a:r>
              <a:rPr b="1" dirty="0"/>
              <a:t>Maven</a:t>
            </a:r>
            <a:r>
              <a:rPr dirty="0"/>
              <a:t>: Standardized Java projects with dependency management needs.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Tool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Best Practices for Build Tools</a:t>
            </a:r>
            <a:br>
              <a:rPr dirty="0"/>
            </a:br>
            <a:r>
              <a:rPr dirty="0"/>
              <a:t>1. Use version control to track your configuration files (e.g., </a:t>
            </a:r>
            <a:r>
              <a:rPr dirty="0">
                <a:latin typeface="Courier"/>
              </a:rPr>
              <a:t>pom.xml</a:t>
            </a:r>
            <a:r>
              <a:rPr dirty="0"/>
              <a:t>, </a:t>
            </a:r>
            <a:r>
              <a:rPr dirty="0" err="1">
                <a:latin typeface="Courier"/>
              </a:rPr>
              <a:t>build.gradle</a:t>
            </a:r>
            <a:r>
              <a:rPr dirty="0"/>
              <a:t>).</a:t>
            </a:r>
            <a:br>
              <a:rPr dirty="0"/>
            </a:br>
            <a:r>
              <a:rPr dirty="0"/>
              <a:t>2. Automate as much as possible to save time.</a:t>
            </a:r>
            <a:br>
              <a:rPr dirty="0"/>
            </a:br>
            <a:r>
              <a:rPr dirty="0"/>
              <a:t>3. Keep configurations simple and well-documented.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Tool Selection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Discussion Break</a:t>
            </a:r>
            <a:br>
              <a:rPr dirty="0"/>
            </a:br>
            <a:r>
              <a:rPr b="1" dirty="0"/>
              <a:t>Prompt</a:t>
            </a:r>
            <a:r>
              <a:rPr dirty="0"/>
              <a:t>:</a:t>
            </a:r>
            <a:endParaRPr lang="en-GB" dirty="0"/>
          </a:p>
          <a:p>
            <a:r>
              <a:rPr lang="en-GB" dirty="0"/>
              <a:t>How do you decide which build tool to use for a given project?</a:t>
            </a:r>
          </a:p>
          <a:p>
            <a:r>
              <a:rPr dirty="0"/>
              <a:t>Share your experience (if any) with tools like Gradle, Maven, or </a:t>
            </a:r>
            <a:r>
              <a:rPr dirty="0" err="1"/>
              <a:t>Makefiles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Conclusion</a:t>
            </a:r>
            <a:endParaRPr lang="en-GB" dirty="0"/>
          </a:p>
          <a:p>
            <a:r>
              <a:rPr lang="en-GB" dirty="0"/>
              <a:t>Build tools automate repetitive tasks and improve consistency.</a:t>
            </a:r>
          </a:p>
          <a:p>
            <a:r>
              <a:rPr lang="en-GB" dirty="0"/>
              <a:t>Gradle and Maven are powerful tools for managing dependencies and builds in Java.</a:t>
            </a:r>
          </a:p>
          <a:p>
            <a:r>
              <a:rPr lang="en-GB" dirty="0"/>
              <a:t>Choosing the right tool depends on project size, team expertise, and specific requirements.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Next Steps</a:t>
            </a:r>
            <a:endParaRPr lang="en-GB" b="1" dirty="0"/>
          </a:p>
          <a:p>
            <a:r>
              <a:rPr dirty="0"/>
              <a:t>Explore Make, Rake, Gradle and Maven in your projects.</a:t>
            </a:r>
            <a:endParaRPr lang="en-GB" dirty="0"/>
          </a:p>
          <a:p>
            <a:r>
              <a:rPr dirty="0"/>
              <a:t>Practice writing simple batch files and </a:t>
            </a:r>
            <a:r>
              <a:rPr dirty="0" err="1"/>
              <a:t>makefiles</a:t>
            </a:r>
            <a:r>
              <a:rPr dirty="0"/>
              <a:t>.</a:t>
            </a:r>
            <a:endParaRPr lang="en-GB" dirty="0"/>
          </a:p>
          <a:p>
            <a:r>
              <a:rPr dirty="0"/>
              <a:t>Experiment with automating builds for the Quiz Manager System.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Quiz Manager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Case Study: Using Build Tools in the Quiz Manager System</a:t>
            </a:r>
            <a:br>
              <a:rPr dirty="0"/>
            </a:br>
            <a:r>
              <a:rPr b="1" dirty="0"/>
              <a:t>Scenario</a:t>
            </a:r>
            <a:r>
              <a:rPr dirty="0"/>
              <a:t>:</a:t>
            </a:r>
            <a:endParaRPr lang="en-GB" dirty="0"/>
          </a:p>
          <a:p>
            <a:r>
              <a:rPr dirty="0"/>
              <a:t>You are managing a growing Quiz Manager System with multiple files and dependencies like JUnit for testing.</a:t>
            </a:r>
            <a:endParaRPr lang="en-GB" dirty="0"/>
          </a:p>
          <a:p>
            <a:r>
              <a:rPr dirty="0"/>
              <a:t>Manually compiling, testing, and packaging the project is time-consuming and error-prone.</a:t>
            </a:r>
          </a:p>
          <a:p>
            <a:pPr marL="0" indent="0">
              <a:buNone/>
            </a:pPr>
            <a:r>
              <a:rPr b="1" dirty="0"/>
              <a:t>Solution</a:t>
            </a:r>
            <a:r>
              <a:rPr dirty="0"/>
              <a:t>:</a:t>
            </a:r>
            <a:br>
              <a:rPr dirty="0"/>
            </a:br>
            <a:r>
              <a:rPr dirty="0"/>
              <a:t>Use </a:t>
            </a:r>
            <a:r>
              <a:rPr lang="en-GB" dirty="0"/>
              <a:t>Make, </a:t>
            </a:r>
            <a:r>
              <a:rPr dirty="0"/>
              <a:t>Gradle or Maven to automate the build process and manage dependencies.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Implementing Gradle in Quiz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sz="3300" b="1" dirty="0"/>
              <a:t>Example: Gradle for the Quiz Manager System</a:t>
            </a:r>
            <a:endParaRPr lang="en-GB" sz="3300" b="1" dirty="0"/>
          </a:p>
          <a:p>
            <a:r>
              <a:rPr sz="3300" dirty="0"/>
              <a:t>Create a </a:t>
            </a:r>
            <a:r>
              <a:rPr sz="3300" dirty="0" err="1">
                <a:latin typeface="Courier"/>
              </a:rPr>
              <a:t>build.gradle</a:t>
            </a:r>
            <a:r>
              <a:rPr sz="3300" dirty="0"/>
              <a:t> file</a:t>
            </a:r>
            <a:r>
              <a:rPr lang="en-GB" sz="3300" dirty="0"/>
              <a:t> (using Groovy language)</a:t>
            </a:r>
            <a:r>
              <a:rPr sz="3300" dirty="0"/>
              <a:t>:</a:t>
            </a:r>
            <a:endParaRPr lang="en-GB" sz="3300" dirty="0"/>
          </a:p>
          <a:p>
            <a:pPr marL="457189" lvl="1" indent="0">
              <a:buNone/>
            </a:pPr>
            <a:br>
              <a:rPr dirty="0"/>
            </a:br>
            <a: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plugins {</a:t>
            </a:r>
          </a:p>
          <a:p>
            <a:pPr marL="457189" lvl="1" indent="0">
              <a:buNone/>
            </a:pPr>
            <a: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id </a:t>
            </a:r>
            <a:r>
              <a:rPr lang="en-GB" sz="2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'java'</a:t>
            </a:r>
            <a:endParaRPr lang="en-GB" sz="2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457189" lvl="1" indent="0">
              <a:buNone/>
            </a:pPr>
            <a:b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repositories {</a:t>
            </a:r>
          </a:p>
          <a:p>
            <a:pPr marL="457189" lvl="1" indent="0">
              <a:buNone/>
            </a:pPr>
            <a: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9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mavenCentral</a:t>
            </a:r>
            <a: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457189" lvl="1" indent="0">
              <a:buNone/>
            </a:pPr>
            <a: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457189" lvl="1" indent="0">
              <a:buNone/>
            </a:pPr>
            <a:b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dependencies {</a:t>
            </a:r>
          </a:p>
          <a:p>
            <a:pPr marL="457189" lvl="1" indent="0">
              <a:buNone/>
            </a:pPr>
            <a: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9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testImplementation</a:t>
            </a:r>
            <a: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'org.junit.jupiter:junit-jupiter:5.9.3’</a:t>
            </a:r>
            <a:endParaRPr lang="en-GB" sz="29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2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lvl="0"/>
            <a:r>
              <a:rPr sz="3300" dirty="0"/>
              <a:t>Run commands:</a:t>
            </a:r>
          </a:p>
          <a:p>
            <a:pPr lvl="1"/>
            <a:r>
              <a:rPr sz="2900" dirty="0" err="1">
                <a:latin typeface="Courier"/>
              </a:rPr>
              <a:t>gradle</a:t>
            </a:r>
            <a:r>
              <a:rPr sz="2900" dirty="0">
                <a:latin typeface="Courier"/>
              </a:rPr>
              <a:t> build</a:t>
            </a:r>
            <a:r>
              <a:rPr sz="2900" dirty="0"/>
              <a:t>: Compile and package the project.</a:t>
            </a:r>
            <a:endParaRPr lang="en-GB" sz="2900" dirty="0"/>
          </a:p>
          <a:p>
            <a:pPr lvl="1"/>
            <a:r>
              <a:rPr lang="en-GB" sz="2900" dirty="0" err="1">
                <a:latin typeface="Courier"/>
              </a:rPr>
              <a:t>gradle</a:t>
            </a:r>
            <a:r>
              <a:rPr lang="en-GB" sz="2900" dirty="0">
                <a:latin typeface="Courier"/>
              </a:rPr>
              <a:t> test</a:t>
            </a:r>
            <a:r>
              <a:rPr lang="en-GB" sz="2900" dirty="0"/>
              <a:t>: Run unit tests for the system.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Implementing Maven in Quiz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7474"/>
            <a:ext cx="10972800" cy="487540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sz="4500" b="1" dirty="0"/>
              <a:t>Example: Maven for the Quiz Manager System</a:t>
            </a:r>
            <a:br>
              <a:rPr sz="4500" dirty="0"/>
            </a:br>
            <a:r>
              <a:rPr sz="4500" dirty="0"/>
              <a:t>Create a </a:t>
            </a:r>
            <a:r>
              <a:rPr sz="4500" dirty="0">
                <a:latin typeface="Courier"/>
              </a:rPr>
              <a:t>pom.xml</a:t>
            </a:r>
            <a:r>
              <a:rPr sz="4500" dirty="0"/>
              <a:t> file:</a:t>
            </a:r>
            <a:endParaRPr lang="en-GB" sz="4500" dirty="0"/>
          </a:p>
          <a:p>
            <a:pPr marL="457189" lvl="1" indent="0">
              <a:buNone/>
            </a:pPr>
            <a:br>
              <a:rPr dirty="0"/>
            </a:b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&lt;project&gt;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35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modelVersion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4.0.0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GB" sz="35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modelVersion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35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35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com.example.quizmanager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GB" sz="35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35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quiz-manager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GB" sz="35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1.0.0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b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&lt;dependencies&gt;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35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35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org.junit.jupiter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GB" sz="35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35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35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junit-jupiter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GB" sz="35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5.9.3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3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&lt;/dependencies&gt;</a:t>
            </a:r>
            <a:endParaRPr lang="en-GB" sz="3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en-GB" sz="3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&lt;/project&gt;</a:t>
            </a:r>
          </a:p>
          <a:p>
            <a:pPr marL="0" indent="0">
              <a:buNone/>
            </a:pPr>
            <a:endParaRPr lang="en-GB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lvl="0"/>
            <a:r>
              <a:rPr sz="4500" dirty="0"/>
              <a:t>Run commands:</a:t>
            </a:r>
          </a:p>
          <a:p>
            <a:pPr lvl="1"/>
            <a:r>
              <a:rPr sz="4000" dirty="0" err="1">
                <a:latin typeface="Courier"/>
              </a:rPr>
              <a:t>mvn</a:t>
            </a:r>
            <a:r>
              <a:rPr sz="4000" dirty="0">
                <a:latin typeface="Courier"/>
              </a:rPr>
              <a:t> compile</a:t>
            </a:r>
            <a:r>
              <a:rPr sz="4000" dirty="0"/>
              <a:t>: Compile the system.</a:t>
            </a:r>
          </a:p>
          <a:p>
            <a:pPr lvl="1"/>
            <a:r>
              <a:rPr sz="4000" dirty="0" err="1">
                <a:latin typeface="Courier"/>
              </a:rPr>
              <a:t>mvn</a:t>
            </a:r>
            <a:r>
              <a:rPr sz="4000" dirty="0">
                <a:latin typeface="Courier"/>
              </a:rPr>
              <a:t> test</a:t>
            </a:r>
            <a:r>
              <a:rPr sz="4000" dirty="0"/>
              <a:t>: Run tests.</a:t>
            </a:r>
          </a:p>
          <a:p>
            <a:pPr lvl="1"/>
            <a:r>
              <a:rPr sz="4000" dirty="0" err="1">
                <a:latin typeface="Courier"/>
              </a:rPr>
              <a:t>mvn</a:t>
            </a:r>
            <a:r>
              <a:rPr sz="4000" dirty="0">
                <a:latin typeface="Courier"/>
              </a:rPr>
              <a:t> package</a:t>
            </a:r>
            <a:r>
              <a:rPr sz="4000" dirty="0"/>
              <a:t>: Create a distributable JAR.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Tool Implementation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7639"/>
            <a:ext cx="10744200" cy="50752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Class Discussion: Challenges with Build Tools</a:t>
            </a:r>
            <a:br>
              <a:rPr dirty="0"/>
            </a:br>
            <a:endParaRPr lang="en-GB" dirty="0"/>
          </a:p>
          <a:p>
            <a:pPr marL="0" indent="0">
              <a:buNone/>
            </a:pPr>
            <a:r>
              <a:rPr b="1" dirty="0"/>
              <a:t>Prompt</a:t>
            </a:r>
            <a:r>
              <a:rPr dirty="0"/>
              <a:t>:</a:t>
            </a:r>
            <a:endParaRPr lang="en-GB" dirty="0"/>
          </a:p>
          <a:p>
            <a:r>
              <a:rPr dirty="0"/>
              <a:t>What challenges might you face when introducing build tools to a new project?</a:t>
            </a:r>
            <a:endParaRPr lang="en-GB" dirty="0"/>
          </a:p>
          <a:p>
            <a:r>
              <a:rPr dirty="0"/>
              <a:t>How would you overcome issues such as configuring dependencies or dealing with tool-specific syntax?</a:t>
            </a:r>
            <a:endParaRPr lang="en-GB" dirty="0"/>
          </a:p>
          <a:p>
            <a:endParaRPr dirty="0"/>
          </a:p>
          <a:p>
            <a:pPr marL="0" indent="0">
              <a:buNone/>
            </a:pPr>
            <a:r>
              <a:rPr b="1" dirty="0"/>
              <a:t>Key Points for Discussion</a:t>
            </a:r>
            <a:r>
              <a:rPr dirty="0"/>
              <a:t>:</a:t>
            </a:r>
            <a:endParaRPr lang="en-GB" dirty="0"/>
          </a:p>
          <a:p>
            <a:r>
              <a:rPr dirty="0"/>
              <a:t>Misconfigurations can lead to build failures.</a:t>
            </a:r>
            <a:endParaRPr lang="en-GB" dirty="0"/>
          </a:p>
          <a:p>
            <a:r>
              <a:rPr dirty="0"/>
              <a:t>Tool-specific syntax (e.g., XML for Maven, Groovy for Gradle) requires practice.</a:t>
            </a:r>
            <a:endParaRPr lang="en-GB" dirty="0"/>
          </a:p>
          <a:p>
            <a:r>
              <a:rPr dirty="0"/>
              <a:t>Documentation and community resources are valuable for overcoming challenges.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Hands-on Activity</a:t>
            </a:r>
            <a:r>
              <a:rPr lang="en-GB" dirty="0"/>
              <a:t> to try later</a:t>
            </a:r>
            <a:r>
              <a:rPr dirty="0"/>
              <a:t>: </a:t>
            </a:r>
            <a:br>
              <a:rPr lang="en-GB" dirty="0"/>
            </a:br>
            <a:r>
              <a:rPr dirty="0"/>
              <a:t>Quiz Manager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919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Practical Activity: Automating the Quiz Manager Build</a:t>
            </a:r>
            <a:br>
              <a:rPr dirty="0"/>
            </a:br>
            <a:r>
              <a:rPr b="1" dirty="0"/>
              <a:t>Task</a:t>
            </a:r>
            <a:r>
              <a:rPr dirty="0"/>
              <a:t>:</a:t>
            </a:r>
            <a:br>
              <a:rPr dirty="0"/>
            </a:br>
            <a:r>
              <a:rPr dirty="0"/>
              <a:t>1. Set up Gradle or Maven for your Quiz Manager System.</a:t>
            </a:r>
            <a:br>
              <a:rPr dirty="0"/>
            </a:br>
            <a:r>
              <a:rPr dirty="0"/>
              <a:t>2. Add dependencies for JUnit testing.</a:t>
            </a:r>
            <a:br>
              <a:rPr dirty="0"/>
            </a:br>
            <a:r>
              <a:rPr dirty="0"/>
              <a:t>3. Automate the process of compiling, testing, and packaging your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3272</Words>
  <Application>Microsoft Office PowerPoint</Application>
  <PresentationFormat>Widescreen</PresentationFormat>
  <Paragraphs>390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Aptos Display</vt:lpstr>
      <vt:lpstr>Arial</vt:lpstr>
      <vt:lpstr>Consolas</vt:lpstr>
      <vt:lpstr>Courier</vt:lpstr>
      <vt:lpstr>Courier New</vt:lpstr>
      <vt:lpstr>Office Theme</vt:lpstr>
      <vt:lpstr>Week 7:   Build Tools in Software Development</vt:lpstr>
      <vt:lpstr>Objectives</vt:lpstr>
      <vt:lpstr>Source Code vs Compiled Code</vt:lpstr>
      <vt:lpstr>Java JAR libraries: source or compiled code?</vt:lpstr>
      <vt:lpstr>Understanding Build Tools</vt:lpstr>
      <vt:lpstr>PowerPoint Presentation</vt:lpstr>
      <vt:lpstr>Build Tools and Code Development </vt:lpstr>
      <vt:lpstr>PowerPoint Presentation</vt:lpstr>
      <vt:lpstr>Essential Build Tasks</vt:lpstr>
      <vt:lpstr>PowerPoint Presentation</vt:lpstr>
      <vt:lpstr>PowerPoint Presentation</vt:lpstr>
      <vt:lpstr>Build Tool Categories</vt:lpstr>
      <vt:lpstr>Command Line Building</vt:lpstr>
      <vt:lpstr>Batch File Automation</vt:lpstr>
      <vt:lpstr>Make and Makefiles</vt:lpstr>
      <vt:lpstr>Ant</vt:lpstr>
      <vt:lpstr>Introduction to Rake</vt:lpstr>
      <vt:lpstr>Rake for Java – A Rakefile Example</vt:lpstr>
      <vt:lpstr>Rake Task Dependencies</vt:lpstr>
      <vt:lpstr>Build Tools: A Goal-Oriented Paradigm</vt:lpstr>
      <vt:lpstr>The Goal-Oriented Paradigm</vt:lpstr>
      <vt:lpstr>Build Tool Discussion Break</vt:lpstr>
      <vt:lpstr>Introduction to Gradle</vt:lpstr>
      <vt:lpstr>Gradle Configuration</vt:lpstr>
      <vt:lpstr>Gradle Build Commands</vt:lpstr>
      <vt:lpstr>Benefits and Limitations of Gradle</vt:lpstr>
      <vt:lpstr>Introduction to Maven</vt:lpstr>
      <vt:lpstr>Maven Configuration</vt:lpstr>
      <vt:lpstr>Maven Build Commands</vt:lpstr>
      <vt:lpstr>Benefits and Limitations of Maven</vt:lpstr>
      <vt:lpstr>Build Tools  Comparison</vt:lpstr>
      <vt:lpstr>Choosing the Right Build Tool</vt:lpstr>
      <vt:lpstr>PowerPoint Presentation</vt:lpstr>
      <vt:lpstr>Build Tool Best Practices</vt:lpstr>
      <vt:lpstr>Build Tool Selection Discussion</vt:lpstr>
      <vt:lpstr>Key Takeaways</vt:lpstr>
      <vt:lpstr>Learning Path Forward</vt:lpstr>
      <vt:lpstr>Case Study: Quiz Manager System</vt:lpstr>
      <vt:lpstr>Implementing Gradle in Quiz Manager</vt:lpstr>
      <vt:lpstr>Implementing Maven in Quiz Manager</vt:lpstr>
      <vt:lpstr>Build Tool Implementation Challenges</vt:lpstr>
      <vt:lpstr>Hands-on Activity to try later:  Quiz Manager Build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keywords/>
  <cp:lastModifiedBy>Pat Parslow</cp:lastModifiedBy>
  <cp:revision>12</cp:revision>
  <dcterms:created xsi:type="dcterms:W3CDTF">2024-12-31T16:51:16Z</dcterms:created>
  <dcterms:modified xsi:type="dcterms:W3CDTF">2026-05-05T13:00:41Z</dcterms:modified>
</cp:coreProperties>
</file>